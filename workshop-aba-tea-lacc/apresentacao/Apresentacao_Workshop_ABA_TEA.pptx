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Título provisório. Cumprimentar e esperar cerca de 1 minuto por quem está chegando. Tempo do slide: 0,5 min (9h30).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apenas estas informações, sem acrescentar títulos, registros ou certificações. Ligar a experiência de supervisão ao tema da manhã: tomada de decisão clínica.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Versão resumida dos objetivos O1 a O7. Dizer que os itens 2, 3 e 4 (em destaque) são o coração do encontro.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Dizer isso logo no início evita expectativas erradas e já introduz o objetivo 7 (limites de atuação).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brevemente a escolha de linguagem, com base em pesquisa sobre linguagem capacitista (Bottema-Beutel et al., 2021). Se alguém trouxer um caso real, acolher e redirecionar para princípios gerais e supervisão.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Coletar 4 a 6 respostas oralmente e ANOTÁ-LAS para retomar no slide 24. Respostas esperadas: quer continuar brincando; não quer fazer a tarefa; quer atenção; excesso sensorial; cansaço. Não corrigir agora. Dizer: "Vamos voltar a essas respostas daqui a pouco." Tempo: 4 min (até 9h40).</a:t>
            </a:r>
          </a:p>
          <a:p/>
          <a:p>
            <a:r>
              <a:t>RESPOSTAS: não há resposta certa agora; cada resposta é uma hipótese. 'Quer continuar brincando' = acesso a item/atividade. 'Não quer a próxima tarefa' = fuga/esquiva da demanda. 'Quer atenção' = acesso a atenção. 'O barulho/a mudança incomoda' = fuga de estímulo ou variável de contexto. 'Está cansada/dormiu mal' = variável contextual (operação motivadora), NÃO é função. 'É birra/manha' = rótulo, não explica o que mantém o comportamento.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manual usa o termo "déficits"; o slide usa "diferenças" por coerência com a linguagem do workshop. Ao falar, mencionar que o texto diagnóstico usa "déficits". No domínio B, citar as quatro formas (movimentos, fala ou uso de objetos estereotipados; insistência na mesmice; interesses restritos e intensos; hiper ou hiporreatividade sensorial), das quais pelo menos duas são necessárias. Se perguntarem "só duas áreas?": sim. No DSM-IV havia a tríade (interação social, comunicação, comportamentos repetitivos); o DSM-5 juntou interação social e comunicação em um domínio, e o atraso de linguagem passou a ser especificador. Os outros critérios (C, D e E) são: sinais no início do desenvolvimento, prejuízo significativo e não ser melhor explicado por deficiência intelectual. Conferir a redação na edição em uso. Tempo: 3 min (início do Bloco 1, 9h40).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Usamos "níveis de suporte" porque descrevem o suporte necessário, não "grau de autismo" nem valor da pessoa; o nome oficial no DSM-5-TR é "níveis de gravidade" (citado no slide para não parecer erro). O nível pode variar entre domínios e ao longo do tempo. Conferir a nomenclatura exata da tradução em uso.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 fictício, oral: uma criança de 4 anos que ainda não fala e um adulto que trabalha como programador podem ter o mesmo diagnóstico. A Comissão do Lancet enfatiza intervenções ajustadas a necessidades heterogêneas. Se surgir o termo "autismo profundo", apresentá-lo como proposta debatida.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dado de 1 em 31 é dos EUA; não apresentar como dado do Brasil nem do mundo. O próprio relatório do CDC atribui o aumento recente, provavelmente, a maior acesso a avaliações em grupos antes subatendidos; a variação entre regiões reflete também práticas de identificação.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Kapp et al. (2013) encontraram sobreposição entre a perspectiva médica e a da neurodiversidade e propõem ler "déficit como diferença". Bottema-Beutel et al. (2021) mostram como a linguagem pode reproduzir capacitismo.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Ouvir 2 a 3 respostas. Fechar: intervir quando há ganho para comunicação, aprendizagem, participação, autonomia, segurança ou qualidade de vida, com objetivos definidos junto à família e, sempre que possível, à própria pessoa. Transição: "Para decidir o que ensinar e como, a ABA propõe olhar para a relação entre comportamento e ambiente." Tempo: 2 min (até 9h55).</a:t>
            </a:r>
          </a:p>
          <a:p/>
          <a:p>
            <a:r>
              <a:t>RESPOSTAS: intervir se justifica quando há ganho real para a vida da pessoa: comunicação (pedir, recusar, se expressar), aprendizagem e participação (escola, casa, comunidade), autonomia, segurança (comportamento que machuca a pessoa ou outros) e qualidade de vida. Objetivos definidos com a família e, sempre que possível, com a pessoa. Características autistas que não causam prejuízo (estereotipias sem dano, interesses intensos) não são alvo por si só.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Exemplos orais: "aplicada" = foca em comportamentos socialmente relevantes para a pessoa; "analítica" = demonstra que a mudança se deve à intervenção; "generalidade" = a mudança se mantém e aparece em outros contextos. Desfazer a ideia de ABA como "método" único ou sinônimo de mesa e repetição. Tempo: 4 min (início do Bloco 2, 9h55).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estudo clássico de Iwata et al., participantes com a mesma forma de comportamento (autolesão) mostraram padrões diferentes conforme as condições testadas. Esta é a ideia-âncora do workshop. Outro exemplo: "chorar" e "sair correndo" podem produzir o mesmo efeito (a tarefa ser retirada).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Pedir que o público evite descrever o comportamento com interpretações ("birra", "crise", "manha"). Uma boa descrição permite que dois observadores concordem.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Sono e cansaço não são funções; são variáveis que mudam o valor das consequências. Erro comum na vinheta.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adulto que devolve o tablet "para acalmar" não pretende reforçar o grito, mas pode estar reforçando. Reforçamento é definido pelo efeito no comportamento futuro, não pela intenção de quem reage.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de Hanley et al. (2003) mostra como essas categorias foram estudadas em centenas de análises funcionais. Hanley et al. (2014) ilustram funções sintetizadas (mais de uma consequência ao mesmo tempo).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Formar duplas com quem está ao lado. Projetar o slide 21 logo em seguida. Tempo: 0,5 min (10h13).</a:t>
            </a:r>
          </a:p>
          <a:p/>
          <a:p>
            <a:r>
              <a:t>RESPOSTAS: ver slide 22. Desafio: dar um tempo fora da atividade SEM atenção ajuda na situação 1 (o comportamento deixa de produzir atenção), mas piora a 2 (a criança escapa da tarefa). Se o tempo fora tiver conversa ou consolo, também reforça a situação 1. Devolver o tablet 'para acalmar' reduz o choro na hora, mas fortalece o comportamento nas próximas vezes (situação 3). O acerto é justificar pela consequência.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Circular pela sala; avisar quando faltar 1 minuto. Tempo: 4,5 min.</a:t>
            </a:r>
          </a:p>
          <a:p/>
          <a:p>
            <a:r>
              <a:t>RESPOSTAS: 1 = atenção (a terapeuta volta e conversa). 2 = fuga da demanda (a folha é guardada). 3 = acesso a item (o tablet volta).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Destacar que "dar um tempo fora da atividade" poderia ajudar em um caso e fortalecer o comportamento em outro (na situação 2, a criança deixaria de fazer a tarefa). Mencionar o reforçamento automático como quarta hipótese, ausente de propósito. Responder ao desafio. Tempo: 1,5 min (10h18).</a:t>
            </a:r>
          </a:p>
          <a:p/>
          <a:p>
            <a:r>
              <a:t>RESPOSTAS - o que observar para testar: Situação 1 (atenção): acontece quando a atenção é retirada mesmo sem tarefa? Diminui quando a criança recebe atenção com frequência, independentemente do comportamento? Situação 2 (fuga): acontece com qualquer tarefa ou só com as difíceis/longas? Continua se a tarefa é mantida? Situação 3 (item): acontece quando outros itens preferidos são retirados? Desafio: tempo fora sem atenção ajuda na 1 e piora a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2 a 3 respostas anotadas no slide 6 e classificá-las rapidamente (ex.: "quer continuar brincando" = acesso a item; "não quer a tarefa" = fuga). Transição: "Vocês estudam TCC. Onde essas ideias se aproximam e onde se afastam do que vocês já conhecem?" Tempo: 0,5 min (até 10h20).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aproximação é real, mas não torna as abordagens equivalentes. Síntese conceitual, sem referência específica. Tempo: 2,5 min (início do Bloco 3, 10h20).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dizer que a análise funcional é "análise de pensamentos", nem que reestruturação cognitiva é "técnica ABA". Opcional, só falado: na pesquisa, a ABA usa muito delineamentos de sujeito único e a TCC, ensaios randomizados de protocolos — como tendência, não regra.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TCC adaptada do estudo de Wood et al. incorporou componentes de comunicação social e técnicas analítico-comportamentais. Sobre a "terceira onda" (ex.: ACT), só se perguntarem: descrita como parte da transição para um cuidado baseado em processos (Hayes &amp;amp; Hofmann, 2017).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Respostas esperadas. ABA: em que condições a esquiva ocorre e o que ela produz? TCC: que pensamentos e crenças sobre interações sociais estão presentes? Fechar: as duas leituras podem informar o caso, mas diferem no estatuto dos pensamentos e no tipo de intervenção. Tempo: 2 min (até 10h30).</a:t>
            </a:r>
          </a:p>
          <a:p/>
          <a:p>
            <a:r>
              <a:t>RESPOSTAS: Analista do comportamento: em que situações a esquiva acontece (grupo, barulho, tipo de tarefa)? O que acontece depois (sai do grupo, vai para outro lugar)? O que mantém o comportamento? A fala 'tenho medo de falar algo errado' também é comportamento, entendido pela história e pelo contexto. Terapeuta cognitivo-comportamental: que pensamentos automáticos e crenças ela tem sobre interações ('vou falar algo errado', 'vão rir de mim') e como influenciam a ansiedade e a esquiva? Fechamento: as duas leituras ajudam, mas não são equivalentes.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Deixar projetado durante todo o intervalo (10h30 às 10h45).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Essa sequência é o que separa hipótese de conclusão. Hanley (2012) discute mitos e obstáculos à análise funcional e o que pode ser compartilhado com outros profissionais. Ligar ao objetivo 7: estudantes não conduzem essas avaliações sem formação e supervisão. Tempo: 4 min (início do Bloco 4, 10h45).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estratégia age sobre antecedentes ou operações motivadoras. A mesma estratégia pode ser útil para uma função e inócua para outra: avisar a transição ajuda pouco se a função é fuga de uma tarefa difícil demais. Intervenções antecedentes estão entre as práticas com critério de evidência (Hume et al., 2021).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FCT é uma das intervenções mais usadas e eficazes para comportamentos interferentes graves (Tiger et al., 2008). O estudo original mostrou redução replicada dos comportamentos com o ensino de respostas comunicativas equivalentes (Carr &amp;amp; Durand, 1985). O passo 4 aparece, por exemplo, no tratamento descrito por Hanley et al. (2014). O mesmo procedimento ensina pedidos diferentes conforme a função: por isso a avaliação vem antes.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Reforçar que interesses intensos (ex.: trens) são recursos de ensino, não problemas. Nota de rigor: em meta-análise, os efeitos positivos dependem muito da qualidade dos estudos considerados (Sandbank et al., 2020).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Generalização é programada, não esperada (Stokes &amp;amp; Baer, 1977).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Assentimento: concordância de quem não pode consentir legalmente; prática baseada em assentimento é tema em debate ativo (Breaux &amp;amp; Smith, 2023; Newcomb &amp;amp; Wine, 2023). A literatura de intervenção precoce ainda monitora pouco os efeitos adversos (Sandbank et al., 2023). Críticas à ABA existem e merecem ser levadas a sério; parte da própria área propõe respostas (Leaf et al., 2022 — os autores declararam conflito de interesses). Limites: no Brasil, Código de Ética do CFP; código do BACB como referência internacional. Tempo: 4 min (até 11h03).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Numerar os grupos em voz alta antes do vídeo. Explicar a sequência: vídeo, história, perguntas. As respostas só aparecem na plenária, depois que os grupos responderem. Se houver só 1 ou 2 grupos, cada um responde as perguntas 1 a 4 e também a 5 e a 6. Tempo: 2 min (início do Bloco 5, 11h03).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vídeo tem som (música e efeitos): conferir caixa de som antes. No artefato, o vídeo está no próprio slide: clique nele para começar (toca com som). No PDF não há vídeo: usar o arquivo Video_Theo_animacao.mp4 (pasta apresentacao) à parte. Exibir uma vez, dentro dos 2 minutos de instruções. Depois do vídeo: "Vocês viram UM episódio. Agora vejam o que a equipe registrou em quatro semanas" e projetar a vinheta. Na plenária, pergunta opcional: "O que mantém o comportamento da terapeuta?" (devolver os trilhos encerra o grito e alivia o adulto). Se o vídeo não estiver disponível ou não funcionar, pular este slide: a atividade funciona só com o texto. Não mostrar respostas agora: as perguntas do vídeo são respondidas pelos grupos e corrigidas na plenária (slide 43).</a:t>
            </a:r>
          </a:p>
          <a:p/>
          <a:p>
            <a:r>
              <a:t>RESPOSTAS DO VÍDEO (para a plenária): Antes = a terapeuta guarda os trilhos na caixa e aponta a mesa ('Agora acabou. Vamos para a mesa.'). O que ele faz = grita, se joga no chão e chuta o ar. Depois = a terapeuta fica sem saber o que fazer e devolve os trilhos; ele volta a brincar. Pergunta extra: devolver os trilhos faz o grito parar e alivia a terapeuta; esse alívio pode reforçar o ato de devolver (reforçamento negativo do adulto) e manter o ciclo.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em voz alta uma vez (cerca de 1,5 min, com o slide seguinte). Circular entre os grupos. Avisar aos 5 min ("passem para a pergunta do rodízio") e quando faltar 1 min. Os slides 39, 40 e 41 ficam alternados durante os 10 min de trabalho em grupo.</a:t>
            </a:r>
          </a:p>
          <a:p/>
          <a:p>
            <a:r>
              <a:t>RESPOSTAS P1 e P2: P1 = grita, se joga no chão e chuta o ar, por 3 a 8 minutos, em 11 de 12 sessões. Evitar 'birra', 'crise', 'surto', 'manha', 'desregulado' (supõem intenção ou estado que não observamos). P2 = antecedentes: 'agora acabou, vamos para a mesa', retirada dos trilhos, apresentação da mesa. Contexto: sono ruim, troca de terapeuta, previsibilidade (cartão e aviso: só 3 sessões, é indício). Sono e troca de terapeuta NÃO são funções.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Continuação da vinheta. O cartão "primeiro → depois" foi registrado em só 3 sessões: é indício, não conclusão.</a:t>
            </a:r>
          </a:p>
          <a:p/>
          <a:p>
            <a:r>
              <a:t>RESPOSTAS P3: trilhos devolvidos 'por mais cinco minutos'; mesa adiada; em algumas sessões a mesa foi mantida; possível atenção durante o episódio. Como o comportamento às vezes 'funciona' e às vezes não, tende a ser mais persistente.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Alternar com os slides da vinheta. Ao circular: grupos que listam hipóteses sem dados estão reconhecendo categorias; pergunte "que trecho da vinheta sustenta isso?". Grupos que terminarem antes podem aprofundar a pergunta 4. Depois das respostas vêm um dado novo sobre o Theo e, se houver tempo, o caso extra da Lara. A antiga pergunta 5 (como distinguir as hipóteses) foi retirada; as perguntas 5 e 6 de agora são a estratégia e o dilema.</a:t>
            </a:r>
          </a:p>
          <a:p/>
          <a:p>
            <a:r>
              <a:t>RESPOSTAS 4 (dado que ajuda / dado que atrapalha): H1 acesso aos trilhos: a favor = acontece quando os trilhos são guardados, às vezes voltam, em casa ao desligar a TV; contra = no lanche os trilhos também foram guardados e não houve episódio. H2 fuga da mesa: a favor = não acontece quando o próximo é o lanche, às vezes a mesa é adiada; contra = em casa o antecedente é o banho. H3 as duas juntas: os antecedentes acontecem juntos e as consequências se alternam. H4 atenção: pouco apoio nos dados. O LANCHE é a pista principal: enfraquece H1, fortalece H2/H3, mas não descarta H1.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a ordem: comportamento (1 min, turma) · antes e depois (1 min) · explicações possíveis com dado que ajuda e dado que atrapalha (2 min, dois grupos; destacar o lanche) · o que fazer e o risco de errar a explicação (2 min, grupos da pergunta 5) · dilema dos trilhos (1,5 min, grupos da pergunta 6) · fechamento relendo o aviso (0,5 min). Logo depois deste slide vêm os slides de respostas, na ordem das perguntas: mostrar cada um conforme a pergunta for discutida. Tempo: 8 min (até 11h23).</a:t>
            </a:r>
          </a:p>
          <a:p/>
          <a:p>
            <a:r>
              <a:t>RESPOSTAS 5: estratégia para a explicação 'trilhos' ('primeiro mesa, depois trem'; ensinar a pedir 'mais trem' e a esperar) tem pouco efeito se a explicação real for fugir da mesa; estratégia para 'fugir da mesa' (tarefa curta, tema de trem; ensinar a pedir 'pausa') não resolve se for 'trilhos'; adiar a mesa quando ele grita FORTALECE o comportamento. Errar a explicação pode ensinar o contrário. RESPOSTAS 6: acolher a mãe e argumentar: o interesse não é o problema e pode ser recurso de ensino; tirar os trilhos não ensina a pedir 'mais' ou 'pausa'; pode não resolver se a função for fugir da mesa; reduz bem-estar e engajamento; decidir junto, com plano para casa e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Raciocínio esperado: o dado fortalece 'quer os trilhos' (ou as duas juntas) e enfraquece 'foge da mesa'. Mas são 4 sessões, sem controle de outras variáveis: é mais uma pista, não uma conclusão. Próximo passo: avaliação organizada, com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só se houver tempo; caso contrário, pular para "Cinco mensagens para levar". Lara tem 14 anos: mostra que o raciocínio vale também para adolescentes e para a escola.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Vídeo com som (música, conversa de fundo dos colegas, passos e porta): conferir caixa de som. No artefato, clicar no vídeo para começar. No PDF não há vídeo: usar o arquivo Video_Lara_animacao.mp4 (pasta apresentacao) à parte. Depois do vídeo: "Vocês viram UM episódio. Agora vejam o que a escola registrou em dois meses" e mostrar a história.</a:t>
            </a:r>
          </a:p>
          <a:p/>
          <a:p>
            <a:r>
              <a:t>RESPOSTAS DO VÍDEO: Antes = a professora propõe trabalho em grupo; os colegas se juntam e a sala fica barulhenta. O que ela faz = coloca o capuz, abaixa a cabeça, levanta e sai da sala sem avisar. Depois = fica sozinha e tranquila na biblioteca, desenhando (o barulho e o grupo acabam para ela).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extra: usar só se houver tempo (não entra nos 120 minutos) ou indicar como estudo depois do workshop. Mesma sequência do Theo: vídeo, história, perguntas, respostas. A comparação ABA × TCC com este caso já foi feita no slide 28.</a:t>
            </a:r>
          </a:p>
          <a:p/>
          <a:p>
            <a:r>
              <a:t>RESPOSTAS: 1. Coloca o capuz, abaixa a cabeça e sai da sala sem avisar. 2. Antes: trabalho em grupo, sala barulhenta. Depois: sai e vai para a biblioteca. 3. Fugir do barulho, fugir da interação (medo de errar) ou as duas; ir para a biblioteca pode reforçar a saída. 4. Trabalhar sempre sozinha alivia agora, mas pode reforçar a fuga e tirar chances de participar; só como algo temporário, combinado com ela. No lugar: lugar mais silencioso ou protetor de ouvido (se ela quiser), grupo menor, papel definido, jeito combinado de pedir pausa. O capuz não é alvo.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Pergunta de checagem antes de avançar: "O que vocês NÃO podem concluir a partir da vinheta?" (objetivo 7). Tempo: 3 min (início da síntese, 11h23).</a:t>
            </a:r>
          </a:p>
          <a:p/>
          <a:p>
            <a:r>
              <a:t>RESPOSTA DA CHECAGEM: não podemos concluir a FUNÇÃO do comportamento. A vinheta só permite levantar hipóteses; concluir exige avaliação, mais dados e supervisão. Também não dá para garantir que uma estratégia vai funcionar antes de testá-la com dados.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minutos. Se não houver perguntas, retomar a pergunta disparadora do início.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Baer et al., Hanley (2012), Tiger et al. e Schreibman et al. estão disponíveis em texto completo no PubMed Central.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incluir contato ou registro profissional que não tenham sido informados. Encerramento às 11h30.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de autores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Rectangle 1"/>
          <p:cNvSpPr/>
          <p:nvPr/>
        </p:nvSpPr>
        <p:spPr>
          <a:xfrm>
            <a:off x="0" y="6680200"/>
            <a:ext cx="12192000" cy="1778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306215"/>
            <a:ext cx="10464800" cy="247650"/>
          </a:xfrm>
          <a:prstGeom prst="rect">
            <a:avLst/>
          </a:prstGeom>
          <a:noFill/>
        </p:spPr>
        <p:txBody>
          <a:bodyPr wrap="square" lIns="0" rIns="0" tIns="0" bIns="0" anchor="t">
            <a:noAutofit/>
          </a:bodyPr>
          <a:lstStyle/>
          <a:p>
            <a:pPr algn="l">
              <a:lnSpc>
                <a:spcPct val="98000"/>
              </a:lnSpc>
            </a:pPr>
            <a:r>
              <a:rPr sz="1600" b="0" i="0">
                <a:solidFill>
                  <a:srgbClr val="9FD3D8"/>
                </a:solidFill>
                <a:latin typeface="Montserrat"/>
              </a:rPr>
              <a:t>Liga Acadêmica Cognitivo-Comportamental (LACC)</a:t>
            </a:r>
          </a:p>
        </p:txBody>
      </p:sp>
      <p:sp>
        <p:nvSpPr>
          <p:cNvPr id="4" name="TextBox 3"/>
          <p:cNvSpPr txBox="1"/>
          <p:nvPr/>
        </p:nvSpPr>
        <p:spPr>
          <a:xfrm>
            <a:off x="1016000" y="1731665"/>
            <a:ext cx="10464800" cy="889000"/>
          </a:xfrm>
          <a:prstGeom prst="rect">
            <a:avLst/>
          </a:prstGeom>
          <a:noFill/>
        </p:spPr>
        <p:txBody>
          <a:bodyPr wrap="square" lIns="0" rIns="0" tIns="0" bIns="0" anchor="t">
            <a:noAutofit/>
          </a:bodyPr>
          <a:lstStyle/>
          <a:p>
            <a:pPr algn="l">
              <a:lnSpc>
                <a:spcPct val="82000"/>
              </a:lnSpc>
            </a:pPr>
            <a:r>
              <a:rPr sz="7000" b="1" i="0">
                <a:solidFill>
                  <a:srgbClr val="FFFFFF"/>
                </a:solidFill>
                <a:latin typeface="Montserrat"/>
              </a:rPr>
              <a:t>ABA e TEA</a:t>
            </a:r>
          </a:p>
        </p:txBody>
      </p:sp>
      <p:sp>
        <p:nvSpPr>
          <p:cNvPr id="5" name="TextBox 4"/>
          <p:cNvSpPr txBox="1"/>
          <p:nvPr/>
        </p:nvSpPr>
        <p:spPr>
          <a:xfrm>
            <a:off x="1016000" y="2798465"/>
            <a:ext cx="10464800" cy="247650"/>
          </a:xfrm>
          <a:prstGeom prst="rect">
            <a:avLst/>
          </a:prstGeom>
          <a:noFill/>
        </p:spPr>
        <p:txBody>
          <a:bodyPr wrap="square" lIns="0" rIns="0" tIns="0" bIns="0" anchor="t">
            <a:noAutofit/>
          </a:bodyPr>
          <a:lstStyle/>
          <a:p>
            <a:pPr algn="l">
              <a:lnSpc>
                <a:spcPct val="107000"/>
              </a:lnSpc>
            </a:pPr>
            <a:r>
              <a:rPr sz="1500" b="0" i="0">
                <a:solidFill>
                  <a:srgbClr val="9FD3D8"/>
                </a:solidFill>
                <a:latin typeface="Montserrat"/>
              </a:rPr>
              <a:t>ABA (Análise do Comportamento Aplicada) e TEA (Transtorno do Espectro Autista)</a:t>
            </a:r>
          </a:p>
        </p:txBody>
      </p:sp>
      <p:sp>
        <p:nvSpPr>
          <p:cNvPr id="6" name="TextBox 5"/>
          <p:cNvSpPr txBox="1"/>
          <p:nvPr/>
        </p:nvSpPr>
        <p:spPr>
          <a:xfrm>
            <a:off x="1016000" y="3223915"/>
            <a:ext cx="10464800" cy="426641"/>
          </a:xfrm>
          <a:prstGeom prst="rect">
            <a:avLst/>
          </a:prstGeom>
          <a:noFill/>
        </p:spPr>
        <p:txBody>
          <a:bodyPr wrap="square" lIns="0" rIns="0" tIns="0" bIns="0" anchor="t">
            <a:noAutofit/>
          </a:bodyPr>
          <a:lstStyle/>
          <a:p>
            <a:pPr algn="l">
              <a:lnSpc>
                <a:spcPct val="98000"/>
              </a:lnSpc>
            </a:pPr>
            <a:r>
              <a:rPr sz="2800" b="0" i="0">
                <a:solidFill>
                  <a:srgbClr val="E6ECF2"/>
                </a:solidFill>
                <a:latin typeface="Montserrat"/>
              </a:rPr>
              <a:t>da análise funcional à decisão clínica</a:t>
            </a:r>
          </a:p>
        </p:txBody>
      </p:sp>
      <p:sp>
        <p:nvSpPr>
          <p:cNvPr id="7" name="TextBox 6"/>
          <p:cNvSpPr txBox="1"/>
          <p:nvPr/>
        </p:nvSpPr>
        <p:spPr>
          <a:xfrm>
            <a:off x="1016000" y="3828355"/>
            <a:ext cx="10464800" cy="231080"/>
          </a:xfrm>
          <a:prstGeom prst="rect">
            <a:avLst/>
          </a:prstGeom>
          <a:noFill/>
        </p:spPr>
        <p:txBody>
          <a:bodyPr wrap="square" lIns="0" rIns="0" tIns="0" bIns="0" anchor="t">
            <a:noAutofit/>
          </a:bodyPr>
          <a:lstStyle/>
          <a:p>
            <a:pPr algn="l">
              <a:lnSpc>
                <a:spcPct val="107000"/>
              </a:lnSpc>
            </a:pPr>
            <a:r>
              <a:rPr sz="1400" b="0" i="0">
                <a:solidFill>
                  <a:srgbClr val="C9D3DE"/>
                </a:solidFill>
                <a:latin typeface="Montserrat"/>
              </a:rPr>
              <a:t>(análise funcional: identificar o que mantém um comportamento)</a:t>
            </a:r>
          </a:p>
        </p:txBody>
      </p:sp>
      <p:sp>
        <p:nvSpPr>
          <p:cNvPr id="8" name="TextBox 7"/>
          <p:cNvSpPr txBox="1"/>
          <p:nvPr/>
        </p:nvSpPr>
        <p:spPr>
          <a:xfrm>
            <a:off x="1016000" y="4796036"/>
            <a:ext cx="10464800" cy="330200"/>
          </a:xfrm>
          <a:prstGeom prst="rect">
            <a:avLst/>
          </a:prstGeom>
          <a:noFill/>
        </p:spPr>
        <p:txBody>
          <a:bodyPr wrap="square" lIns="0" rIns="0" tIns="0" bIns="0" anchor="t">
            <a:noAutofit/>
          </a:bodyPr>
          <a:lstStyle/>
          <a:p>
            <a:pPr algn="l">
              <a:lnSpc>
                <a:spcPct val="98000"/>
              </a:lnSpc>
            </a:pPr>
            <a:r>
              <a:rPr sz="2100" b="1" i="0">
                <a:solidFill>
                  <a:srgbClr val="FFFFFF"/>
                </a:solidFill>
                <a:latin typeface="Montserrat"/>
              </a:rPr>
              <a:t>Betina Binatti</a:t>
            </a:r>
          </a:p>
        </p:txBody>
      </p:sp>
      <p:sp>
        <p:nvSpPr>
          <p:cNvPr id="9" name="TextBox 8"/>
          <p:cNvSpPr txBox="1"/>
          <p:nvPr/>
        </p:nvSpPr>
        <p:spPr>
          <a:xfrm>
            <a:off x="1016000" y="5304036"/>
            <a:ext cx="10464800" cy="247650"/>
          </a:xfrm>
          <a:prstGeom prst="rect">
            <a:avLst/>
          </a:prstGeom>
          <a:noFill/>
        </p:spPr>
        <p:txBody>
          <a:bodyPr wrap="square" lIns="0" rIns="0" tIns="0" bIns="0" anchor="t">
            <a:noAutofit/>
          </a:bodyPr>
          <a:lstStyle/>
          <a:p>
            <a:pPr algn="l">
              <a:lnSpc>
                <a:spcPct val="98000"/>
              </a:lnSpc>
            </a:pPr>
            <a:r>
              <a:rPr sz="1600" b="0" i="0">
                <a:solidFill>
                  <a:srgbClr val="C9D3DE"/>
                </a:solidFill>
                <a:latin typeface="Montserrat"/>
              </a:rPr>
              <a:t>24 de outubro de 2026, PUCRS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797917"/>
            <a:ext cx="6592824"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Quem conduz o workshop</a:t>
            </a:r>
          </a:p>
        </p:txBody>
      </p:sp>
      <p:sp>
        <p:nvSpPr>
          <p:cNvPr id="4" name="TextBox 3"/>
          <p:cNvSpPr txBox="1"/>
          <p:nvPr/>
        </p:nvSpPr>
        <p:spPr>
          <a:xfrm>
            <a:off x="1168400" y="1533823"/>
            <a:ext cx="6592824" cy="462260"/>
          </a:xfrm>
          <a:prstGeom prst="rect">
            <a:avLst/>
          </a:prstGeom>
          <a:noFill/>
        </p:spPr>
        <p:txBody>
          <a:bodyPr wrap="square" lIns="0" rIns="0" tIns="0" bIns="0" anchor="t">
            <a:noAutofit/>
          </a:bodyPr>
          <a:lstStyle/>
          <a:p>
            <a:pPr algn="l">
              <a:lnSpc>
                <a:spcPct val="115000"/>
              </a:lnSpc>
            </a:pPr>
            <a:r>
              <a:rPr sz="2600" b="1" i="0">
                <a:solidFill>
                  <a:srgbClr val="1B2F4B"/>
                </a:solidFill>
                <a:latin typeface="Montserrat"/>
              </a:rPr>
              <a:t>Betina Binatti</a:t>
            </a:r>
          </a:p>
        </p:txBody>
      </p:sp>
      <p:sp>
        <p:nvSpPr>
          <p:cNvPr id="5" name="TextBox 4"/>
          <p:cNvSpPr txBox="1"/>
          <p:nvPr/>
        </p:nvSpPr>
        <p:spPr>
          <a:xfrm>
            <a:off x="1168400" y="2250083"/>
            <a:ext cx="6592824" cy="3619500"/>
          </a:xfrm>
          <a:prstGeom prst="rect">
            <a:avLst/>
          </a:prstGeom>
          <a:noFill/>
        </p:spPr>
        <p:txBody>
          <a:bodyPr wrap="square" lIns="0" rIns="0" tIns="0" bIns="0" anchor="t">
            <a:noAutofit/>
          </a:bodyPr>
          <a:lstStyle/>
          <a:p>
            <a:pPr algn="l" marL="279400" indent="-279400">
              <a:lnSpc>
                <a:spcPct val="123000"/>
              </a:lnSpc>
              <a:buChar char="•"/>
            </a:pPr>
            <a:r>
              <a:rPr sz="1900" b="0" i="0">
                <a:solidFill>
                  <a:srgbClr val="2E3A4A"/>
                </a:solidFill>
                <a:latin typeface="Montserrat"/>
              </a:rPr>
              <a:t>Psicóloga formada pela PUCRS</a:t>
            </a:r>
          </a:p>
          <a:p>
            <a:pPr algn="l" marL="279400" indent="-279400">
              <a:lnSpc>
                <a:spcPct val="123000"/>
              </a:lnSpc>
              <a:buChar char="•"/>
            </a:pPr>
            <a:r>
              <a:rPr sz="1900" b="0" i="0">
                <a:solidFill>
                  <a:srgbClr val="2E3A4A"/>
                </a:solidFill>
                <a:latin typeface="Montserrat"/>
              </a:rPr>
              <a:t>Pós-graduada em ABA e Estratégias Naturalistas (Instituto Singular)</a:t>
            </a:r>
          </a:p>
          <a:p>
            <a:pPr algn="l" marL="279400" indent="-279400">
              <a:lnSpc>
                <a:spcPct val="123000"/>
              </a:lnSpc>
              <a:buChar char="•"/>
            </a:pPr>
            <a:r>
              <a:rPr sz="1900" b="0" i="0">
                <a:solidFill>
                  <a:srgbClr val="2E3A4A"/>
                </a:solidFill>
                <a:latin typeface="Montserrat"/>
              </a:rPr>
              <a:t>Pós-graduanda em Neuropsicologia (Comportamente)</a:t>
            </a:r>
          </a:p>
          <a:p>
            <a:pPr algn="l" marL="279400" indent="-279400">
              <a:lnSpc>
                <a:spcPct val="123000"/>
              </a:lnSpc>
              <a:buChar char="•"/>
            </a:pPr>
            <a:r>
              <a:rPr sz="1900" b="0" i="0">
                <a:solidFill>
                  <a:srgbClr val="2E3A4A"/>
                </a:solidFill>
                <a:latin typeface="Montserrat"/>
              </a:rPr>
              <a:t>7 anos de experiência em neurodivergência (funcionamentos do cérebro diferentes do típico, como autismo e TDAH)</a:t>
            </a:r>
          </a:p>
          <a:p>
            <a:pPr algn="l" marL="279400" indent="-279400">
              <a:lnSpc>
                <a:spcPct val="123000"/>
              </a:lnSpc>
              <a:buChar char="•"/>
            </a:pPr>
            <a:r>
              <a:rPr sz="1900" b="0" i="0">
                <a:solidFill>
                  <a:srgbClr val="2E3A4A"/>
                </a:solidFill>
                <a:latin typeface="Montserrat"/>
              </a:rPr>
              <a:t>2 anos e 6 meses como coordenadora de caso e supervisora clínica</a:t>
            </a:r>
          </a:p>
        </p:txBody>
      </p:sp>
      <p:pic>
        <p:nvPicPr>
          <p:cNvPr id="6" name="Picture 5" descr="foto_retrato.jpg"/>
          <p:cNvPicPr>
            <a:picLocks noChangeAspect="1"/>
          </p:cNvPicPr>
          <p:nvPr/>
        </p:nvPicPr>
        <p:blipFill>
          <a:blip r:embed="rId2"/>
          <a:stretch>
            <a:fillRect/>
          </a:stretch>
        </p:blipFill>
        <p:spPr>
          <a:xfrm>
            <a:off x="8128000" y="1428750"/>
            <a:ext cx="3048000" cy="3810000"/>
          </a:xfrm>
          <a:prstGeom prst="rect">
            <a:avLst/>
          </a:prstGeom>
        </p:spPr>
      </p:pic>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6709"/>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Ao final, vocês vão conseguir</a:t>
            </a:r>
          </a:p>
        </p:txBody>
      </p:sp>
      <p:sp>
        <p:nvSpPr>
          <p:cNvPr id="4" name="TextBox 3"/>
          <p:cNvSpPr txBox="1"/>
          <p:nvPr/>
        </p:nvSpPr>
        <p:spPr>
          <a:xfrm>
            <a:off x="1168400" y="2182614"/>
            <a:ext cx="10307828" cy="3038078"/>
          </a:xfrm>
          <a:prstGeom prst="rect">
            <a:avLst/>
          </a:prstGeom>
          <a:noFill/>
        </p:spPr>
        <p:txBody>
          <a:bodyPr wrap="square" lIns="0" rIns="0" tIns="0" bIns="0" anchor="t">
            <a:noAutofit/>
          </a:bodyPr>
          <a:lstStyle/>
          <a:p>
            <a:pPr algn="l" marL="279400" indent="-279400">
              <a:lnSpc>
                <a:spcPct val="119000"/>
              </a:lnSpc>
              <a:buAutoNum type="arabicPeriod" startAt="1"/>
            </a:pPr>
            <a:r>
              <a:rPr sz="1650" b="0" i="0">
                <a:solidFill>
                  <a:srgbClr val="2E3A4A"/>
                </a:solidFill>
                <a:latin typeface="Montserrat"/>
              </a:rPr>
              <a:t>Explicar por que o TEA é heterogêneo (aparece de formas muito diferentes)</a:t>
            </a:r>
          </a:p>
          <a:p>
            <a:pPr algn="l" marL="279400" indent="-279400">
              <a:lnSpc>
                <a:spcPct val="119000"/>
              </a:lnSpc>
              <a:buAutoNum type="arabicPeriod" startAt="1"/>
            </a:pPr>
            <a:r>
              <a:rPr sz="1650" b="1" i="0">
                <a:solidFill>
                  <a:srgbClr val="2E3A4A"/>
                </a:solidFill>
                <a:latin typeface="Montserrat"/>
              </a:rPr>
              <a:t>Diferenciar topografia (a forma do comportamento) e função (para que ele serve)</a:t>
            </a:r>
          </a:p>
          <a:p>
            <a:pPr algn="l" marL="279400" indent="-279400">
              <a:lnSpc>
                <a:spcPct val="119000"/>
              </a:lnSpc>
              <a:buAutoNum type="arabicPeriod" startAt="1"/>
            </a:pPr>
            <a:r>
              <a:rPr sz="1650" b="1" i="0">
                <a:solidFill>
                  <a:srgbClr val="2E3A4A"/>
                </a:solidFill>
                <a:latin typeface="Montserrat"/>
              </a:rPr>
              <a:t>Identificar antecedentes (o que vem antes), consequências (o que vem depois) e contexto</a:t>
            </a:r>
          </a:p>
          <a:p>
            <a:pPr algn="l" marL="279400" indent="-279400">
              <a:lnSpc>
                <a:spcPct val="119000"/>
              </a:lnSpc>
              <a:buAutoNum type="arabicPeriod" startAt="1"/>
            </a:pPr>
            <a:r>
              <a:rPr sz="1650" b="1" i="0">
                <a:solidFill>
                  <a:srgbClr val="2E3A4A"/>
                </a:solidFill>
                <a:latin typeface="Montserrat"/>
              </a:rPr>
              <a:t>Justificar por que avaliar vem antes de intervir</a:t>
            </a:r>
          </a:p>
          <a:p>
            <a:pPr algn="l" marL="279400" indent="-279400">
              <a:lnSpc>
                <a:spcPct val="119000"/>
              </a:lnSpc>
              <a:buAutoNum type="arabicPeriod" startAt="1"/>
            </a:pPr>
            <a:r>
              <a:rPr sz="1650" b="0" i="0">
                <a:solidFill>
                  <a:srgbClr val="2E3A4A"/>
                </a:solidFill>
                <a:latin typeface="Montserrat"/>
              </a:rPr>
              <a:t>Reconhecer estratégias baseadas em evidências (com eficácia mostrada em pesquisas) e ligá-las à função</a:t>
            </a:r>
          </a:p>
          <a:p>
            <a:pPr algn="l" marL="279400" indent="-279400">
              <a:lnSpc>
                <a:spcPct val="119000"/>
              </a:lnSpc>
              <a:buAutoNum type="arabicPeriod" startAt="1"/>
            </a:pPr>
            <a:r>
              <a:rPr sz="1650" b="0" i="0">
                <a:solidFill>
                  <a:srgbClr val="2E3A4A"/>
                </a:solidFill>
                <a:latin typeface="Montserrat"/>
              </a:rPr>
              <a:t>Analisar uma vinheta (caso fictício curto) e justificar decisões</a:t>
            </a:r>
          </a:p>
          <a:p>
            <a:pPr algn="l" marL="279400" indent="-279400">
              <a:lnSpc>
                <a:spcPct val="119000"/>
              </a:lnSpc>
              <a:buAutoNum type="arabicPeriod" startAt="1"/>
            </a:pPr>
            <a:r>
              <a:rPr sz="1650" b="0" i="0">
                <a:solidFill>
                  <a:srgbClr val="2E3A4A"/>
                </a:solidFill>
                <a:latin typeface="Montserrat"/>
              </a:rPr>
              <a:t>Reconhecer limites de atuação (o que cada profissional pode fazer) e a importância da supervisão (acompanhamento por profissional mais experiente)</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268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Este workshop não forma aplicadores</a:t>
            </a:r>
          </a:p>
        </p:txBody>
      </p:sp>
      <p:sp>
        <p:nvSpPr>
          <p:cNvPr id="4" name="TextBox 3"/>
          <p:cNvSpPr txBox="1"/>
          <p:nvPr/>
        </p:nvSpPr>
        <p:spPr>
          <a:xfrm>
            <a:off x="1168400" y="2338983"/>
            <a:ext cx="10307828" cy="284460"/>
          </a:xfrm>
          <a:prstGeom prst="rect">
            <a:avLst/>
          </a:prstGeom>
          <a:noFill/>
        </p:spPr>
        <p:txBody>
          <a:bodyPr wrap="square" lIns="0" rIns="0" tIns="0" bIns="0" anchor="t">
            <a:noAutofit/>
          </a:bodyPr>
          <a:lstStyle/>
          <a:p>
            <a:pPr algn="l">
              <a:lnSpc>
                <a:spcPct val="115000"/>
              </a:lnSpc>
            </a:pPr>
            <a:r>
              <a:rPr sz="1600" b="0" i="1">
                <a:solidFill>
                  <a:srgbClr val="66717F"/>
                </a:solidFill>
                <a:latin typeface="Montserrat"/>
              </a:rPr>
              <a:t>(aplicadores: profissionais que executam a intervenção no dia a dia)</a:t>
            </a:r>
          </a:p>
        </p:txBody>
      </p:sp>
      <p:sp>
        <p:nvSpPr>
          <p:cNvPr id="5" name="TextBox 4"/>
          <p:cNvSpPr txBox="1"/>
          <p:nvPr/>
        </p:nvSpPr>
        <p:spPr>
          <a:xfrm>
            <a:off x="11684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é</a:t>
            </a:r>
          </a:p>
        </p:txBody>
      </p:sp>
      <p:sp>
        <p:nvSpPr>
          <p:cNvPr id="6" name="TextBox 5"/>
          <p:cNvSpPr txBox="1"/>
          <p:nvPr/>
        </p:nvSpPr>
        <p:spPr>
          <a:xfrm>
            <a:off x="1168400" y="3362523"/>
            <a:ext cx="4839970" cy="14224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Uma introdução ao raciocínio analítico-comportamental (da Análise do Comportamento) aplicado ao TEA.</a:t>
            </a:r>
          </a:p>
        </p:txBody>
      </p:sp>
      <p:sp>
        <p:nvSpPr>
          <p:cNvPr id="7" name="TextBox 6"/>
          <p:cNvSpPr txBox="1"/>
          <p:nvPr/>
        </p:nvSpPr>
        <p:spPr>
          <a:xfrm>
            <a:off x="64770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é</a:t>
            </a:r>
          </a:p>
        </p:txBody>
      </p:sp>
      <p:sp>
        <p:nvSpPr>
          <p:cNvPr id="8" name="TextBox 7"/>
          <p:cNvSpPr txBox="1"/>
          <p:nvPr/>
        </p:nvSpPr>
        <p:spPr>
          <a:xfrm>
            <a:off x="6477000" y="3362523"/>
            <a:ext cx="4839970" cy="17780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 curso de formação em ABA (Análise do Comportamento Aplicada). Ele não habilita ninguém a avaliar ou intervir sem formação e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656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Combinados</a:t>
            </a:r>
          </a:p>
        </p:txBody>
      </p:sp>
      <p:sp>
        <p:nvSpPr>
          <p:cNvPr id="4" name="TextBox 3"/>
          <p:cNvSpPr txBox="1"/>
          <p:nvPr/>
        </p:nvSpPr>
        <p:spPr>
          <a:xfrm>
            <a:off x="1168400" y="2977753"/>
            <a:ext cx="10307828"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Perguntas são bem-vindas a qualquer momento</a:t>
            </a:r>
          </a:p>
          <a:p>
            <a:pPr algn="l" marL="279400" indent="-279400">
              <a:lnSpc>
                <a:spcPct val="123000"/>
              </a:lnSpc>
              <a:buChar char="•"/>
            </a:pPr>
            <a:r>
              <a:rPr sz="2000" b="0" i="0">
                <a:solidFill>
                  <a:srgbClr val="2E3A4A"/>
                </a:solidFill>
                <a:latin typeface="Montserrat"/>
              </a:rPr>
              <a:t>Todos os casos são fictícios</a:t>
            </a:r>
          </a:p>
          <a:p>
            <a:pPr algn="l" marL="279400" indent="-279400">
              <a:lnSpc>
                <a:spcPct val="123000"/>
              </a:lnSpc>
              <a:buChar char="•"/>
            </a:pPr>
            <a:r>
              <a:rPr sz="2000" b="0" i="0">
                <a:solidFill>
                  <a:srgbClr val="2E3A4A"/>
                </a:solidFill>
                <a:latin typeface="Montserrat"/>
              </a:rPr>
              <a:t>Não vamos discutir casos reais</a:t>
            </a:r>
          </a:p>
          <a:p>
            <a:pPr algn="l" marL="279400" indent="-279400">
              <a:lnSpc>
                <a:spcPct val="123000"/>
              </a:lnSpc>
              <a:buChar char="•"/>
            </a:pPr>
            <a:r>
              <a:rPr sz="2000" b="0" i="0">
                <a:solidFill>
                  <a:srgbClr val="2E3A4A"/>
                </a:solidFill>
                <a:latin typeface="Montserrat"/>
              </a:rPr>
              <a:t>Vamos usar “pessoa autista”, respeitando preferências individuais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126258" y="2327275"/>
            <a:ext cx="8177567"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criança grita e se joga no chão quando a atividade muda.</a:t>
            </a:r>
          </a:p>
        </p:txBody>
      </p:sp>
      <p:sp>
        <p:nvSpPr>
          <p:cNvPr id="3" name="TextBox 2"/>
          <p:cNvSpPr txBox="1"/>
          <p:nvPr/>
        </p:nvSpPr>
        <p:spPr>
          <a:xfrm>
            <a:off x="3994646" y="2962275"/>
            <a:ext cx="432878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Por quê?</a:t>
            </a:r>
          </a:p>
        </p:txBody>
      </p:sp>
      <p:sp>
        <p:nvSpPr>
          <p:cNvPr id="4" name="TextBox 3"/>
          <p:cNvSpPr txBox="1"/>
          <p:nvPr/>
        </p:nvSpPr>
        <p:spPr>
          <a:xfrm>
            <a:off x="5336183" y="4264025"/>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77602"/>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de TEA se apoia em dois domínios (áreas)</a:t>
            </a:r>
          </a:p>
        </p:txBody>
      </p:sp>
      <p:sp>
        <p:nvSpPr>
          <p:cNvPr id="4" name="TextBox 3"/>
          <p:cNvSpPr txBox="1"/>
          <p:nvPr/>
        </p:nvSpPr>
        <p:spPr>
          <a:xfrm>
            <a:off x="1168400" y="219541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Comunicação e interação social</a:t>
            </a:r>
          </a:p>
        </p:txBody>
      </p:sp>
      <p:sp>
        <p:nvSpPr>
          <p:cNvPr id="5" name="TextBox 4"/>
          <p:cNvSpPr txBox="1"/>
          <p:nvPr/>
        </p:nvSpPr>
        <p:spPr>
          <a:xfrm>
            <a:off x="1168400" y="2604294"/>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Diferenças persistentes, em vários contextos.</a:t>
            </a:r>
          </a:p>
        </p:txBody>
      </p:sp>
      <p:sp>
        <p:nvSpPr>
          <p:cNvPr id="6" name="TextBox 5"/>
          <p:cNvSpPr txBox="1"/>
          <p:nvPr/>
        </p:nvSpPr>
        <p:spPr>
          <a:xfrm>
            <a:off x="6477000" y="219541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Padrões restritos e repetitivos</a:t>
            </a:r>
          </a:p>
        </p:txBody>
      </p:sp>
      <p:sp>
        <p:nvSpPr>
          <p:cNvPr id="7" name="TextBox 6"/>
          <p:cNvSpPr txBox="1"/>
          <p:nvPr/>
        </p:nvSpPr>
        <p:spPr>
          <a:xfrm>
            <a:off x="6477000" y="2604294"/>
            <a:ext cx="4839970" cy="135096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De comportamento, interesses ou atividades, incluindo respostas sensoriais (reações a sons, luzes, texturas).</a:t>
            </a:r>
          </a:p>
        </p:txBody>
      </p:sp>
      <p:sp>
        <p:nvSpPr>
          <p:cNvPr id="8" name="TextBox 7"/>
          <p:cNvSpPr txBox="1"/>
          <p:nvPr/>
        </p:nvSpPr>
        <p:spPr>
          <a:xfrm>
            <a:off x="1168400" y="4209256"/>
            <a:ext cx="10307828"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Os sinais aparecem no início do desenvolvimento e têm impacto significativo no funcionamento (DSM-5-TR: manual de diagnóstico da Associação Americana de Psiquiatria).</a:t>
            </a:r>
          </a:p>
        </p:txBody>
      </p:sp>
      <p:sp>
        <p:nvSpPr>
          <p:cNvPr id="9" name="TextBox 8"/>
          <p:cNvSpPr txBox="1"/>
          <p:nvPr/>
        </p:nvSpPr>
        <p:spPr>
          <a:xfrm>
            <a:off x="1168400" y="5423198"/>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No DSM-IV eram três áreas. Desde o DSM-5, comunicação e interação social formam um único domínio.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0111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Especificadores e níveis de suporte</a:t>
            </a:r>
          </a:p>
        </p:txBody>
      </p:sp>
      <p:sp>
        <p:nvSpPr>
          <p:cNvPr id="4" name="TextBox 3"/>
          <p:cNvSpPr txBox="1"/>
          <p:nvPr/>
        </p:nvSpPr>
        <p:spPr>
          <a:xfrm>
            <a:off x="1168400" y="1737023"/>
            <a:ext cx="10307828" cy="90666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Especificadores:</a:t>
            </a:r>
            <a:r>
              <a:rPr sz="1700" b="0" i="0">
                <a:solidFill>
                  <a:srgbClr val="2E3A4A"/>
                </a:solidFill>
                <a:latin typeface="Montserrat"/>
              </a:rPr>
              <a:t> informações que se somam ao diagnóstico: com ou sem deficiência intelectual, com ou sem comprometimento de linguagem, condições associadas (ex.: epilepsia).</a:t>
            </a:r>
          </a:p>
        </p:txBody>
      </p:sp>
      <p:graphicFrame>
        <p:nvGraphicFramePr>
          <p:cNvPr id="5" name="Table 4"/>
          <p:cNvGraphicFramePr>
            <a:graphicFrameLocks noGrp="1"/>
          </p:cNvGraphicFramePr>
          <p:nvPr/>
        </p:nvGraphicFramePr>
        <p:xfrm>
          <a:off x="1168400" y="2897684"/>
          <a:ext cx="10007600" cy="1981200"/>
        </p:xfrm>
        <a:graphic>
          <a:graphicData uri="http://schemas.openxmlformats.org/drawingml/2006/table">
            <a:tbl>
              <a:tblPr firstRow="0" bandRow="0">
                <a:tableStyleId>{2D5ABB26-0587-4C30-8999-92F81FD0307C}</a:tableStyleId>
              </a:tblPr>
              <a:tblGrid>
                <a:gridCol w="2001441"/>
                <a:gridCol w="8006159"/>
              </a:tblGrid>
              <a:tr h="495300">
                <a:tc>
                  <a:txBody>
                    <a:bodyPr wrap="square"/>
                    <a:lstStyle/>
                    <a:p>
                      <a:pPr>
                        <a:lnSpc>
                          <a:spcPct val="100000"/>
                        </a:lnSpc>
                      </a:pPr>
                      <a:r>
                        <a:rPr sz="1700" b="1" i="0">
                          <a:solidFill>
                            <a:srgbClr val="FFFFFF"/>
                          </a:solidFill>
                          <a:latin typeface="Montserrat"/>
                        </a:rPr>
                        <a:t>Nível</a:t>
                      </a:r>
                    </a:p>
                  </a:txBody>
                  <a:tcPr marL="114300" marR="114300" marT="68580" marB="68580" anchor="ctr">
                    <a:solidFill>
                      <a:srgbClr val="1B2F4B"/>
                    </a:solidFill>
                  </a:tcPr>
                </a:tc>
                <a:tc>
                  <a:txBody>
                    <a:bodyPr wrap="square"/>
                    <a:lstStyle/>
                    <a:p>
                      <a:pPr>
                        <a:lnSpc>
                          <a:spcPct val="100000"/>
                        </a:lnSpc>
                      </a:pPr>
                      <a:r>
                        <a:rPr sz="1700" b="1" i="0">
                          <a:solidFill>
                            <a:srgbClr val="FFFFFF"/>
                          </a:solidFill>
                          <a:latin typeface="Montserrat"/>
                        </a:rPr>
                        <a:t>Suporte necessário</a:t>
                      </a:r>
                    </a:p>
                  </a:txBody>
                  <a:tcPr marL="114300" marR="114300" marT="68580" marB="68580" anchor="ctr">
                    <a:solidFill>
                      <a:srgbClr val="1B2F4B"/>
                    </a:solidFill>
                  </a:tcPr>
                </a:tc>
              </a:tr>
              <a:tr h="495300">
                <a:tc>
                  <a:txBody>
                    <a:bodyPr wrap="square"/>
                    <a:lstStyle/>
                    <a:p>
                      <a:pPr>
                        <a:lnSpc>
                          <a:spcPct val="100000"/>
                        </a:lnSpc>
                      </a:pPr>
                      <a:r>
                        <a:rPr sz="17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suporte</a:t>
                      </a:r>
                    </a:p>
                  </a:txBody>
                  <a:tcPr marL="114300" marR="114300" marT="68580" marB="68580" anchor="ctr">
                    <a:solidFill>
                      <a:srgbClr val="FFFFFF"/>
                    </a:solidFill>
                  </a:tcPr>
                </a:tc>
              </a:tr>
              <a:tr h="495300">
                <a:tc>
                  <a:txBody>
                    <a:bodyPr wrap="square"/>
                    <a:lstStyle/>
                    <a:p>
                      <a:pPr>
                        <a:lnSpc>
                          <a:spcPct val="100000"/>
                        </a:lnSpc>
                      </a:pPr>
                      <a:r>
                        <a:rPr sz="17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700" b="0" i="0">
                          <a:solidFill>
                            <a:srgbClr val="2E3A4A"/>
                          </a:solidFill>
                          <a:latin typeface="Montserrat"/>
                        </a:rPr>
                        <a:t>Exige suporte substancial</a:t>
                      </a:r>
                    </a:p>
                  </a:txBody>
                  <a:tcPr marL="114300" marR="114300" marT="68580" marB="68580" anchor="ctr">
                    <a:solidFill>
                      <a:srgbClr val="F1F4F6"/>
                    </a:solidFill>
                  </a:tcPr>
                </a:tc>
              </a:tr>
              <a:tr h="495300">
                <a:tc>
                  <a:txBody>
                    <a:bodyPr wrap="square"/>
                    <a:lstStyle/>
                    <a:p>
                      <a:pPr>
                        <a:lnSpc>
                          <a:spcPct val="100000"/>
                        </a:lnSpc>
                      </a:pPr>
                      <a:r>
                        <a:rPr sz="17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suporte muito substancial</a:t>
                      </a:r>
                    </a:p>
                  </a:txBody>
                  <a:tcPr marL="114300" marR="114300" marT="68580" marB="68580" anchor="ctr">
                    <a:solidFill>
                      <a:srgbClr val="FFFFFF"/>
                    </a:solidFill>
                  </a:tcPr>
                </a:tc>
              </a:tr>
            </a:tbl>
          </a:graphicData>
        </a:graphic>
      </p:graphicFrame>
      <p:sp>
        <p:nvSpPr>
          <p:cNvPr id="6" name="TextBox 5"/>
          <p:cNvSpPr txBox="1"/>
          <p:nvPr/>
        </p:nvSpPr>
        <p:spPr>
          <a:xfrm>
            <a:off x="1168400" y="513288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Os níveis são definidos para cada domínio e descrevem o suporte necessário, não um “grau de autismo”. No texto do DSM-5-TR, o nome oficial é “níveis de gravidade”.</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311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não define o plano</a:t>
            </a:r>
          </a:p>
        </p:txBody>
      </p:sp>
      <p:sp>
        <p:nvSpPr>
          <p:cNvPr id="4" name="TextBox 3"/>
          <p:cNvSpPr txBox="1"/>
          <p:nvPr/>
        </p:nvSpPr>
        <p:spPr>
          <a:xfrm>
            <a:off x="1168400" y="2843212"/>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Duas pessoas autistas podem ser muito diferentes em linguagem, capacidade intelectual, necessidade de apoio, condições coocorrentes (outros diagnósticos ao mesmo tempo, como TDAH ou ansiedade), interesses e contexto familiar.</a:t>
            </a:r>
          </a:p>
        </p:txBody>
      </p:sp>
      <p:sp>
        <p:nvSpPr>
          <p:cNvPr id="5" name="TextBox 4"/>
          <p:cNvSpPr txBox="1"/>
          <p:nvPr/>
        </p:nvSpPr>
        <p:spPr>
          <a:xfrm>
            <a:off x="1168400" y="4240212"/>
            <a:ext cx="10307828" cy="396180"/>
          </a:xfrm>
          <a:prstGeom prst="rect">
            <a:avLst/>
          </a:prstGeom>
          <a:noFill/>
        </p:spPr>
        <p:txBody>
          <a:bodyPr wrap="square" lIns="0" rIns="0" tIns="0" bIns="0" anchor="t">
            <a:noAutofit/>
          </a:bodyPr>
          <a:lstStyle/>
          <a:p>
            <a:pPr algn="l">
              <a:lnSpc>
                <a:spcPct val="107000"/>
              </a:lnSpc>
            </a:pPr>
            <a:r>
              <a:rPr sz="2400" b="1" i="0">
                <a:solidFill>
                  <a:srgbClr val="0F7C86"/>
                </a:solidFill>
                <a:latin typeface="Montserrat"/>
              </a:rPr>
              <a:t>O plano nasce da avaliação da pessoa, não do rótulo.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Lord et al. (2020); Lord et al. (2022)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1653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Prevalência depende de onde e como se mede</a:t>
            </a:r>
          </a:p>
        </p:txBody>
      </p:sp>
      <p:sp>
        <p:nvSpPr>
          <p:cNvPr id="4" name="TextBox 3"/>
          <p:cNvSpPr txBox="1"/>
          <p:nvPr/>
        </p:nvSpPr>
        <p:spPr>
          <a:xfrm>
            <a:off x="11684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 1%</a:t>
            </a:r>
          </a:p>
        </p:txBody>
      </p:sp>
      <p:sp>
        <p:nvSpPr>
          <p:cNvPr id="5" name="TextBox 4"/>
          <p:cNvSpPr txBox="1"/>
          <p:nvPr/>
        </p:nvSpPr>
        <p:spPr>
          <a:xfrm>
            <a:off x="1168400" y="3474145"/>
            <a:ext cx="4839970" cy="90666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Estimativa global (mediana, o valor do meio, de 100 por 10.000 em estudos de vários países)</a:t>
            </a:r>
          </a:p>
        </p:txBody>
      </p:sp>
      <p:sp>
        <p:nvSpPr>
          <p:cNvPr id="6" name="TextBox 5"/>
          <p:cNvSpPr txBox="1"/>
          <p:nvPr/>
        </p:nvSpPr>
        <p:spPr>
          <a:xfrm>
            <a:off x="64770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1 em 31</a:t>
            </a:r>
          </a:p>
        </p:txBody>
      </p:sp>
      <p:sp>
        <p:nvSpPr>
          <p:cNvPr id="7" name="TextBox 6"/>
          <p:cNvSpPr txBox="1"/>
          <p:nvPr/>
        </p:nvSpPr>
        <p:spPr>
          <a:xfrm>
            <a:off x="6477000" y="347414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Crianças de 8 anos em 16 regiões dos EUA, em 2022</a:t>
            </a:r>
          </a:p>
        </p:txBody>
      </p:sp>
      <p:sp>
        <p:nvSpPr>
          <p:cNvPr id="8" name="TextBox 7"/>
          <p:cNvSpPr txBox="1"/>
          <p:nvPr/>
        </p:nvSpPr>
        <p:spPr>
          <a:xfrm>
            <a:off x="1168400" y="471100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Prevalência é quantas pessoas têm o diagnóstico. Parte da variação reflete práticas de identificação e acesso a avaliação.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Zeidan et al. (2022); Shaw et al. (2025)</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42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Neurodiversidade: diferença não é algo a “curar”</a:t>
            </a:r>
          </a:p>
        </p:txBody>
      </p:sp>
      <p:sp>
        <p:nvSpPr>
          <p:cNvPr id="4" name="TextBox 3"/>
          <p:cNvSpPr txBox="1"/>
          <p:nvPr/>
        </p:nvSpPr>
        <p:spPr>
          <a:xfrm>
            <a:off x="1168400" y="3028255"/>
            <a:ext cx="10307828" cy="1905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Neurodiversidade (variação natural no funcionamento do cérebro): o autismo como parte da variação humana</a:t>
            </a:r>
          </a:p>
          <a:p>
            <a:pPr algn="l" marL="279400" indent="-279400">
              <a:lnSpc>
                <a:spcPct val="123000"/>
              </a:lnSpc>
              <a:buChar char="•"/>
            </a:pPr>
            <a:r>
              <a:rPr sz="2000" b="0" i="0">
                <a:solidFill>
                  <a:srgbClr val="2E3A4A"/>
                </a:solidFill>
                <a:latin typeface="Montserrat"/>
              </a:rPr>
              <a:t>Reconhecer dificuldades e respeitar a identidade não são opostos</a:t>
            </a:r>
          </a:p>
          <a:p>
            <a:pPr algn="l" marL="279400" indent="-279400">
              <a:lnSpc>
                <a:spcPct val="123000"/>
              </a:lnSpc>
              <a:buChar char="•"/>
            </a:pPr>
            <a:r>
              <a:rPr sz="2000" b="0" i="0">
                <a:solidFill>
                  <a:srgbClr val="2E3A4A"/>
                </a:solidFill>
                <a:latin typeface="Montserrat"/>
              </a:rPr>
              <a:t>A linguagem importa: “pessoa autista”, “interesses focados” (interesses intensos e específicos)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Kapp et al. (2013); 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874070"/>
            <a:ext cx="9941560" cy="1109861"/>
          </a:xfrm>
          <a:prstGeom prst="rect">
            <a:avLst/>
          </a:prstGeom>
          <a:noFill/>
        </p:spPr>
        <p:txBody>
          <a:bodyPr wrap="square" lIns="0" rIns="0" tIns="0" bIns="0" anchor="t">
            <a:noAutofit/>
          </a:bodyPr>
          <a:lstStyle/>
          <a:p>
            <a:pPr algn="ctr">
              <a:lnSpc>
                <a:spcPct val="94000"/>
              </a:lnSpc>
            </a:pPr>
            <a:r>
              <a:rPr sz="3800" b="1" i="0">
                <a:solidFill>
                  <a:srgbClr val="FFFFFF"/>
                </a:solidFill>
                <a:latin typeface="Montserrat"/>
              </a:rPr>
              <a:t>Se o objetivo não é “tirar o autismo”, o que justifica uma intervenção?</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6125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justifica intervir</a:t>
            </a:r>
          </a:p>
        </p:txBody>
      </p:sp>
      <p:graphicFrame>
        <p:nvGraphicFramePr>
          <p:cNvPr id="4" name="Table 3"/>
          <p:cNvGraphicFramePr>
            <a:graphicFrameLocks noGrp="1"/>
          </p:cNvGraphicFramePr>
          <p:nvPr/>
        </p:nvGraphicFramePr>
        <p:xfrm>
          <a:off x="1168400" y="1310382"/>
          <a:ext cx="10007600" cy="3105150"/>
        </p:xfrm>
        <a:graphic>
          <a:graphicData uri="http://schemas.openxmlformats.org/drawingml/2006/table">
            <a:tbl>
              <a:tblPr firstRow="0" bandRow="0">
                <a:tableStyleId>{2D5ABB26-0587-4C30-8999-92F81FD0307C}</a:tableStyleId>
              </a:tblPr>
              <a:tblGrid>
                <a:gridCol w="3802856"/>
                <a:gridCol w="6204744"/>
              </a:tblGrid>
              <a:tr h="476250">
                <a:tc>
                  <a:txBody>
                    <a:bodyPr wrap="square"/>
                    <a:lstStyle/>
                    <a:p>
                      <a:pPr>
                        <a:lnSpc>
                          <a:spcPct val="100000"/>
                        </a:lnSpc>
                      </a:pPr>
                      <a:r>
                        <a:rPr sz="1600" b="1" i="0">
                          <a:solidFill>
                            <a:srgbClr val="FFFFFF"/>
                          </a:solidFill>
                          <a:latin typeface="Montserrat"/>
                        </a:rPr>
                        <a:t>Ganho para a pessoa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Exemplo</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Comunicação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Ter formas eficazes de pedir, recusar e se expressar</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Aprendizagem e participação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Na escola, em casa e na comunidade</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Autonomia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Fazer mais por si, com menos ajuda</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Segurança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Quando o comportamento machuca a pessoa ou outras pessoas</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Qualidade de vida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Bem-estar, interesses e relações</a:t>
                      </a:r>
                    </a:p>
                  </a:txBody>
                  <a:tcPr marL="114300" marR="114300" marT="68580" marB="68580" anchor="ctr">
                    <a:solidFill>
                      <a:srgbClr val="FFFFFF"/>
                    </a:solidFill>
                  </a:tcPr>
                </a:tc>
              </a:tr>
            </a:tbl>
          </a:graphicData>
        </a:graphic>
      </p:graphicFrame>
      <p:sp>
        <p:nvSpPr>
          <p:cNvPr id="5" name="TextBox 4"/>
          <p:cNvSpPr txBox="1"/>
          <p:nvPr/>
        </p:nvSpPr>
        <p:spPr>
          <a:xfrm>
            <a:off x="1168400" y="4631432"/>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Características autistas que não causam prejuízo (ex.: interesses intensos, estereotipias (movimentos ou falas repetitivos) sem risco) não são alvo por si só.</a:t>
            </a:r>
          </a:p>
        </p:txBody>
      </p:sp>
      <p:sp>
        <p:nvSpPr>
          <p:cNvPr id="6" name="TextBox 5"/>
          <p:cNvSpPr txBox="1"/>
          <p:nvPr/>
        </p:nvSpPr>
        <p:spPr>
          <a:xfrm>
            <a:off x="1168400" y="578822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Objetivos definidos com a família e, sempre que possível, com a própria pessoa.</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0903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é uma ciência aplicada, não um pacote de técnicas</a:t>
            </a:r>
          </a:p>
        </p:txBody>
      </p:sp>
      <p:sp>
        <p:nvSpPr>
          <p:cNvPr id="4" name="TextBox 3"/>
          <p:cNvSpPr txBox="1"/>
          <p:nvPr/>
        </p:nvSpPr>
        <p:spPr>
          <a:xfrm>
            <a:off x="1168400" y="1976041"/>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Sete dimensões definem a Análise do Comportamento Aplicada:</a:t>
            </a:r>
          </a:p>
        </p:txBody>
      </p:sp>
      <p:graphicFrame>
        <p:nvGraphicFramePr>
          <p:cNvPr id="5" name="Table 4"/>
          <p:cNvGraphicFramePr>
            <a:graphicFrameLocks noGrp="1"/>
          </p:cNvGraphicFramePr>
          <p:nvPr/>
        </p:nvGraphicFramePr>
        <p:xfrm>
          <a:off x="1168400" y="2499221"/>
          <a:ext cx="10007600" cy="3359150"/>
        </p:xfrm>
        <a:graphic>
          <a:graphicData uri="http://schemas.openxmlformats.org/drawingml/2006/table">
            <a:tbl>
              <a:tblPr firstRow="0" bandRow="0">
                <a:tableStyleId>{2D5ABB26-0587-4C30-8999-92F81FD0307C}</a:tableStyleId>
              </a:tblPr>
              <a:tblGrid>
                <a:gridCol w="3202384"/>
                <a:gridCol w="6805216"/>
              </a:tblGrid>
              <a:tr h="412750">
                <a:tc>
                  <a:txBody>
                    <a:bodyPr wrap="square"/>
                    <a:lstStyle/>
                    <a:p>
                      <a:pPr>
                        <a:lnSpc>
                          <a:spcPct val="100000"/>
                        </a:lnSpc>
                      </a:pPr>
                      <a:r>
                        <a:rPr sz="1500" b="1" i="0">
                          <a:solidFill>
                            <a:srgbClr val="FFFFFF"/>
                          </a:solidFill>
                          <a:latin typeface="Montserrat"/>
                        </a:rPr>
                        <a:t>Dimensão</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O que significa</a:t>
                      </a:r>
                    </a:p>
                  </a:txBody>
                  <a:tcPr marL="114300" marR="114300" marT="68580" marB="68580" anchor="ctr">
                    <a:solidFill>
                      <a:srgbClr val="1B2F4B"/>
                    </a:solidFill>
                  </a:tcPr>
                </a:tc>
              </a:tr>
              <a:tr h="387350">
                <a:tc>
                  <a:txBody>
                    <a:bodyPr wrap="square"/>
                    <a:lstStyle/>
                    <a:p>
                      <a:pPr>
                        <a:lnSpc>
                          <a:spcPct val="100000"/>
                        </a:lnSpc>
                      </a:pPr>
                      <a:r>
                        <a:rPr sz="1500" b="1" i="0">
                          <a:solidFill>
                            <a:srgbClr val="2E3A4A"/>
                          </a:solidFill>
                          <a:latin typeface="Montserrat"/>
                        </a:rPr>
                        <a:t>Aplicada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Trata de comportamentos importantes para a vida da pessoa</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Comportamental</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Estuda o que a pessoa faz, de forma observável e mensurável</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Analítica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Mostra que a mudança veio da intervenção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Tecnológica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Descreve os procedimentos com clareza para que outros repitam</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Conceitualmente sistemática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Liga os procedimentos aos princípios do comportamento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Efetiva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Produz mudanças que fazem diferença no dia a dia</a:t>
                      </a:r>
                    </a:p>
                  </a:txBody>
                  <a:tcPr marL="114300" marR="114300" marT="68580" marB="68580" anchor="ctr">
                    <a:solidFill>
                      <a:srgbClr val="F1F4F6"/>
                    </a:solidFill>
                  </a:tcPr>
                </a:tc>
              </a:tr>
              <a:tr h="622300">
                <a:tc>
                  <a:txBody>
                    <a:bodyPr wrap="square"/>
                    <a:lstStyle/>
                    <a:p>
                      <a:pPr>
                        <a:lnSpc>
                          <a:spcPct val="100000"/>
                        </a:lnSpc>
                      </a:pPr>
                      <a:r>
                        <a:rPr sz="1500" b="1" i="0">
                          <a:solidFill>
                            <a:srgbClr val="2E3A4A"/>
                          </a:solidFill>
                          <a:latin typeface="Montserrat"/>
                        </a:rPr>
                        <a:t>Generalidade</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A mudança se mantém e aparece em outros lugares e com outras pessoas</a:t>
                      </a:r>
                    </a:p>
                  </a:txBody>
                  <a:tcPr marL="114300" marR="114300" marT="68580" marB="68580" anchor="ctr">
                    <a:solidFill>
                      <a:srgbClr val="FFFFFF"/>
                    </a:solidFill>
                  </a:tcPr>
                </a:tc>
              </a:tr>
            </a:tbl>
          </a:graphicData>
        </a:graphic>
      </p:graphicFrame>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Baer, Wolf &amp; Risley (1968)</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5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Topografia descreve. Função explica.</a:t>
            </a:r>
          </a:p>
        </p:txBody>
      </p:sp>
      <p:sp>
        <p:nvSpPr>
          <p:cNvPr id="4" name="TextBox 3"/>
          <p:cNvSpPr txBox="1"/>
          <p:nvPr/>
        </p:nvSpPr>
        <p:spPr>
          <a:xfrm>
            <a:off x="11684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Topografia</a:t>
            </a:r>
          </a:p>
        </p:txBody>
      </p:sp>
      <p:sp>
        <p:nvSpPr>
          <p:cNvPr id="5" name="TextBox 4"/>
          <p:cNvSpPr txBox="1"/>
          <p:nvPr/>
        </p:nvSpPr>
        <p:spPr>
          <a:xfrm>
            <a:off x="11684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forma do comportamento: o que se vê e se ouve.</a:t>
            </a:r>
          </a:p>
        </p:txBody>
      </p:sp>
      <p:sp>
        <p:nvSpPr>
          <p:cNvPr id="6" name="TextBox 5"/>
          <p:cNvSpPr txBox="1"/>
          <p:nvPr/>
        </p:nvSpPr>
        <p:spPr>
          <a:xfrm>
            <a:off x="64770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Função</a:t>
            </a:r>
          </a:p>
        </p:txBody>
      </p:sp>
      <p:sp>
        <p:nvSpPr>
          <p:cNvPr id="7" name="TextBox 6"/>
          <p:cNvSpPr txBox="1"/>
          <p:nvPr/>
        </p:nvSpPr>
        <p:spPr>
          <a:xfrm>
            <a:off x="64770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relação com as consequências que mantêm o comportamento.</a:t>
            </a:r>
          </a:p>
        </p:txBody>
      </p:sp>
      <p:sp>
        <p:nvSpPr>
          <p:cNvPr id="8" name="TextBox 7"/>
          <p:cNvSpPr txBox="1"/>
          <p:nvPr/>
        </p:nvSpPr>
        <p:spPr>
          <a:xfrm>
            <a:off x="1168400" y="380960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 mesma forma pode ter funções diferentes, e formas diferentes podem ter a mesma função.</a:t>
            </a:r>
          </a:p>
        </p:txBody>
      </p:sp>
      <p:sp>
        <p:nvSpPr>
          <p:cNvPr id="9" name="TextBox 8"/>
          <p:cNvSpPr txBox="1"/>
          <p:nvPr/>
        </p:nvSpPr>
        <p:spPr>
          <a:xfrm>
            <a:off x="1168400" y="471626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bater na mesa pode produzir atenção para uma criança e a retirada da tarefa para outra.</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Iwata et al. (1982/1994)</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35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comportamento acontece entre um antes e um depois</a:t>
            </a:r>
          </a:p>
        </p:txBody>
      </p:sp>
      <p:sp>
        <p:nvSpPr>
          <p:cNvPr id="4" name="TextBox 3"/>
          <p:cNvSpPr txBox="1"/>
          <p:nvPr/>
        </p:nvSpPr>
        <p:spPr>
          <a:xfrm>
            <a:off x="1168400"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A. Antecedente</a:t>
            </a:r>
          </a:p>
        </p:txBody>
      </p:sp>
      <p:sp>
        <p:nvSpPr>
          <p:cNvPr id="5" name="TextBox 4"/>
          <p:cNvSpPr txBox="1"/>
          <p:nvPr/>
        </p:nvSpPr>
        <p:spPr>
          <a:xfrm>
            <a:off x="1168400"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antes</a:t>
            </a:r>
          </a:p>
        </p:txBody>
      </p:sp>
      <p:sp>
        <p:nvSpPr>
          <p:cNvPr id="6" name="TextBox 5"/>
          <p:cNvSpPr txBox="1"/>
          <p:nvPr/>
        </p:nvSpPr>
        <p:spPr>
          <a:xfrm>
            <a:off x="4639766"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B. Comportamento</a:t>
            </a:r>
          </a:p>
        </p:txBody>
      </p:sp>
      <p:sp>
        <p:nvSpPr>
          <p:cNvPr id="7" name="TextBox 6"/>
          <p:cNvSpPr txBox="1"/>
          <p:nvPr/>
        </p:nvSpPr>
        <p:spPr>
          <a:xfrm>
            <a:off x="4639766"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 pessoa faz, descrito de forma observável</a:t>
            </a:r>
          </a:p>
        </p:txBody>
      </p:sp>
      <p:sp>
        <p:nvSpPr>
          <p:cNvPr id="8" name="TextBox 7"/>
          <p:cNvSpPr txBox="1"/>
          <p:nvPr/>
        </p:nvSpPr>
        <p:spPr>
          <a:xfrm>
            <a:off x="8111133"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C. Consequência</a:t>
            </a:r>
          </a:p>
        </p:txBody>
      </p:sp>
      <p:sp>
        <p:nvSpPr>
          <p:cNvPr id="9" name="TextBox 8"/>
          <p:cNvSpPr txBox="1"/>
          <p:nvPr/>
        </p:nvSpPr>
        <p:spPr>
          <a:xfrm>
            <a:off x="8111133"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depois</a:t>
            </a:r>
          </a:p>
        </p:txBody>
      </p:sp>
      <p:sp>
        <p:nvSpPr>
          <p:cNvPr id="10" name="TextBox 9"/>
          <p:cNvSpPr txBox="1"/>
          <p:nvPr/>
        </p:nvSpPr>
        <p:spPr>
          <a:xfrm>
            <a:off x="1168400" y="4370586"/>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terapeuta guarda o tablet (A), a criança grita e joga o copo no chão (B), o tablet é devolvido (C).</a:t>
            </a:r>
          </a:p>
        </p:txBody>
      </p:sp>
      <p:sp>
        <p:nvSpPr>
          <p:cNvPr id="11" name="TextBox 10"/>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8484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contexto muda o valor das consequências</a:t>
            </a:r>
          </a:p>
        </p:txBody>
      </p:sp>
      <p:sp>
        <p:nvSpPr>
          <p:cNvPr id="4" name="TextBox 3"/>
          <p:cNvSpPr txBox="1"/>
          <p:nvPr/>
        </p:nvSpPr>
        <p:spPr>
          <a:xfrm>
            <a:off x="11684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Variáveis contextuais</a:t>
            </a:r>
          </a:p>
        </p:txBody>
      </p:sp>
      <p:sp>
        <p:nvSpPr>
          <p:cNvPr id="5" name="TextBox 4"/>
          <p:cNvSpPr txBox="1"/>
          <p:nvPr/>
        </p:nvSpPr>
        <p:spPr>
          <a:xfrm>
            <a:off x="11684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Condições do momento: sono, dor, fome, rotina, ambiente sensorial (sons, luzes, cheiros).</a:t>
            </a:r>
          </a:p>
        </p:txBody>
      </p:sp>
      <p:sp>
        <p:nvSpPr>
          <p:cNvPr id="6" name="TextBox 5"/>
          <p:cNvSpPr txBox="1"/>
          <p:nvPr/>
        </p:nvSpPr>
        <p:spPr>
          <a:xfrm>
            <a:off x="64770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Operação motivadora</a:t>
            </a:r>
          </a:p>
        </p:txBody>
      </p:sp>
      <p:sp>
        <p:nvSpPr>
          <p:cNvPr id="7" name="TextBox 6"/>
          <p:cNvSpPr txBox="1"/>
          <p:nvPr/>
        </p:nvSpPr>
        <p:spPr>
          <a:xfrm>
            <a:off x="64770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Altera por um tempo o valor de uma consequência e a frequência dos comportamentos ligados a ela.</a:t>
            </a:r>
          </a:p>
        </p:txBody>
      </p:sp>
      <p:sp>
        <p:nvSpPr>
          <p:cNvPr id="8" name="TextBox 7"/>
          <p:cNvSpPr txBox="1"/>
          <p:nvPr/>
        </p:nvSpPr>
        <p:spPr>
          <a:xfrm>
            <a:off x="1168400" y="434925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depois de uma noite mal dormida, uma tarefa difícil fica mais aversiva (desagradável, algo que a pessoa tende a evitar), e escapar dela passa a “valer mais”.</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Laraway et al. (2003)</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8824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Reforçamento se define pelo efeito, não pela intenção</a:t>
            </a:r>
          </a:p>
        </p:txBody>
      </p:sp>
      <p:sp>
        <p:nvSpPr>
          <p:cNvPr id="4" name="TextBox 3"/>
          <p:cNvSpPr txBox="1"/>
          <p:nvPr/>
        </p:nvSpPr>
        <p:spPr>
          <a:xfrm>
            <a:off x="1168400" y="2431455"/>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Reforçamento é quando a consequência aumenta a chance de o comportamento voltar a acontecer.</a:t>
            </a:r>
          </a:p>
        </p:txBody>
      </p:sp>
      <p:sp>
        <p:nvSpPr>
          <p:cNvPr id="5" name="TextBox 4"/>
          <p:cNvSpPr txBox="1"/>
          <p:nvPr/>
        </p:nvSpPr>
        <p:spPr>
          <a:xfrm>
            <a:off x="11684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Positivo</a:t>
            </a:r>
          </a:p>
        </p:txBody>
      </p:sp>
      <p:sp>
        <p:nvSpPr>
          <p:cNvPr id="6" name="TextBox 5"/>
          <p:cNvSpPr txBox="1"/>
          <p:nvPr/>
        </p:nvSpPr>
        <p:spPr>
          <a:xfrm>
            <a:off x="11684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acrescentado. Ex.: a criança recebe atenção.</a:t>
            </a:r>
          </a:p>
        </p:txBody>
      </p:sp>
      <p:sp>
        <p:nvSpPr>
          <p:cNvPr id="7" name="TextBox 6"/>
          <p:cNvSpPr txBox="1"/>
          <p:nvPr/>
        </p:nvSpPr>
        <p:spPr>
          <a:xfrm>
            <a:off x="64770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Negativo</a:t>
            </a:r>
          </a:p>
        </p:txBody>
      </p:sp>
      <p:sp>
        <p:nvSpPr>
          <p:cNvPr id="8" name="TextBox 7"/>
          <p:cNvSpPr txBox="1"/>
          <p:nvPr/>
        </p:nvSpPr>
        <p:spPr>
          <a:xfrm>
            <a:off x="64770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retirado ou adiado. Ex.: a tarefa sai.</a:t>
            </a:r>
          </a:p>
        </p:txBody>
      </p:sp>
      <p:sp>
        <p:nvSpPr>
          <p:cNvPr id="9" name="TextBox 8"/>
          <p:cNvSpPr txBox="1"/>
          <p:nvPr/>
        </p:nvSpPr>
        <p:spPr>
          <a:xfrm>
            <a:off x="1168400" y="4785816"/>
            <a:ext cx="10307828" cy="693341"/>
          </a:xfrm>
          <a:prstGeom prst="rect">
            <a:avLst/>
          </a:prstGeom>
          <a:noFill/>
        </p:spPr>
        <p:txBody>
          <a:bodyPr wrap="square" lIns="0" rIns="0" tIns="0" bIns="0" anchor="t">
            <a:noAutofit/>
          </a:bodyPr>
          <a:lstStyle/>
          <a:p>
            <a:pPr algn="l">
              <a:lnSpc>
                <a:spcPct val="107000"/>
              </a:lnSpc>
            </a:pPr>
            <a:r>
              <a:rPr sz="2100" b="1" i="0">
                <a:solidFill>
                  <a:srgbClr val="0F7C86"/>
                </a:solidFill>
                <a:latin typeface="Montserrat"/>
              </a:rPr>
              <a:t>“Negativo” não é punição (consequência que diminui o comportamento).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9152"/>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Quatro hipóteses funcionais frequentes</a:t>
            </a:r>
          </a:p>
        </p:txBody>
      </p:sp>
      <p:sp>
        <p:nvSpPr>
          <p:cNvPr id="4" name="TextBox 3"/>
          <p:cNvSpPr txBox="1"/>
          <p:nvPr/>
        </p:nvSpPr>
        <p:spPr>
          <a:xfrm>
            <a:off x="1168400" y="1961257"/>
            <a:ext cx="10307828" cy="2286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Acesso a atenção (conseguir atenção de alguém)</a:t>
            </a:r>
          </a:p>
          <a:p>
            <a:pPr algn="l" marL="279400" indent="-279400">
              <a:lnSpc>
                <a:spcPct val="123000"/>
              </a:lnSpc>
              <a:buAutoNum type="arabicPeriod" startAt="1"/>
            </a:pPr>
            <a:r>
              <a:rPr sz="2000" b="0" i="0">
                <a:solidFill>
                  <a:srgbClr val="2E3A4A"/>
                </a:solidFill>
                <a:latin typeface="Montserrat"/>
              </a:rPr>
              <a:t>Acesso a itens ou atividades (conseguir um objeto ou atividade)</a:t>
            </a:r>
          </a:p>
          <a:p>
            <a:pPr algn="l" marL="279400" indent="-279400">
              <a:lnSpc>
                <a:spcPct val="123000"/>
              </a:lnSpc>
              <a:buAutoNum type="arabicPeriod" startAt="1"/>
            </a:pPr>
            <a:r>
              <a:rPr sz="2000" b="0" i="0">
                <a:solidFill>
                  <a:srgbClr val="2E3A4A"/>
                </a:solidFill>
                <a:latin typeface="Montserrat"/>
              </a:rPr>
              <a:t>Fuga (sair de algo) ou esquiva (evitar que comece) de demandas (pedidos e tarefas) ou estímulos (sons, luzes, situações)</a:t>
            </a:r>
          </a:p>
          <a:p>
            <a:pPr algn="l" marL="279400" indent="-279400">
              <a:lnSpc>
                <a:spcPct val="123000"/>
              </a:lnSpc>
              <a:buAutoNum type="arabicPeriod" startAt="1"/>
            </a:pPr>
            <a:r>
              <a:rPr sz="2000" b="0" i="0">
                <a:solidFill>
                  <a:srgbClr val="2E3A4A"/>
                </a:solidFill>
                <a:latin typeface="Montserrat"/>
              </a:rPr>
              <a:t>Reforçamento automático: o próprio comportamento produz a consequência</a:t>
            </a:r>
          </a:p>
        </p:txBody>
      </p:sp>
      <p:sp>
        <p:nvSpPr>
          <p:cNvPr id="5" name="TextBox 4"/>
          <p:cNvSpPr txBox="1"/>
          <p:nvPr/>
        </p:nvSpPr>
        <p:spPr>
          <a:xfrm>
            <a:off x="1168400" y="4577457"/>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São hipóteses funcionais (explicações possíveis sobre para que o comportamento serve) a testar, não rótulos. Um comportamento pode ter mais de uma função.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Iwata et al. (1982/1994); Hanley, Iwata &amp; McCord (2003);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6466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Mini-exercício em duplas (5 min)</a:t>
            </a:r>
          </a:p>
        </p:txBody>
      </p:sp>
      <p:sp>
        <p:nvSpPr>
          <p:cNvPr id="4" name="TextBox 3"/>
          <p:cNvSpPr txBox="1"/>
          <p:nvPr/>
        </p:nvSpPr>
        <p:spPr>
          <a:xfrm>
            <a:off x="1168400" y="220057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Nas três situações a seguir, o comportamento é o mesmo: </a:t>
            </a:r>
            <a:r>
              <a:rPr sz="2000" b="1" i="0">
                <a:solidFill>
                  <a:srgbClr val="2E3A4A"/>
                </a:solidFill>
                <a:latin typeface="Montserrat"/>
              </a:rPr>
              <a:t>a criança joga os materiais no chão e chora.</a:t>
            </a:r>
          </a:p>
        </p:txBody>
      </p:sp>
      <p:sp>
        <p:nvSpPr>
          <p:cNvPr id="5" name="TextBox 4"/>
          <p:cNvSpPr txBox="1"/>
          <p:nvPr/>
        </p:nvSpPr>
        <p:spPr>
          <a:xfrm>
            <a:off x="1168400" y="3165773"/>
            <a:ext cx="10307828" cy="1143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O que acontece logo depois?</a:t>
            </a:r>
          </a:p>
          <a:p>
            <a:pPr algn="l" marL="279400" indent="-279400">
              <a:lnSpc>
                <a:spcPct val="123000"/>
              </a:lnSpc>
              <a:buAutoNum type="arabicPeriod" startAt="1"/>
            </a:pPr>
            <a:r>
              <a:rPr sz="2000" b="0" i="0">
                <a:solidFill>
                  <a:srgbClr val="2E3A4A"/>
                </a:solidFill>
                <a:latin typeface="Montserrat"/>
              </a:rPr>
              <a:t>Que hipótese funcional (para que o comportamento serve) isso sugere?</a:t>
            </a:r>
          </a:p>
          <a:p>
            <a:pPr algn="l" marL="279400" indent="-279400">
              <a:lnSpc>
                <a:spcPct val="123000"/>
              </a:lnSpc>
              <a:buAutoNum type="arabicPeriod" startAt="1"/>
            </a:pPr>
            <a:r>
              <a:rPr sz="2000" b="0" i="0">
                <a:solidFill>
                  <a:srgbClr val="2E3A4A"/>
                </a:solidFill>
                <a:latin typeface="Montserrat"/>
              </a:rPr>
              <a:t>O que vocês precisariam observar mais?</a:t>
            </a:r>
          </a:p>
        </p:txBody>
      </p:sp>
      <p:sp>
        <p:nvSpPr>
          <p:cNvPr id="6" name="TextBox 5"/>
          <p:cNvSpPr txBox="1"/>
          <p:nvPr/>
        </p:nvSpPr>
        <p:spPr>
          <a:xfrm>
            <a:off x="1168400" y="4562773"/>
            <a:ext cx="10307828" cy="639961"/>
          </a:xfrm>
          <a:prstGeom prst="rect">
            <a:avLst/>
          </a:prstGeom>
          <a:noFill/>
        </p:spPr>
        <p:txBody>
          <a:bodyPr wrap="square" lIns="0" rIns="0" tIns="0" bIns="0" anchor="t">
            <a:noAutofit/>
          </a:bodyPr>
          <a:lstStyle/>
          <a:p>
            <a:pPr algn="l">
              <a:lnSpc>
                <a:spcPct val="115000"/>
              </a:lnSpc>
            </a:pPr>
            <a:r>
              <a:rPr sz="1800" b="1" i="0">
                <a:solidFill>
                  <a:srgbClr val="0F7C86"/>
                </a:solidFill>
                <a:latin typeface="Montserrat"/>
              </a:rPr>
              <a:t>Desafio:</a:t>
            </a:r>
            <a:r>
              <a:rPr sz="1800" b="0" i="0">
                <a:solidFill>
                  <a:srgbClr val="0F7C86"/>
                </a:solidFill>
                <a:latin typeface="Montserrat"/>
              </a:rPr>
              <a:t> pensem em uma estratégia que ajudaria em uma situação e pioraria outra. Por quê?</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38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situações</a:t>
            </a:r>
          </a:p>
        </p:txBody>
      </p:sp>
      <p:sp>
        <p:nvSpPr>
          <p:cNvPr id="4" name="TextBox 3"/>
          <p:cNvSpPr txBox="1"/>
          <p:nvPr/>
        </p:nvSpPr>
        <p:spPr>
          <a:xfrm>
            <a:off x="1168400" y="2469753"/>
            <a:ext cx="10307828" cy="194310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A terapeuta se levanta para atender a mãe na porta. A criança joga os materiais e chora. A terapeuta volta, senta ao lado e conversa até ela se acalmar.</a:t>
            </a:r>
          </a:p>
          <a:p>
            <a:pPr algn="l" marL="279400" indent="-279400">
              <a:lnSpc>
                <a:spcPct val="123000"/>
              </a:lnSpc>
              <a:buAutoNum type="arabicPeriod" startAt="1"/>
            </a:pPr>
            <a:r>
              <a:rPr sz="1700" b="0" i="0">
                <a:solidFill>
                  <a:srgbClr val="2E3A4A"/>
                </a:solidFill>
                <a:latin typeface="Montserrat"/>
              </a:rPr>
              <a:t>A terapeuta apresenta uma folha de escrita. A criança joga os materiais e chora. A terapeuta guarda a folha: “fazemos depois”.</a:t>
            </a:r>
          </a:p>
          <a:p>
            <a:pPr algn="l" marL="279400" indent="-279400">
              <a:lnSpc>
                <a:spcPct val="123000"/>
              </a:lnSpc>
              <a:buAutoNum type="arabicPeriod" startAt="1"/>
            </a:pPr>
            <a:r>
              <a:rPr sz="1700" b="0" i="0">
                <a:solidFill>
                  <a:srgbClr val="2E3A4A"/>
                </a:solidFill>
                <a:latin typeface="Montserrat"/>
              </a:rPr>
              <a:t>A terapeuta guarda o tablet. A criança joga os materiais e chora. Minutos depois, ela devolve o tablet “só mais um pouquinho”.</a:t>
            </a:r>
          </a:p>
        </p:txBody>
      </p:sp>
      <p:sp>
        <p:nvSpPr>
          <p:cNvPr id="5" name="TextBox 4"/>
          <p:cNvSpPr txBox="1"/>
          <p:nvPr/>
        </p:nvSpPr>
        <p:spPr>
          <a:xfrm>
            <a:off x="1168400" y="466685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77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Mesma topografia (forma), três hipóteses</a:t>
            </a:r>
          </a:p>
        </p:txBody>
      </p:sp>
      <p:graphicFrame>
        <p:nvGraphicFramePr>
          <p:cNvPr id="4" name="Table 3"/>
          <p:cNvGraphicFramePr>
            <a:graphicFrameLocks noGrp="1"/>
          </p:cNvGraphicFramePr>
          <p:nvPr/>
        </p:nvGraphicFramePr>
        <p:xfrm>
          <a:off x="1168400" y="2259012"/>
          <a:ext cx="10007600" cy="2311400"/>
        </p:xfrm>
        <a:graphic>
          <a:graphicData uri="http://schemas.openxmlformats.org/drawingml/2006/table">
            <a:tbl>
              <a:tblPr firstRow="0" bandRow="0">
                <a:tableStyleId>{2D5ABB26-0587-4C30-8999-92F81FD0307C}</a:tableStyleId>
              </a:tblPr>
              <a:tblGrid>
                <a:gridCol w="1601192"/>
                <a:gridCol w="4203105"/>
                <a:gridCol w="4203303"/>
              </a:tblGrid>
              <a:tr h="508000">
                <a:tc>
                  <a:txBody>
                    <a:bodyPr wrap="square"/>
                    <a:lstStyle/>
                    <a:p>
                      <a:pPr>
                        <a:lnSpc>
                          <a:spcPct val="100000"/>
                        </a:lnSpc>
                      </a:pPr>
                      <a:r>
                        <a:rPr sz="1800" b="1" i="0">
                          <a:solidFill>
                            <a:srgbClr val="FFFFFF"/>
                          </a:solidFill>
                          <a:latin typeface="Montserrat"/>
                        </a:rPr>
                        <a:t>Situação</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O que acontece depois</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Hipótese</a:t>
                      </a:r>
                    </a:p>
                  </a:txBody>
                  <a:tcPr marL="114300" marR="114300" marT="68580" marB="68580" anchor="ctr">
                    <a:solidFill>
                      <a:srgbClr val="1B2F4B"/>
                    </a:solidFill>
                  </a:tcPr>
                </a:tc>
              </a:tr>
              <a:tr h="787400">
                <a:tc>
                  <a:txBody>
                    <a:bodyPr wrap="square"/>
                    <a:lstStyle/>
                    <a:p>
                      <a:pPr>
                        <a:lnSpc>
                          <a:spcPct val="100000"/>
                        </a:lnSpc>
                      </a:pPr>
                      <a:r>
                        <a:rPr sz="18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A atenção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atenção</a:t>
                      </a:r>
                      <a:r>
                        <a:rPr sz="1800" b="0" i="0">
                          <a:solidFill>
                            <a:srgbClr val="2E3A4A"/>
                          </a:solidFill>
                          <a:latin typeface="Montserrat"/>
                        </a:rPr>
                        <a:t> (conseguir atenção)</a:t>
                      </a:r>
                    </a:p>
                  </a:txBody>
                  <a:tcPr marL="114300" marR="114300" marT="68580" marB="68580" anchor="ctr">
                    <a:solidFill>
                      <a:srgbClr val="FFFFFF"/>
                    </a:solidFill>
                  </a:tcPr>
                </a:tc>
              </a:tr>
              <a:tr h="508000">
                <a:tc>
                  <a:txBody>
                    <a:bodyPr wrap="square"/>
                    <a:lstStyle/>
                    <a:p>
                      <a:pPr>
                        <a:lnSpc>
                          <a:spcPct val="100000"/>
                        </a:lnSpc>
                      </a:pPr>
                      <a:r>
                        <a:rPr sz="18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800" b="0" i="0">
                          <a:solidFill>
                            <a:srgbClr val="2E3A4A"/>
                          </a:solidFill>
                          <a:latin typeface="Montserrat"/>
                        </a:rPr>
                        <a:t>A tarefa sai</a:t>
                      </a:r>
                    </a:p>
                  </a:txBody>
                  <a:tcPr marL="114300" marR="114300" marT="68580" marB="68580" anchor="ctr">
                    <a:solidFill>
                      <a:srgbClr val="F1F4F6"/>
                    </a:solidFill>
                  </a:tcPr>
                </a:tc>
                <a:tc>
                  <a:txBody>
                    <a:bodyPr wrap="square"/>
                    <a:lstStyle/>
                    <a:p>
                      <a:pPr>
                        <a:lnSpc>
                          <a:spcPct val="100000"/>
                        </a:lnSpc>
                      </a:pPr>
                      <a:r>
                        <a:rPr sz="1800" b="1" i="0">
                          <a:solidFill>
                            <a:srgbClr val="2E3A4A"/>
                          </a:solidFill>
                          <a:latin typeface="Montserrat"/>
                        </a:rPr>
                        <a:t>Fuga da demanda</a:t>
                      </a:r>
                      <a:r>
                        <a:rPr sz="1800" b="0" i="0">
                          <a:solidFill>
                            <a:srgbClr val="2E3A4A"/>
                          </a:solidFill>
                          <a:latin typeface="Montserrat"/>
                        </a:rPr>
                        <a:t> (sair da tarefa)</a:t>
                      </a:r>
                    </a:p>
                  </a:txBody>
                  <a:tcPr marL="114300" marR="114300" marT="68580" marB="68580" anchor="ctr">
                    <a:solidFill>
                      <a:srgbClr val="F1F4F6"/>
                    </a:solidFill>
                  </a:tcPr>
                </a:tc>
              </a:tr>
              <a:tr h="508000">
                <a:tc>
                  <a:txBody>
                    <a:bodyPr wrap="square"/>
                    <a:lstStyle/>
                    <a:p>
                      <a:pPr>
                        <a:lnSpc>
                          <a:spcPct val="100000"/>
                        </a:lnSpc>
                      </a:pPr>
                      <a:r>
                        <a:rPr sz="18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O tablet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item</a:t>
                      </a:r>
                      <a:r>
                        <a:rPr sz="1800" b="0" i="0">
                          <a:solidFill>
                            <a:srgbClr val="2E3A4A"/>
                          </a:solidFill>
                          <a:latin typeface="Montserrat"/>
                        </a:rPr>
                        <a:t> (conseguir o tablet)</a:t>
                      </a:r>
                    </a:p>
                  </a:txBody>
                  <a:tcPr marL="114300" marR="114300" marT="68580" marB="68580" anchor="ctr">
                    <a:solidFill>
                      <a:srgbClr val="FFFFFF"/>
                    </a:solidFill>
                  </a:tcPr>
                </a:tc>
              </a:tr>
            </a:tbl>
          </a:graphicData>
        </a:graphic>
      </p:graphicFrame>
      <p:sp>
        <p:nvSpPr>
          <p:cNvPr id="5" name="TextBox 4"/>
          <p:cNvSpPr txBox="1"/>
          <p:nvPr/>
        </p:nvSpPr>
        <p:spPr>
          <a:xfrm>
            <a:off x="1168400" y="4849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Um episódio não basta: hipóteses se sustentam em </a:t>
            </a:r>
            <a:r>
              <a:rPr sz="1800" b="1" i="0">
                <a:solidFill>
                  <a:srgbClr val="2E3A4A"/>
                </a:solidFill>
                <a:latin typeface="Montserrat"/>
              </a:rPr>
              <a:t>padrões que se repetem</a:t>
            </a:r>
            <a:r>
              <a:rPr sz="1800" b="0" i="0">
                <a:solidFill>
                  <a:srgbClr val="2E3A4A"/>
                </a:solidFill>
                <a:latin typeface="Montserrat"/>
              </a:rPr>
              <a:t>.</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(2012)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59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desafio: a mesma estratégia, efeitos opostos</a:t>
            </a:r>
          </a:p>
        </p:txBody>
      </p:sp>
      <p:graphicFrame>
        <p:nvGraphicFramePr>
          <p:cNvPr id="4" name="Table 3"/>
          <p:cNvGraphicFramePr>
            <a:graphicFrameLocks noGrp="1"/>
          </p:cNvGraphicFramePr>
          <p:nvPr/>
        </p:nvGraphicFramePr>
        <p:xfrm>
          <a:off x="1168400" y="2583755"/>
          <a:ext cx="10007600" cy="2133600"/>
        </p:xfrm>
        <a:graphic>
          <a:graphicData uri="http://schemas.openxmlformats.org/drawingml/2006/table">
            <a:tbl>
              <a:tblPr firstRow="0" bandRow="0">
                <a:tableStyleId>{2D5ABB26-0587-4C30-8999-92F81FD0307C}</a:tableStyleId>
              </a:tblPr>
              <a:tblGrid>
                <a:gridCol w="3002260"/>
                <a:gridCol w="3302496"/>
                <a:gridCol w="3702844"/>
              </a:tblGrid>
              <a:tr h="469900">
                <a:tc>
                  <a:txBody>
                    <a:bodyPr wrap="square"/>
                    <a:lstStyle/>
                    <a:p>
                      <a:pPr>
                        <a:lnSpc>
                          <a:spcPct val="100000"/>
                        </a:lnSpc>
                      </a:pPr>
                      <a:r>
                        <a:rPr sz="1550" b="1" i="0">
                          <a:solidFill>
                            <a:srgbClr val="FFFFFF"/>
                          </a:solidFill>
                          <a:latin typeface="Montserrat"/>
                        </a:rPr>
                        <a:t>Estratégia</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ajudar</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piorar</a:t>
                      </a:r>
                    </a:p>
                  </a:txBody>
                  <a:tcPr marL="114300" marR="114300" marT="68580" marB="68580" anchor="ctr">
                    <a:solidFill>
                      <a:srgbClr val="1B2F4B"/>
                    </a:solidFill>
                  </a:tcPr>
                </a:tc>
              </a:tr>
              <a:tr h="952500">
                <a:tc>
                  <a:txBody>
                    <a:bodyPr wrap="square"/>
                    <a:lstStyle/>
                    <a:p>
                      <a:pPr>
                        <a:lnSpc>
                          <a:spcPct val="100000"/>
                        </a:lnSpc>
                      </a:pPr>
                      <a:r>
                        <a:rPr sz="1550" b="0" i="0">
                          <a:solidFill>
                            <a:srgbClr val="2E3A4A"/>
                          </a:solidFill>
                          <a:latin typeface="Montserrat"/>
                        </a:rPr>
                        <a:t>Dar um tempo fora da atividade, </a:t>
                      </a:r>
                      <a:r>
                        <a:rPr sz="1550" b="1" i="0">
                          <a:solidFill>
                            <a:srgbClr val="2E3A4A"/>
                          </a:solidFill>
                          <a:latin typeface="Montserrat"/>
                        </a:rPr>
                        <a:t>sem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1: o comportamento deixa de produzir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2: a criança escapa da tarefa, que era o que mantinha o comportamento</a:t>
                      </a:r>
                    </a:p>
                  </a:txBody>
                  <a:tcPr marL="114300" marR="114300" marT="68580" marB="68580" anchor="ctr">
                    <a:solidFill>
                      <a:srgbClr val="FFFFFF"/>
                    </a:solidFill>
                  </a:tcPr>
                </a:tc>
              </a:tr>
              <a:tr h="711200">
                <a:tc>
                  <a:txBody>
                    <a:bodyPr wrap="square"/>
                    <a:lstStyle/>
                    <a:p>
                      <a:pPr>
                        <a:lnSpc>
                          <a:spcPct val="100000"/>
                        </a:lnSpc>
                      </a:pPr>
                      <a:r>
                        <a:rPr sz="1550" b="0" i="0">
                          <a:solidFill>
                            <a:srgbClr val="2E3A4A"/>
                          </a:solidFill>
                          <a:latin typeface="Montserrat"/>
                        </a:rPr>
                        <a:t>Devolver o tablet “para acalmar”</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Na hora, o choro para</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Situação 3: o comportamento fica mais forte nas próximas vezes</a:t>
                      </a:r>
                    </a:p>
                  </a:txBody>
                  <a:tcPr marL="114300" marR="114300" marT="68580" marB="68580" anchor="ctr">
                    <a:solidFill>
                      <a:srgbClr val="F1F4F6"/>
                    </a:solidFill>
                  </a:tcPr>
                </a:tc>
              </a:tr>
            </a:tbl>
          </a:graphicData>
        </a:graphic>
      </p:graphicFrame>
      <p:sp>
        <p:nvSpPr>
          <p:cNvPr id="5" name="TextBox 4"/>
          <p:cNvSpPr txBox="1"/>
          <p:nvPr/>
        </p:nvSpPr>
        <p:spPr>
          <a:xfrm>
            <a:off x="1168400" y="4971355"/>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Por isso, avaliar a função vem antes de escolher a estratégia.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31011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Cada resposta do início era uma hipótese funcional (explicação sobre para que o comportamento serve) diferente.</a:t>
            </a:r>
          </a:p>
        </p:txBody>
      </p:sp>
      <p:sp>
        <p:nvSpPr>
          <p:cNvPr id="3" name="TextBox 2"/>
          <p:cNvSpPr txBox="1"/>
          <p:nvPr/>
        </p:nvSpPr>
        <p:spPr>
          <a:xfrm>
            <a:off x="1337965" y="3300710"/>
            <a:ext cx="9801450" cy="700980"/>
          </a:xfrm>
          <a:prstGeom prst="rect">
            <a:avLst/>
          </a:prstGeom>
          <a:noFill/>
        </p:spPr>
        <p:txBody>
          <a:bodyPr wrap="square" lIns="0" rIns="0" tIns="0" bIns="0" anchor="t">
            <a:noAutofit/>
          </a:bodyPr>
          <a:lstStyle/>
          <a:p>
            <a:pPr algn="ctr">
              <a:lnSpc>
                <a:spcPct val="94000"/>
              </a:lnSpc>
            </a:pPr>
            <a:r>
              <a:rPr sz="4800" b="1" i="0">
                <a:solidFill>
                  <a:srgbClr val="FFFFFF"/>
                </a:solidFill>
                <a:latin typeface="Montserrat"/>
              </a:rPr>
              <a:t>Avaliar vem antes de intervir.</a:t>
            </a:r>
          </a:p>
        </p:txBody>
      </p:sp>
      <p:sp>
        <p:nvSpPr>
          <p:cNvPr id="4" name="TextBox 3"/>
          <p:cNvSpPr txBox="1"/>
          <p:nvPr/>
        </p:nvSpPr>
        <p:spPr>
          <a:xfrm>
            <a:off x="4090293" y="4281091"/>
            <a:ext cx="4131654"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Só a avaliação permite escolher entre elas.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67581"/>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(Terapia Cognitivo-Comportamental) se apoiam em dados</a:t>
            </a:r>
          </a:p>
        </p:txBody>
      </p:sp>
      <p:sp>
        <p:nvSpPr>
          <p:cNvPr id="4" name="TextBox 3"/>
          <p:cNvSpPr txBox="1"/>
          <p:nvPr/>
        </p:nvSpPr>
        <p:spPr>
          <a:xfrm>
            <a:off x="1168400" y="226159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Compromissos empíricos (baseados em dados e observação) em comum:</a:t>
            </a:r>
          </a:p>
        </p:txBody>
      </p:sp>
      <p:sp>
        <p:nvSpPr>
          <p:cNvPr id="5" name="TextBox 4"/>
          <p:cNvSpPr txBox="1"/>
          <p:nvPr/>
        </p:nvSpPr>
        <p:spPr>
          <a:xfrm>
            <a:off x="1168400" y="2911773"/>
            <a:ext cx="10307828" cy="2191246"/>
          </a:xfrm>
          <a:prstGeom prst="rect">
            <a:avLst/>
          </a:prstGeom>
          <a:noFill/>
        </p:spPr>
        <p:txBody>
          <a:bodyPr wrap="square" lIns="0" rIns="0" tIns="0" bIns="0" anchor="t">
            <a:noAutofit/>
          </a:bodyPr>
          <a:lstStyle/>
          <a:p>
            <a:pPr algn="l" marL="279400" indent="-279400">
              <a:lnSpc>
                <a:spcPct val="119000"/>
              </a:lnSpc>
              <a:buChar char="•"/>
            </a:pPr>
            <a:r>
              <a:rPr sz="1700" b="0" i="0">
                <a:solidFill>
                  <a:srgbClr val="2E3A4A"/>
                </a:solidFill>
                <a:latin typeface="Montserrat"/>
              </a:rPr>
              <a:t>Avaliação de resultados com dados</a:t>
            </a:r>
          </a:p>
          <a:p>
            <a:pPr algn="l" marL="279400" indent="-279400">
              <a:lnSpc>
                <a:spcPct val="119000"/>
              </a:lnSpc>
              <a:buChar char="•"/>
            </a:pPr>
            <a:r>
              <a:rPr sz="1700" b="0" i="0">
                <a:solidFill>
                  <a:srgbClr val="2E3A4A"/>
                </a:solidFill>
                <a:latin typeface="Montserrat"/>
              </a:rPr>
              <a:t>Alvos definidos de forma operacional (descritos de modo observável e mensurável)</a:t>
            </a:r>
          </a:p>
          <a:p>
            <a:pPr algn="l" marL="279400" indent="-279400">
              <a:lnSpc>
                <a:spcPct val="119000"/>
              </a:lnSpc>
              <a:buChar char="•"/>
            </a:pPr>
            <a:r>
              <a:rPr sz="1700" b="0" i="0">
                <a:solidFill>
                  <a:srgbClr val="2E3A4A"/>
                </a:solidFill>
                <a:latin typeface="Montserrat"/>
              </a:rPr>
              <a:t>Formulação individualizada do caso (explicação do caso feita para aquela pessoa)</a:t>
            </a:r>
          </a:p>
          <a:p>
            <a:pPr algn="l" marL="279400" indent="-279400">
              <a:lnSpc>
                <a:spcPct val="119000"/>
              </a:lnSpc>
              <a:buChar char="•"/>
            </a:pPr>
            <a:r>
              <a:rPr sz="1700" b="0" i="0">
                <a:solidFill>
                  <a:srgbClr val="2E3A4A"/>
                </a:solidFill>
                <a:latin typeface="Montserrat"/>
              </a:rPr>
              <a:t>Procedimentos baseados em princípios de aprendizagem, como reforçamento (consequência que aumenta o comportamento), exposição (contato gradual com o que se teme), modelação (aprender observando um modelo) e treino de habilidades (ensino passo a passo, com prática)</a:t>
            </a:r>
          </a:p>
        </p:txBody>
      </p:sp>
      <p:sp>
        <p:nvSpPr>
          <p:cNvPr id="6" name="TextBox 5"/>
          <p:cNvSpPr txBox="1"/>
          <p:nvPr/>
        </p:nvSpPr>
        <p:spPr>
          <a:xfrm>
            <a:off x="1168400" y="5433219"/>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Aproximação não é equivalência (as abordagens não são iguais).</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357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partem de pressupostos (ideias de base) diferentes</a:t>
            </a:r>
          </a:p>
        </p:txBody>
      </p:sp>
      <p:graphicFrame>
        <p:nvGraphicFramePr>
          <p:cNvPr id="4" name="Table 3"/>
          <p:cNvGraphicFramePr>
            <a:graphicFrameLocks noGrp="1"/>
          </p:cNvGraphicFramePr>
          <p:nvPr/>
        </p:nvGraphicFramePr>
        <p:xfrm>
          <a:off x="1168400" y="2329755"/>
          <a:ext cx="10007600" cy="3302000"/>
        </p:xfrm>
        <a:graphic>
          <a:graphicData uri="http://schemas.openxmlformats.org/drawingml/2006/table">
            <a:tbl>
              <a:tblPr firstRow="0" bandRow="0">
                <a:tableStyleId>{2D5ABB26-0587-4C30-8999-92F81FD0307C}</a:tableStyleId>
              </a:tblPr>
              <a:tblGrid>
                <a:gridCol w="2802037"/>
                <a:gridCol w="3602732"/>
                <a:gridCol w="3602831"/>
              </a:tblGrid>
              <a:tr h="444500">
                <a:tc>
                  <a:txBody>
                    <a:bodyPr wrap="square"/>
                    <a:lstStyle/>
                    <a:p>
                      <a:pPr>
                        <a:lnSpc>
                          <a:spcPct val="100000"/>
                        </a:lnSpc>
                      </a:pP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ABA</a:t>
                      </a: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TCC (modelo de Beck)</a:t>
                      </a:r>
                    </a:p>
                  </a:txBody>
                  <a:tcPr marL="114300" marR="114300" marT="68580" marB="68580" anchor="ctr">
                    <a:solidFill>
                      <a:srgbClr val="1B2F4B"/>
                    </a:solidFill>
                  </a:tcPr>
                </a:tc>
              </a:tr>
              <a:tr h="876300">
                <a:tc>
                  <a:txBody>
                    <a:bodyPr wrap="square"/>
                    <a:lstStyle/>
                    <a:p>
                      <a:pPr>
                        <a:lnSpc>
                          <a:spcPct val="100000"/>
                        </a:lnSpc>
                      </a:pPr>
                      <a:r>
                        <a:rPr sz="1400" b="1" i="0">
                          <a:solidFill>
                            <a:srgbClr val="2E3A4A"/>
                          </a:solidFill>
                          <a:latin typeface="Montserrat"/>
                        </a:rPr>
                        <a:t>Base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Behaviorismo radical (filosofia de Skinner que fundamenta a ABA)</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Modelo cognitivo (pensamentos influenciam emoções e comportamentos)</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Pensamentos e sentimentos</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Comportamentos a explicar (também dependem do ambiente)</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Mediadores (ligam a situação à reação) e alvo central</a:t>
                      </a:r>
                    </a:p>
                  </a:txBody>
                  <a:tcPr marL="114300" marR="114300" marT="68580" marB="68580" anchor="ctr">
                    <a:solidFill>
                      <a:srgbClr val="F1F4F6"/>
                    </a:solidFill>
                  </a:tcPr>
                </a:tc>
              </a:tr>
              <a:tr h="660400">
                <a:tc>
                  <a:txBody>
                    <a:bodyPr wrap="square"/>
                    <a:lstStyle/>
                    <a:p>
                      <a:pPr>
                        <a:lnSpc>
                          <a:spcPct val="100000"/>
                        </a:lnSpc>
                      </a:pPr>
                      <a:r>
                        <a:rPr sz="1400" b="1" i="0">
                          <a:solidFill>
                            <a:srgbClr val="2E3A4A"/>
                          </a:solidFill>
                          <a:latin typeface="Montserrat"/>
                        </a:rPr>
                        <a:t>Análise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Relação comportamento–ambiente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Situação, pensamento, emoção e comportamento</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Formulação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Análise funcional (identificar o que mantém o comportamento)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Conceituação cognitiva (mapa das crenças e pensamentos da pessoa)</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Skinner (1953); Beck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82352"/>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No TEA, cada abordagem tem evidências em áreas diferentes</a:t>
            </a:r>
          </a:p>
        </p:txBody>
      </p:sp>
      <p:sp>
        <p:nvSpPr>
          <p:cNvPr id="4" name="TextBox 3"/>
          <p:cNvSpPr txBox="1"/>
          <p:nvPr/>
        </p:nvSpPr>
        <p:spPr>
          <a:xfrm>
            <a:off x="11684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Práticas de base comportamental</a:t>
            </a:r>
          </a:p>
        </p:txBody>
      </p:sp>
      <p:sp>
        <p:nvSpPr>
          <p:cNvPr id="5" name="TextBox 4"/>
          <p:cNvSpPr txBox="1"/>
          <p:nvPr/>
        </p:nvSpPr>
        <p:spPr>
          <a:xfrm>
            <a:off x="1168400" y="2905224"/>
            <a:ext cx="4839970" cy="2879824"/>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Têm critério de evidência (pesquisas suficientes mostrando eficácia): FCT (Treino de Comunicação Funcional), intervenções antecedentes (mudanças no que vem antes), reforçamento diferencial (reforçar um comportamento e não outro), intervenção naturalística (ensino em situações do dia a dia), entre outras.</a:t>
            </a:r>
          </a:p>
        </p:txBody>
      </p:sp>
      <p:sp>
        <p:nvSpPr>
          <p:cNvPr id="6" name="TextBox 5"/>
          <p:cNvSpPr txBox="1"/>
          <p:nvPr/>
        </p:nvSpPr>
        <p:spPr>
          <a:xfrm>
            <a:off x="64770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 adaptada (ajustada) para autismo</a:t>
            </a:r>
          </a:p>
        </p:txBody>
      </p:sp>
      <p:sp>
        <p:nvSpPr>
          <p:cNvPr id="7" name="TextBox 6"/>
          <p:cNvSpPr txBox="1"/>
          <p:nvPr/>
        </p:nvSpPr>
        <p:spPr>
          <a:xfrm>
            <a:off x="6477000" y="2905224"/>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Tem evidência de ensaio clínico (estudo que compara quem recebeu e quem não recebeu o tratamento) para ansiedade em crianças autistas de 7 a 13 anos.</a:t>
            </a:r>
          </a:p>
        </p:txBody>
      </p:sp>
      <p:sp>
        <p:nvSpPr>
          <p:cNvPr id="8" name="TextBox 7"/>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Hume et al. (2021); Wood et al. (2020)</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195967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adolescente autista, com boa linguagem, evita trabalhos em grupo e diz ter medo de “falar algo errado”.</a:t>
            </a:r>
          </a:p>
        </p:txBody>
      </p:sp>
      <p:sp>
        <p:nvSpPr>
          <p:cNvPr id="3" name="TextBox 2"/>
          <p:cNvSpPr txBox="1"/>
          <p:nvPr/>
        </p:nvSpPr>
        <p:spPr>
          <a:xfrm>
            <a:off x="1270000" y="2950270"/>
            <a:ext cx="9941560" cy="1401961"/>
          </a:xfrm>
          <a:prstGeom prst="rect">
            <a:avLst/>
          </a:prstGeom>
          <a:noFill/>
        </p:spPr>
        <p:txBody>
          <a:bodyPr wrap="square" lIns="0" rIns="0" tIns="0" bIns="0" anchor="t">
            <a:noAutofit/>
          </a:bodyPr>
          <a:lstStyle/>
          <a:p>
            <a:pPr algn="ctr">
              <a:lnSpc>
                <a:spcPct val="94000"/>
              </a:lnSpc>
            </a:pPr>
            <a:r>
              <a:rPr sz="3200" b="1" i="0">
                <a:solidFill>
                  <a:srgbClr val="FFFFFF"/>
                </a:solidFill>
                <a:latin typeface="Montserrat"/>
              </a:rPr>
              <a:t>O que um analista do comportamento perguntaria primeiro? E um terapeuta cognitivo-comportamental?</a:t>
            </a:r>
          </a:p>
        </p:txBody>
      </p:sp>
      <p:sp>
        <p:nvSpPr>
          <p:cNvPr id="4" name="TextBox 3"/>
          <p:cNvSpPr txBox="1"/>
          <p:nvPr/>
        </p:nvSpPr>
        <p:spPr>
          <a:xfrm>
            <a:off x="5336183" y="4631630"/>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36588"/>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cada abordagem perguntaria primeiro</a:t>
            </a:r>
          </a:p>
        </p:txBody>
      </p:sp>
      <p:sp>
        <p:nvSpPr>
          <p:cNvPr id="4" name="TextBox 3"/>
          <p:cNvSpPr txBox="1"/>
          <p:nvPr/>
        </p:nvSpPr>
        <p:spPr>
          <a:xfrm>
            <a:off x="11684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Análise do comportamento</a:t>
            </a:r>
          </a:p>
        </p:txBody>
      </p:sp>
      <p:sp>
        <p:nvSpPr>
          <p:cNvPr id="5" name="TextBox 4"/>
          <p:cNvSpPr txBox="1"/>
          <p:nvPr/>
        </p:nvSpPr>
        <p:spPr>
          <a:xfrm>
            <a:off x="1168400" y="3063280"/>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Em que situações ela evita o grupo? O que acontece logo depois? O que mantém esse comportamento?</a:t>
            </a:r>
          </a:p>
        </p:txBody>
      </p:sp>
      <p:sp>
        <p:nvSpPr>
          <p:cNvPr id="6" name="TextBox 5"/>
          <p:cNvSpPr txBox="1"/>
          <p:nvPr/>
        </p:nvSpPr>
        <p:spPr>
          <a:xfrm>
            <a:off x="64770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a:t>
            </a:r>
          </a:p>
        </p:txBody>
      </p:sp>
      <p:sp>
        <p:nvSpPr>
          <p:cNvPr id="7" name="TextBox 6"/>
          <p:cNvSpPr txBox="1"/>
          <p:nvPr/>
        </p:nvSpPr>
        <p:spPr>
          <a:xfrm>
            <a:off x="6477000" y="3063280"/>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Que pensamentos e crenças (ideias sobre si, os outros e o mundo) ela tem sobre falar em grupo (“vou falar algo errado”)? Como eles influenciam a ansiedade e a esquiva (evitar a situação)?</a:t>
            </a:r>
          </a:p>
        </p:txBody>
      </p:sp>
      <p:sp>
        <p:nvSpPr>
          <p:cNvPr id="8" name="TextBox 7"/>
          <p:cNvSpPr txBox="1"/>
          <p:nvPr/>
        </p:nvSpPr>
        <p:spPr>
          <a:xfrm>
            <a:off x="1168400" y="491718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As duas leituras ajudam a entender o caso, mas não são equivalentes.</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7C86"/>
        </a:solidFill>
        <a:effectLst/>
      </p:bgPr>
    </p:bg>
    <p:spTree>
      <p:nvGrpSpPr>
        <p:cNvPr id="1" name=""/>
        <p:cNvGrpSpPr/>
        <p:nvPr/>
      </p:nvGrpSpPr>
      <p:grpSpPr/>
      <p:sp>
        <p:nvSpPr>
          <p:cNvPr id="2" name="TextBox 1"/>
          <p:cNvSpPr txBox="1"/>
          <p:nvPr/>
        </p:nvSpPr>
        <p:spPr>
          <a:xfrm>
            <a:off x="4899620" y="2327275"/>
            <a:ext cx="2464542"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Voltamos às 10h45.</a:t>
            </a:r>
          </a:p>
        </p:txBody>
      </p:sp>
      <p:sp>
        <p:nvSpPr>
          <p:cNvPr id="3" name="TextBox 2"/>
          <p:cNvSpPr txBox="1"/>
          <p:nvPr/>
        </p:nvSpPr>
        <p:spPr>
          <a:xfrm>
            <a:off x="3974703" y="2962275"/>
            <a:ext cx="436976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Intervalo</a:t>
            </a:r>
          </a:p>
        </p:txBody>
      </p:sp>
      <p:sp>
        <p:nvSpPr>
          <p:cNvPr id="4" name="TextBox 3"/>
          <p:cNvSpPr txBox="1"/>
          <p:nvPr/>
        </p:nvSpPr>
        <p:spPr>
          <a:xfrm>
            <a:off x="4060527" y="4264025"/>
            <a:ext cx="4193074" cy="266700"/>
          </a:xfrm>
          <a:prstGeom prst="rect">
            <a:avLst/>
          </a:prstGeom>
          <a:noFill/>
        </p:spPr>
        <p:txBody>
          <a:bodyPr wrap="square" lIns="0" rIns="0" tIns="0" bIns="0" anchor="t">
            <a:noAutofit/>
          </a:bodyPr>
          <a:lstStyle/>
          <a:p>
            <a:pPr algn="ctr">
              <a:lnSpc>
                <a:spcPct val="115000"/>
              </a:lnSpc>
            </a:pPr>
            <a:r>
              <a:rPr sz="1500" b="0" i="1">
                <a:solidFill>
                  <a:srgbClr val="E6F4F5"/>
                </a:solidFill>
                <a:latin typeface="Montserrat"/>
              </a:rPr>
              <a:t>Ao voltar, formem grupos de 4 a 6 pessoas.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9129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formas de avaliar a função, com limites diferentes</a:t>
            </a:r>
          </a:p>
        </p:txBody>
      </p:sp>
      <p:graphicFrame>
        <p:nvGraphicFramePr>
          <p:cNvPr id="4" name="Table 3"/>
          <p:cNvGraphicFramePr>
            <a:graphicFrameLocks noGrp="1"/>
          </p:cNvGraphicFramePr>
          <p:nvPr/>
        </p:nvGraphicFramePr>
        <p:xfrm>
          <a:off x="1168400" y="2285305"/>
          <a:ext cx="10007600" cy="3390900"/>
        </p:xfrm>
        <a:graphic>
          <a:graphicData uri="http://schemas.openxmlformats.org/drawingml/2006/table">
            <a:tbl>
              <a:tblPr firstRow="0" bandRow="0">
                <a:tableStyleId>{2D5ABB26-0587-4C30-8999-92F81FD0307C}</a:tableStyleId>
              </a:tblPr>
              <a:tblGrid>
                <a:gridCol w="2401788"/>
                <a:gridCol w="3402509"/>
                <a:gridCol w="4203303"/>
              </a:tblGrid>
              <a:tr h="476250">
                <a:tc>
                  <a:txBody>
                    <a:bodyPr wrap="square"/>
                    <a:lstStyle/>
                    <a:p>
                      <a:pPr>
                        <a:lnSpc>
                          <a:spcPct val="100000"/>
                        </a:lnSpc>
                      </a:pPr>
                      <a:r>
                        <a:rPr sz="1600" b="1" i="0">
                          <a:solidFill>
                            <a:srgbClr val="FFFFFF"/>
                          </a:solidFill>
                          <a:latin typeface="Montserrat"/>
                        </a:rPr>
                        <a:t>Avaliação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Como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Limite</a:t>
                      </a:r>
                    </a:p>
                  </a:txBody>
                  <a:tcPr marL="114300" marR="114300" marT="68580" marB="68580" anchor="ctr">
                    <a:solidFill>
                      <a:srgbClr val="1B2F4B"/>
                    </a:solidFill>
                  </a:tcPr>
                </a:tc>
              </a:tr>
              <a:tr h="723900">
                <a:tc>
                  <a:txBody>
                    <a:bodyPr wrap="square"/>
                    <a:lstStyle/>
                    <a:p>
                      <a:pPr>
                        <a:lnSpc>
                          <a:spcPct val="100000"/>
                        </a:lnSpc>
                      </a:pPr>
                      <a:r>
                        <a:rPr sz="1600" b="1" i="0">
                          <a:solidFill>
                            <a:srgbClr val="2E3A4A"/>
                          </a:solidFill>
                          <a:latin typeface="Montserrat"/>
                        </a:rPr>
                        <a:t>Indireta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Entrevistas, escalas (perguntar a quem convive)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Depende do relato de outras pessoas</a:t>
                      </a:r>
                    </a:p>
                  </a:txBody>
                  <a:tcPr marL="114300" marR="114300" marT="68580" marB="68580" anchor="ctr">
                    <a:solidFill>
                      <a:srgbClr val="FFFFFF"/>
                    </a:solidFill>
                  </a:tcPr>
                </a:tc>
              </a:tr>
              <a:tr h="971550">
                <a:tc>
                  <a:txBody>
                    <a:bodyPr wrap="square"/>
                    <a:lstStyle/>
                    <a:p>
                      <a:pPr>
                        <a:lnSpc>
                          <a:spcPct val="100000"/>
                        </a:lnSpc>
                      </a:pPr>
                      <a:r>
                        <a:rPr sz="1600" b="1" i="0">
                          <a:solidFill>
                            <a:srgbClr val="2E3A4A"/>
                          </a:solidFill>
                          <a:latin typeface="Montserrat"/>
                        </a:rPr>
                        <a:t>Descritiva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Observação direta A–B–C (antes, comportamento, depois)</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Mostra o que acontece junto, não prova a causa</a:t>
                      </a:r>
                    </a:p>
                  </a:txBody>
                  <a:tcPr marL="114300" marR="114300" marT="68580" marB="68580" anchor="ctr">
                    <a:solidFill>
                      <a:srgbClr val="F1F4F6"/>
                    </a:solidFill>
                  </a:tcPr>
                </a:tc>
              </a:tr>
              <a:tr h="1219200">
                <a:tc>
                  <a:txBody>
                    <a:bodyPr wrap="square"/>
                    <a:lstStyle/>
                    <a:p>
                      <a:pPr>
                        <a:lnSpc>
                          <a:spcPct val="100000"/>
                        </a:lnSpc>
                      </a:pPr>
                      <a:r>
                        <a:rPr sz="1600" b="1" i="0">
                          <a:solidFill>
                            <a:srgbClr val="2E3A4A"/>
                          </a:solidFill>
                          <a:latin typeface="Montserrat"/>
                        </a:rPr>
                        <a:t>Análise funcional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Teste sistemático de condições (situações planejadas para ver o que mantém o comportamento)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Exige profissional qualificado, supervisão e segurança</a:t>
                      </a:r>
                    </a:p>
                  </a:txBody>
                  <a:tcPr marL="114300" marR="114300" marT="68580" marB="68580" anchor="ctr">
                    <a:solidFill>
                      <a:srgbClr val="FFFFFF"/>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Iwata &amp; McCord (2003); Hanley (2012);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01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Prevenir é mudar o contexto, não só reagir</a:t>
            </a:r>
          </a:p>
        </p:txBody>
      </p:sp>
      <p:sp>
        <p:nvSpPr>
          <p:cNvPr id="4" name="TextBox 3"/>
          <p:cNvSpPr txBox="1"/>
          <p:nvPr/>
        </p:nvSpPr>
        <p:spPr>
          <a:xfrm>
            <a:off x="1168400" y="207605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Estratégias antecedentes (mudanças no que vem antes do comportamento), escolhidas a partir da hipótese:</a:t>
            </a:r>
          </a:p>
        </p:txBody>
      </p:sp>
      <p:sp>
        <p:nvSpPr>
          <p:cNvPr id="5" name="TextBox 4"/>
          <p:cNvSpPr txBox="1"/>
          <p:nvPr/>
        </p:nvSpPr>
        <p:spPr>
          <a:xfrm>
            <a:off x="1168400" y="3041253"/>
            <a:ext cx="10307828" cy="2286000"/>
          </a:xfrm>
          <a:prstGeom prst="rect">
            <a:avLst/>
          </a:prstGeom>
          <a:noFill/>
        </p:spPr>
        <p:txBody>
          <a:bodyPr wrap="square" lIns="0" rIns="0" tIns="0" bIns="0" anchor="t">
            <a:noAutofit/>
          </a:bodyPr>
          <a:lstStyle/>
          <a:p>
            <a:pPr algn="l" marL="279400" indent="-279400">
              <a:lnSpc>
                <a:spcPct val="123000"/>
              </a:lnSpc>
              <a:buChar char="•"/>
            </a:pPr>
            <a:r>
              <a:rPr sz="2000" b="1" i="0">
                <a:solidFill>
                  <a:srgbClr val="2E3A4A"/>
                </a:solidFill>
                <a:latin typeface="Montserrat"/>
              </a:rPr>
              <a:t>Previsibilidade:</a:t>
            </a:r>
            <a:r>
              <a:rPr sz="2000" b="0" i="0">
                <a:solidFill>
                  <a:srgbClr val="2E3A4A"/>
                </a:solidFill>
                <a:latin typeface="Montserrat"/>
              </a:rPr>
              <a:t> aviso de transição (avisar antes de trocar de atividade), apoio visual (imagens, rotina desenhada)</a:t>
            </a:r>
          </a:p>
          <a:p>
            <a:pPr algn="l" marL="279400" indent="-279400">
              <a:lnSpc>
                <a:spcPct val="123000"/>
              </a:lnSpc>
              <a:buChar char="•"/>
            </a:pPr>
            <a:r>
              <a:rPr sz="2000" b="1" i="0">
                <a:solidFill>
                  <a:srgbClr val="2E3A4A"/>
                </a:solidFill>
                <a:latin typeface="Montserrat"/>
              </a:rPr>
              <a:t>Ajuste da demanda:</a:t>
            </a:r>
            <a:r>
              <a:rPr sz="2000" b="0" i="0">
                <a:solidFill>
                  <a:srgbClr val="2E3A4A"/>
                </a:solidFill>
                <a:latin typeface="Montserrat"/>
              </a:rPr>
              <a:t> tarefa com duração, dificuldade e tema ajustados</a:t>
            </a:r>
          </a:p>
          <a:p>
            <a:pPr algn="l" marL="279400" indent="-279400">
              <a:lnSpc>
                <a:spcPct val="123000"/>
              </a:lnSpc>
              <a:buChar char="•"/>
            </a:pPr>
            <a:r>
              <a:rPr sz="2000" b="1" i="0">
                <a:solidFill>
                  <a:srgbClr val="2E3A4A"/>
                </a:solidFill>
                <a:latin typeface="Montserrat"/>
              </a:rPr>
              <a:t>Escolhas</a:t>
            </a:r>
            <a:r>
              <a:rPr sz="2000" b="0" i="0">
                <a:solidFill>
                  <a:srgbClr val="2E3A4A"/>
                </a:solidFill>
                <a:latin typeface="Montserrat"/>
              </a:rPr>
              <a:t> reais (a pessoa decide entre opções)</a:t>
            </a:r>
          </a:p>
          <a:p>
            <a:pPr algn="l" marL="279400" indent="-279400">
              <a:lnSpc>
                <a:spcPct val="123000"/>
              </a:lnSpc>
              <a:buChar char="•"/>
            </a:pPr>
            <a:r>
              <a:rPr sz="2000" b="1" i="0">
                <a:solidFill>
                  <a:srgbClr val="2E3A4A"/>
                </a:solidFill>
                <a:latin typeface="Montserrat"/>
              </a:rPr>
              <a:t>Acesso planejado</a:t>
            </a:r>
            <a:r>
              <a:rPr sz="2000" b="0" i="0">
                <a:solidFill>
                  <a:srgbClr val="2E3A4A"/>
                </a:solidFill>
                <a:latin typeface="Montserrat"/>
              </a:rPr>
              <a:t> a pausas e itens preferidos (objetos e atividades de que a pessoa gosta)</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Laraway et al. (2003); Hume et al. (2021)</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752"/>
            <a:ext cx="10307828" cy="1445716"/>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FCT (Treino de Comunicação Funcional): ensinar a pedir o que o comportamento conseguia</a:t>
            </a:r>
          </a:p>
        </p:txBody>
      </p:sp>
      <p:sp>
        <p:nvSpPr>
          <p:cNvPr id="4" name="TextBox 3"/>
          <p:cNvSpPr txBox="1"/>
          <p:nvPr/>
        </p:nvSpPr>
        <p:spPr>
          <a:xfrm>
            <a:off x="1168400" y="2950468"/>
            <a:ext cx="10307828" cy="17145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Identificar a função</a:t>
            </a:r>
          </a:p>
          <a:p>
            <a:pPr algn="l" marL="279400" indent="-279400">
              <a:lnSpc>
                <a:spcPct val="123000"/>
              </a:lnSpc>
              <a:buAutoNum type="arabicPeriod" startAt="1"/>
            </a:pPr>
            <a:r>
              <a:rPr sz="1800" b="0" i="0">
                <a:solidFill>
                  <a:srgbClr val="2E3A4A"/>
                </a:solidFill>
                <a:latin typeface="Montserrat"/>
              </a:rPr>
              <a:t>Ensinar uma forma de comunicação que produza a mesma consequência (“pausa”, “ajuda”, “mais”)</a:t>
            </a:r>
          </a:p>
          <a:p>
            <a:pPr algn="l" marL="279400" indent="-279400">
              <a:lnSpc>
                <a:spcPct val="123000"/>
              </a:lnSpc>
              <a:buAutoNum type="arabicPeriod" startAt="1"/>
            </a:pPr>
            <a:r>
              <a:rPr sz="1800" b="0" i="0">
                <a:solidFill>
                  <a:srgbClr val="2E3A4A"/>
                </a:solidFill>
                <a:latin typeface="Montserrat"/>
              </a:rPr>
              <a:t>Responder a essa comunicação de forma consistente</a:t>
            </a:r>
          </a:p>
          <a:p>
            <a:pPr algn="l" marL="279400" indent="-279400">
              <a:lnSpc>
                <a:spcPct val="123000"/>
              </a:lnSpc>
              <a:buAutoNum type="arabicPeriod" startAt="1"/>
            </a:pPr>
            <a:r>
              <a:rPr sz="1800" b="0" i="0">
                <a:solidFill>
                  <a:srgbClr val="2E3A4A"/>
                </a:solidFill>
                <a:latin typeface="Montserrat"/>
              </a:rPr>
              <a:t>Ensinar, aos poucos, a esperar e a tolerar um “agora não”</a:t>
            </a:r>
          </a:p>
        </p:txBody>
      </p:sp>
      <p:sp>
        <p:nvSpPr>
          <p:cNvPr id="5" name="TextBox 4"/>
          <p:cNvSpPr txBox="1"/>
          <p:nvPr/>
        </p:nvSpPr>
        <p:spPr>
          <a:xfrm>
            <a:off x="1168400" y="4918968"/>
            <a:ext cx="10307828" cy="49768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Exemplo fictício: se a hipótese é fuga da tarefa, ensinar a pedir “pausa”, por palavra, gesto, figura ou outro sistema de comunicação.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Carr &amp; Durand (1985); Tiger, Hanley &amp; Bruzek (2008);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206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Ensinar no contexto natural, a partir do interesse da criança</a:t>
            </a:r>
          </a:p>
        </p:txBody>
      </p:sp>
      <p:sp>
        <p:nvSpPr>
          <p:cNvPr id="4" name="TextBox 3"/>
          <p:cNvSpPr txBox="1"/>
          <p:nvPr/>
        </p:nvSpPr>
        <p:spPr>
          <a:xfrm>
            <a:off x="1168400" y="263842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Intervenções Naturalísticas Desenvolvimentais Comportamentais (NDBI, sigla em inglês):</a:t>
            </a:r>
          </a:p>
        </p:txBody>
      </p:sp>
      <p:sp>
        <p:nvSpPr>
          <p:cNvPr id="5" name="TextBox 4"/>
          <p:cNvSpPr txBox="1"/>
          <p:nvPr/>
        </p:nvSpPr>
        <p:spPr>
          <a:xfrm>
            <a:off x="1168400" y="3532386"/>
            <a:ext cx="10307828" cy="17145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Contextos naturais, como o brincar e as rotinas</a:t>
            </a:r>
          </a:p>
          <a:p>
            <a:pPr algn="l" marL="279400" indent="-279400">
              <a:lnSpc>
                <a:spcPct val="123000"/>
              </a:lnSpc>
              <a:buChar char="•"/>
            </a:pPr>
            <a:r>
              <a:rPr sz="1800" b="0" i="0">
                <a:solidFill>
                  <a:srgbClr val="2E3A4A"/>
                </a:solidFill>
                <a:latin typeface="Montserrat"/>
              </a:rPr>
              <a:t>Controle compartilhado entre criança e adulto (os dois escolhem e conduzem)</a:t>
            </a:r>
          </a:p>
          <a:p>
            <a:pPr algn="l" marL="279400" indent="-279400">
              <a:lnSpc>
                <a:spcPct val="123000"/>
              </a:lnSpc>
              <a:buChar char="•"/>
            </a:pPr>
            <a:r>
              <a:rPr sz="1800" b="0" i="0">
                <a:solidFill>
                  <a:srgbClr val="2E3A4A"/>
                </a:solidFill>
                <a:latin typeface="Montserrat"/>
              </a:rPr>
              <a:t>Consequências naturais (a recompensa vem da própria atividade)</a:t>
            </a:r>
          </a:p>
          <a:p>
            <a:pPr algn="l" marL="279400" indent="-279400">
              <a:lnSpc>
                <a:spcPct val="123000"/>
              </a:lnSpc>
              <a:buChar char="•"/>
            </a:pPr>
            <a:r>
              <a:rPr sz="1800" b="0" i="0">
                <a:solidFill>
                  <a:srgbClr val="2E3A4A"/>
                </a:solidFill>
                <a:latin typeface="Montserrat"/>
              </a:rPr>
              <a:t>Integração entre ciência comportamental e ciência do desenvolvimento (estudo de como a criança se desenvolve)</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Schreibman et al. (2015); Sandbank et al. (2020)</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433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Generalização precisa ser planejada</a:t>
            </a:r>
          </a:p>
        </p:txBody>
      </p:sp>
      <p:sp>
        <p:nvSpPr>
          <p:cNvPr id="4" name="TextBox 3"/>
          <p:cNvSpPr txBox="1"/>
          <p:nvPr/>
        </p:nvSpPr>
        <p:spPr>
          <a:xfrm>
            <a:off x="1168400" y="2304653"/>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Generalização é usar o que aprendeu em outros lugares, com outras pessoas e materiais. Aprender na clínica não garante usar em casa, na escola ou com outras pessoas.</a:t>
            </a:r>
          </a:p>
        </p:txBody>
      </p:sp>
      <p:sp>
        <p:nvSpPr>
          <p:cNvPr id="5" name="TextBox 4"/>
          <p:cNvSpPr txBox="1"/>
          <p:nvPr/>
        </p:nvSpPr>
        <p:spPr>
          <a:xfrm>
            <a:off x="1168400" y="365085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Planejar desde o início: várias pessoas, lugares e materiais, com a família envolvida.</a:t>
            </a:r>
          </a:p>
        </p:txBody>
      </p:sp>
      <p:sp>
        <p:nvSpPr>
          <p:cNvPr id="6" name="TextBox 5"/>
          <p:cNvSpPr txBox="1"/>
          <p:nvPr/>
        </p:nvSpPr>
        <p:spPr>
          <a:xfrm>
            <a:off x="1168400" y="4590653"/>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criança aprende a pedir “pausa” com a terapeuta, e o plano inclui ensinar a família a responder ao mesmo pedido em casa.</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Stokes &amp; Baer (1977)</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989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Decidir bem é decidir com ética</a:t>
            </a:r>
          </a:p>
        </p:txBody>
      </p:sp>
      <p:sp>
        <p:nvSpPr>
          <p:cNvPr id="4" name="TextBox 3"/>
          <p:cNvSpPr txBox="1"/>
          <p:nvPr/>
        </p:nvSpPr>
        <p:spPr>
          <a:xfrm>
            <a:off x="1168400" y="2711053"/>
            <a:ext cx="10307828" cy="20574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Objetivos com sentido para a vida da pessoa, definidos com a família e com a pessoa</a:t>
            </a:r>
          </a:p>
          <a:p>
            <a:pPr algn="l" marL="279400" indent="-279400">
              <a:lnSpc>
                <a:spcPct val="123000"/>
              </a:lnSpc>
              <a:buChar char="•"/>
            </a:pPr>
            <a:r>
              <a:rPr sz="1800" b="1" i="0">
                <a:solidFill>
                  <a:srgbClr val="2E3A4A"/>
                </a:solidFill>
                <a:latin typeface="Montserrat"/>
              </a:rPr>
              <a:t>Assentimento</a:t>
            </a:r>
            <a:r>
              <a:rPr sz="1800" b="0" i="0">
                <a:solidFill>
                  <a:srgbClr val="2E3A4A"/>
                </a:solidFill>
                <a:latin typeface="Montserrat"/>
              </a:rPr>
              <a:t> (concordância da pessoa em participar): observar sinais de concordância e de recusa</a:t>
            </a:r>
          </a:p>
          <a:p>
            <a:pPr algn="l" marL="279400" indent="-279400">
              <a:lnSpc>
                <a:spcPct val="123000"/>
              </a:lnSpc>
              <a:buChar char="•"/>
            </a:pPr>
            <a:r>
              <a:rPr sz="1800" b="0" i="0">
                <a:solidFill>
                  <a:srgbClr val="2E3A4A"/>
                </a:solidFill>
                <a:latin typeface="Montserrat"/>
              </a:rPr>
              <a:t>Não ter como alvo características autistas que não causam prejuízo</a:t>
            </a:r>
          </a:p>
          <a:p>
            <a:pPr algn="l" marL="279400" indent="-279400">
              <a:lnSpc>
                <a:spcPct val="123000"/>
              </a:lnSpc>
              <a:buChar char="•"/>
            </a:pPr>
            <a:r>
              <a:rPr sz="1800" b="0" i="0">
                <a:solidFill>
                  <a:srgbClr val="2E3A4A"/>
                </a:solidFill>
                <a:latin typeface="Montserrat"/>
              </a:rPr>
              <a:t>Revisar por dados, incluindo possíveis efeitos adversos (efeitos indesejados)</a:t>
            </a:r>
          </a:p>
          <a:p>
            <a:pPr algn="l" marL="279400" indent="-279400">
              <a:lnSpc>
                <a:spcPct val="123000"/>
              </a:lnSpc>
              <a:buChar char="•"/>
            </a:pPr>
            <a:r>
              <a:rPr sz="1800" b="0" i="0">
                <a:solidFill>
                  <a:srgbClr val="2E3A4A"/>
                </a:solidFill>
                <a:latin typeface="Montserrat"/>
              </a:rPr>
              <a:t>Supervisão e limites de atuação (o que cada profissional pode fazer)</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Breaux &amp; Smith (2023); Sandbank et al. (2023); CFP (2005);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739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Atividade em grupos (10 min)</a:t>
            </a:r>
          </a:p>
        </p:txBody>
      </p:sp>
      <p:sp>
        <p:nvSpPr>
          <p:cNvPr id="4" name="TextBox 3"/>
          <p:cNvSpPr txBox="1"/>
          <p:nvPr/>
        </p:nvSpPr>
        <p:spPr>
          <a:xfrm>
            <a:off x="1168400" y="2335212"/>
            <a:ext cx="10307828" cy="1219200"/>
          </a:xfrm>
          <a:prstGeom prst="rect">
            <a:avLst/>
          </a:prstGeom>
          <a:noFill/>
        </p:spPr>
        <p:txBody>
          <a:bodyPr wrap="square" lIns="0" rIns="0" tIns="0" bIns="0" anchor="t">
            <a:noAutofit/>
          </a:bodyPr>
          <a:lstStyle/>
          <a:p>
            <a:pPr algn="l" marL="279400" indent="-279400">
              <a:lnSpc>
                <a:spcPct val="131000"/>
              </a:lnSpc>
              <a:buAutoNum type="arabicPeriod" startAt="1"/>
            </a:pPr>
            <a:r>
              <a:rPr sz="2000" b="0" i="0">
                <a:solidFill>
                  <a:srgbClr val="2E3A4A"/>
                </a:solidFill>
                <a:latin typeface="Montserrat"/>
              </a:rPr>
              <a:t>Assistam ao vídeo: </a:t>
            </a:r>
            <a:r>
              <a:rPr sz="2000" b="1" i="0">
                <a:solidFill>
                  <a:srgbClr val="2E3A4A"/>
                </a:solidFill>
                <a:latin typeface="Montserrat"/>
              </a:rPr>
              <a:t>um episódio</a:t>
            </a:r>
            <a:r>
              <a:rPr sz="2000" b="0" i="0">
                <a:solidFill>
                  <a:srgbClr val="2E3A4A"/>
                </a:solidFill>
                <a:latin typeface="Montserrat"/>
              </a:rPr>
              <a:t> com o Theo</a:t>
            </a:r>
          </a:p>
          <a:p>
            <a:pPr algn="l" marL="279400" indent="-279400">
              <a:lnSpc>
                <a:spcPct val="131000"/>
              </a:lnSpc>
              <a:buAutoNum type="arabicPeriod" startAt="1"/>
            </a:pPr>
            <a:r>
              <a:rPr sz="2000" b="0" i="0">
                <a:solidFill>
                  <a:srgbClr val="2E3A4A"/>
                </a:solidFill>
                <a:latin typeface="Montserrat"/>
              </a:rPr>
              <a:t>Leiam a história: </a:t>
            </a:r>
            <a:r>
              <a:rPr sz="2000" b="1" i="0">
                <a:solidFill>
                  <a:srgbClr val="2E3A4A"/>
                </a:solidFill>
                <a:latin typeface="Montserrat"/>
              </a:rPr>
              <a:t>quatro semanas</a:t>
            </a:r>
            <a:r>
              <a:rPr sz="2000" b="0" i="0">
                <a:solidFill>
                  <a:srgbClr val="2E3A4A"/>
                </a:solidFill>
                <a:latin typeface="Montserrat"/>
              </a:rPr>
              <a:t> de registros</a:t>
            </a:r>
          </a:p>
          <a:p>
            <a:pPr algn="l" marL="279400" indent="-279400">
              <a:lnSpc>
                <a:spcPct val="131000"/>
              </a:lnSpc>
              <a:buAutoNum type="arabicPeriod" startAt="1"/>
            </a:pPr>
            <a:r>
              <a:rPr sz="2000" b="0" i="0">
                <a:solidFill>
                  <a:srgbClr val="2E3A4A"/>
                </a:solidFill>
                <a:latin typeface="Montserrat"/>
              </a:rPr>
              <a:t>Em grupo, respondam às perguntas</a:t>
            </a:r>
          </a:p>
        </p:txBody>
      </p:sp>
      <p:sp>
        <p:nvSpPr>
          <p:cNvPr id="5" name="TextBox 4"/>
          <p:cNvSpPr txBox="1"/>
          <p:nvPr/>
        </p:nvSpPr>
        <p:spPr>
          <a:xfrm>
            <a:off x="1168400" y="3833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Escolham quem anota e quem apresenta.</a:t>
            </a:r>
          </a:p>
        </p:txBody>
      </p:sp>
      <p:sp>
        <p:nvSpPr>
          <p:cNvPr id="6" name="TextBox 5"/>
          <p:cNvSpPr txBox="1"/>
          <p:nvPr/>
        </p:nvSpPr>
        <p:spPr>
          <a:xfrm>
            <a:off x="1168400" y="443319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A história permite levantar hipóteses, não concluir a função (para que o comportamento serve).</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7760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Theo, uma sessão</a:t>
            </a:r>
          </a:p>
        </p:txBody>
      </p:sp>
      <p:sp>
        <p:nvSpPr>
          <p:cNvPr id="4" name="TextBox 3"/>
          <p:cNvSpPr txBox="1"/>
          <p:nvPr/>
        </p:nvSpPr>
        <p:spPr>
          <a:xfrm>
            <a:off x="1168400" y="229205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2746673"/>
            <a:ext cx="4133596" cy="16192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imediatamente antes?</a:t>
            </a:r>
          </a:p>
          <a:p>
            <a:pPr algn="l" marL="279400" indent="-279400">
              <a:lnSpc>
                <a:spcPct val="123000"/>
              </a:lnSpc>
              <a:buAutoNum type="arabicPeriod" startAt="1"/>
            </a:pPr>
            <a:r>
              <a:rPr sz="1700" b="0" i="0">
                <a:solidFill>
                  <a:srgbClr val="2E3A4A"/>
                </a:solidFill>
                <a:latin typeface="Montserrat"/>
              </a:rPr>
              <a:t>O que exatamente ele faz?</a:t>
            </a:r>
          </a:p>
          <a:p>
            <a:pPr algn="l" marL="279400" indent="-279400">
              <a:lnSpc>
                <a:spcPct val="123000"/>
              </a:lnSpc>
              <a:buAutoNum type="arabicPeriod" startAt="1"/>
            </a:pPr>
            <a:r>
              <a:rPr sz="1700" b="0" i="0">
                <a:solidFill>
                  <a:srgbClr val="2E3A4A"/>
                </a:solidFill>
                <a:latin typeface="Montserrat"/>
              </a:rPr>
              <a:t>O que acontece imediatamente depois?</a:t>
            </a:r>
          </a:p>
        </p:txBody>
      </p:sp>
      <p:pic>
        <p:nvPicPr>
          <p:cNvPr id="6" name="Animação: Theo brinca com trilhos de trem; a terapeuta guarda os trilhos; ele grita e se joga no chão; ela devolve os trilho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658938"/>
            <a:ext cx="5892800" cy="3314700"/>
          </a:xfrm>
          <a:prstGeom prst="rect">
            <a:avLst/>
          </a:prstGeom>
        </p:spPr>
      </p:pic>
      <p:sp>
        <p:nvSpPr>
          <p:cNvPr id="7" name="TextBox 6"/>
          <p:cNvSpPr txBox="1"/>
          <p:nvPr/>
        </p:nvSpPr>
        <p:spPr>
          <a:xfrm>
            <a:off x="1168400" y="5227638"/>
            <a:ext cx="10569448" cy="462161"/>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criança real. O vídeo mostra um episódio; a história a seguir traz o registro de quatro semanas. As respostas vêm depois, em grupo.</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38</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3203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(caso fictício): Theo</a:t>
            </a:r>
          </a:p>
        </p:txBody>
      </p:sp>
      <p:sp>
        <p:nvSpPr>
          <p:cNvPr id="4" name="TextBox 3"/>
          <p:cNvSpPr txBox="1"/>
          <p:nvPr/>
        </p:nvSpPr>
        <p:spPr>
          <a:xfrm>
            <a:off x="1168400" y="2146002"/>
            <a:ext cx="10307828" cy="853380"/>
          </a:xfrm>
          <a:prstGeom prst="rect">
            <a:avLst/>
          </a:prstGeom>
          <a:noFill/>
        </p:spPr>
        <p:txBody>
          <a:bodyPr wrap="square" lIns="0" rIns="0" tIns="0" bIns="0" anchor="t">
            <a:noAutofit/>
          </a:bodyPr>
          <a:lstStyle/>
          <a:p>
            <a:pPr algn="l">
              <a:lnSpc>
                <a:spcPct val="115000"/>
              </a:lnSpc>
            </a:pPr>
            <a:r>
              <a:rPr sz="1600" b="0" i="0">
                <a:solidFill>
                  <a:srgbClr val="2E3A4A"/>
                </a:solidFill>
                <a:latin typeface="Montserrat"/>
              </a:rPr>
              <a:t>Theo tem 6 anos e é autista. Comunica-se principalmente por palavras isoladas e por gestos (puxa o adulto pela mão, aponta). Gosta muito de montar trilhos de trem. Frequenta atendimento clínico três vezes por semana. Nas últimas quatro semanas, a equipe registrou:</a:t>
            </a:r>
          </a:p>
        </p:txBody>
      </p:sp>
      <p:sp>
        <p:nvSpPr>
          <p:cNvPr id="5" name="TextBox 4"/>
          <p:cNvSpPr txBox="1"/>
          <p:nvPr/>
        </p:nvSpPr>
        <p:spPr>
          <a:xfrm>
            <a:off x="1168400" y="3189883"/>
            <a:ext cx="10307828" cy="15240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Quando a terapeuta diz “agora acabou, vamos para a mesa”, Theo </a:t>
            </a:r>
            <a:r>
              <a:rPr sz="1600" b="1" i="0">
                <a:solidFill>
                  <a:srgbClr val="2E3A4A"/>
                </a:solidFill>
                <a:latin typeface="Montserrat"/>
              </a:rPr>
              <a:t>grita, se joga no chão e chuta o ar</a:t>
            </a:r>
            <a:r>
              <a:rPr sz="1600" b="0" i="0">
                <a:solidFill>
                  <a:srgbClr val="2E3A4A"/>
                </a:solidFill>
                <a:latin typeface="Montserrat"/>
              </a:rPr>
              <a:t>, por cerca de 3 a 8 minutos. Isso aconteceu em </a:t>
            </a:r>
            <a:r>
              <a:rPr sz="1600" b="1" i="0">
                <a:solidFill>
                  <a:srgbClr val="2E3A4A"/>
                </a:solidFill>
                <a:latin typeface="Montserrat"/>
              </a:rPr>
              <a:t>11 de 12 sessões</a:t>
            </a:r>
            <a:r>
              <a:rPr sz="1600" b="0" i="0">
                <a:solidFill>
                  <a:srgbClr val="2E3A4A"/>
                </a:solidFill>
                <a:latin typeface="Montserrat"/>
              </a:rPr>
              <a:t>, quase sempre na passagem dos trilhos para a atividade de mesa (traçar letras e encaixes).</a:t>
            </a:r>
          </a:p>
          <a:p>
            <a:pPr algn="l" marL="279400" indent="-279400">
              <a:lnSpc>
                <a:spcPct val="123000"/>
              </a:lnSpc>
              <a:buChar char="•"/>
            </a:pPr>
            <a:r>
              <a:rPr sz="1600" b="0" i="0">
                <a:solidFill>
                  <a:srgbClr val="2E3A4A"/>
                </a:solidFill>
                <a:latin typeface="Montserrat"/>
              </a:rPr>
              <a:t>Em </a:t>
            </a:r>
            <a:r>
              <a:rPr sz="1600" b="1" i="0">
                <a:solidFill>
                  <a:srgbClr val="2E3A4A"/>
                </a:solidFill>
                <a:latin typeface="Montserrat"/>
              </a:rPr>
              <a:t>duas sessões</a:t>
            </a:r>
            <a:r>
              <a:rPr sz="1600" b="0" i="0">
                <a:solidFill>
                  <a:srgbClr val="2E3A4A"/>
                </a:solidFill>
                <a:latin typeface="Montserrat"/>
              </a:rPr>
              <a:t> em que a terapeuta também guardou os trilhos, mas a atividade seguinte foi o </a:t>
            </a:r>
            <a:r>
              <a:rPr sz="1600" b="1" i="0">
                <a:solidFill>
                  <a:srgbClr val="2E3A4A"/>
                </a:solidFill>
                <a:latin typeface="Montserrat"/>
              </a:rPr>
              <a:t>lanche</a:t>
            </a:r>
            <a:r>
              <a:rPr sz="1600" b="0" i="0">
                <a:solidFill>
                  <a:srgbClr val="2E3A4A"/>
                </a:solidFill>
                <a:latin typeface="Montserrat"/>
              </a:rPr>
              <a:t>, Theo </a:t>
            </a:r>
            <a:r>
              <a:rPr sz="1600" b="1" i="0">
                <a:solidFill>
                  <a:srgbClr val="2E3A4A"/>
                </a:solidFill>
                <a:latin typeface="Montserrat"/>
              </a:rPr>
              <a:t>não</a:t>
            </a:r>
            <a:r>
              <a:rPr sz="1600" b="0" i="0">
                <a:solidFill>
                  <a:srgbClr val="2E3A4A"/>
                </a:solidFill>
                <a:latin typeface="Montserrat"/>
              </a:rPr>
              <a:t> apresentou o comportamento.</a:t>
            </a:r>
          </a:p>
        </p:txBody>
      </p:sp>
      <p:sp>
        <p:nvSpPr>
          <p:cNvPr id="6" name="TextBox 5"/>
          <p:cNvSpPr txBox="1"/>
          <p:nvPr/>
        </p:nvSpPr>
        <p:spPr>
          <a:xfrm>
            <a:off x="1168400" y="490438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1 de 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43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 (continuação)</a:t>
            </a:r>
          </a:p>
        </p:txBody>
      </p:sp>
      <p:sp>
        <p:nvSpPr>
          <p:cNvPr id="4" name="TextBox 3"/>
          <p:cNvSpPr txBox="1"/>
          <p:nvPr/>
        </p:nvSpPr>
        <p:spPr>
          <a:xfrm>
            <a:off x="1168400" y="2058293"/>
            <a:ext cx="10307828" cy="27432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As reações dos adultos variaram: em algumas sessões, a terapeuta esperou e depois </a:t>
            </a:r>
            <a:r>
              <a:rPr sz="1600" b="1" i="0">
                <a:solidFill>
                  <a:srgbClr val="2E3A4A"/>
                </a:solidFill>
                <a:latin typeface="Montserrat"/>
              </a:rPr>
              <a:t>devolveu os trilhos “por mais cinco minutos”</a:t>
            </a:r>
            <a:r>
              <a:rPr sz="1600" b="0" i="0">
                <a:solidFill>
                  <a:srgbClr val="2E3A4A"/>
                </a:solidFill>
                <a:latin typeface="Montserrat"/>
              </a:rPr>
              <a:t>; em outras, </a:t>
            </a:r>
            <a:r>
              <a:rPr sz="1600" b="1" i="0">
                <a:solidFill>
                  <a:srgbClr val="2E3A4A"/>
                </a:solidFill>
                <a:latin typeface="Montserrat"/>
              </a:rPr>
              <a:t>adiou a atividade de mesa</a:t>
            </a:r>
            <a:r>
              <a:rPr sz="1600" b="0" i="0">
                <a:solidFill>
                  <a:srgbClr val="2E3A4A"/>
                </a:solidFill>
                <a:latin typeface="Montserrat"/>
              </a:rPr>
              <a:t> para o fim da sessão; em outras, </a:t>
            </a:r>
            <a:r>
              <a:rPr sz="1600" b="1" i="0">
                <a:solidFill>
                  <a:srgbClr val="2E3A4A"/>
                </a:solidFill>
                <a:latin typeface="Montserrat"/>
              </a:rPr>
              <a:t>manteve a atividade</a:t>
            </a:r>
            <a:r>
              <a:rPr sz="1600" b="0" i="0">
                <a:solidFill>
                  <a:srgbClr val="2E3A4A"/>
                </a:solidFill>
                <a:latin typeface="Montserrat"/>
              </a:rPr>
              <a:t> e conduziu Theo até a mesa.</a:t>
            </a:r>
          </a:p>
          <a:p>
            <a:pPr algn="l" marL="279400" indent="-279400">
              <a:lnSpc>
                <a:spcPct val="123000"/>
              </a:lnSpc>
              <a:buChar char="•"/>
            </a:pPr>
            <a:r>
              <a:rPr sz="1600" b="0" i="0">
                <a:solidFill>
                  <a:srgbClr val="2E3A4A"/>
                </a:solidFill>
                <a:latin typeface="Montserrat"/>
              </a:rPr>
              <a:t>A mãe relata que, em casa, Theo reage de forma parecida quando precisa </a:t>
            </a:r>
            <a:r>
              <a:rPr sz="1600" b="1" i="0">
                <a:solidFill>
                  <a:srgbClr val="2E3A4A"/>
                </a:solidFill>
                <a:latin typeface="Montserrat"/>
              </a:rPr>
              <a:t>desligar a televisão para tomar banho</a:t>
            </a:r>
            <a:r>
              <a:rPr sz="1600" b="0" i="0">
                <a:solidFill>
                  <a:srgbClr val="2E3A4A"/>
                </a:solidFill>
                <a:latin typeface="Montserrat"/>
              </a:rPr>
              <a:t>.</a:t>
            </a:r>
          </a:p>
          <a:p>
            <a:pPr algn="l" marL="279400" indent="-279400">
              <a:lnSpc>
                <a:spcPct val="123000"/>
              </a:lnSpc>
              <a:buChar char="•"/>
            </a:pPr>
            <a:r>
              <a:rPr sz="1600" b="0" i="0">
                <a:solidFill>
                  <a:srgbClr val="2E3A4A"/>
                </a:solidFill>
                <a:latin typeface="Montserrat"/>
              </a:rPr>
              <a:t>A mãe também conta que, nas semanas em que os episódios foram </a:t>
            </a:r>
            <a:r>
              <a:rPr sz="1600" b="1" i="0">
                <a:solidFill>
                  <a:srgbClr val="2E3A4A"/>
                </a:solidFill>
                <a:latin typeface="Montserrat"/>
              </a:rPr>
              <a:t>mais longos</a:t>
            </a:r>
            <a:r>
              <a:rPr sz="1600" b="0" i="0">
                <a:solidFill>
                  <a:srgbClr val="2E3A4A"/>
                </a:solidFill>
                <a:latin typeface="Montserrat"/>
              </a:rPr>
              <a:t>, Theo </a:t>
            </a:r>
            <a:r>
              <a:rPr sz="1600" b="1" i="0">
                <a:solidFill>
                  <a:srgbClr val="2E3A4A"/>
                </a:solidFill>
                <a:latin typeface="Montserrat"/>
              </a:rPr>
              <a:t>dormiu mal</a:t>
            </a:r>
            <a:r>
              <a:rPr sz="1600" b="0" i="0">
                <a:solidFill>
                  <a:srgbClr val="2E3A4A"/>
                </a:solidFill>
                <a:latin typeface="Montserrat"/>
              </a:rPr>
              <a:t> e houve </a:t>
            </a:r>
            <a:r>
              <a:rPr sz="1600" b="1" i="0">
                <a:solidFill>
                  <a:srgbClr val="2E3A4A"/>
                </a:solidFill>
                <a:latin typeface="Montserrat"/>
              </a:rPr>
              <a:t>troca da terapeuta</a:t>
            </a:r>
            <a:r>
              <a:rPr sz="1600" b="0" i="0">
                <a:solidFill>
                  <a:srgbClr val="2E3A4A"/>
                </a:solidFill>
                <a:latin typeface="Montserrat"/>
              </a:rPr>
              <a:t> que o atendia.</a:t>
            </a:r>
          </a:p>
          <a:p>
            <a:pPr algn="l" marL="279400" indent="-279400">
              <a:lnSpc>
                <a:spcPct val="123000"/>
              </a:lnSpc>
              <a:buChar char="•"/>
            </a:pPr>
            <a:r>
              <a:rPr sz="1600" b="0" i="0">
                <a:solidFill>
                  <a:srgbClr val="2E3A4A"/>
                </a:solidFill>
                <a:latin typeface="Montserrat"/>
              </a:rPr>
              <a:t>Nas sessões em que a terapeuta </a:t>
            </a:r>
            <a:r>
              <a:rPr sz="1600" b="1" i="0">
                <a:solidFill>
                  <a:srgbClr val="2E3A4A"/>
                </a:solidFill>
                <a:latin typeface="Montserrat"/>
              </a:rPr>
              <a:t>mostrou um cartão “primeiro trilhos, depois mesa” e avisou dois minutos antes</a:t>
            </a:r>
            <a:r>
              <a:rPr sz="1600" b="0" i="0">
                <a:solidFill>
                  <a:srgbClr val="2E3A4A"/>
                </a:solidFill>
                <a:latin typeface="Montserrat"/>
              </a:rPr>
              <a:t>, os episódios foram </a:t>
            </a:r>
            <a:r>
              <a:rPr sz="1600" b="1" i="0">
                <a:solidFill>
                  <a:srgbClr val="2E3A4A"/>
                </a:solidFill>
                <a:latin typeface="Montserrat"/>
              </a:rPr>
              <a:t>mais curtos</a:t>
            </a:r>
            <a:r>
              <a:rPr sz="1600" b="0" i="0">
                <a:solidFill>
                  <a:srgbClr val="2E3A4A"/>
                </a:solidFill>
                <a:latin typeface="Montserrat"/>
              </a:rPr>
              <a:t> (registro em 3 sessões).</a:t>
            </a:r>
          </a:p>
        </p:txBody>
      </p:sp>
      <p:sp>
        <p:nvSpPr>
          <p:cNvPr id="5" name="TextBox 4"/>
          <p:cNvSpPr txBox="1"/>
          <p:nvPr/>
        </p:nvSpPr>
        <p:spPr>
          <a:xfrm>
            <a:off x="1168400" y="499199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2 de 2</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06302"/>
            <a:ext cx="10307828" cy="408880"/>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Perguntas para o grupo</a:t>
            </a:r>
          </a:p>
        </p:txBody>
      </p:sp>
      <p:sp>
        <p:nvSpPr>
          <p:cNvPr id="4" name="TextBox 3"/>
          <p:cNvSpPr txBox="1"/>
          <p:nvPr/>
        </p:nvSpPr>
        <p:spPr>
          <a:xfrm>
            <a:off x="1168400" y="1754882"/>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Todos os grupos (cerca de 6 min)</a:t>
            </a:r>
          </a:p>
        </p:txBody>
      </p:sp>
      <p:sp>
        <p:nvSpPr>
          <p:cNvPr id="5" name="TextBox 4"/>
          <p:cNvSpPr txBox="1"/>
          <p:nvPr/>
        </p:nvSpPr>
        <p:spPr>
          <a:xfrm>
            <a:off x="1168400" y="2179042"/>
            <a:ext cx="10307828" cy="1476375"/>
          </a:xfrm>
          <a:prstGeom prst="rect">
            <a:avLst/>
          </a:prstGeom>
          <a:noFill/>
        </p:spPr>
        <p:txBody>
          <a:bodyPr wrap="square" lIns="0" rIns="0" tIns="0" bIns="0" anchor="t">
            <a:noAutofit/>
          </a:bodyPr>
          <a:lstStyle/>
          <a:p>
            <a:pPr algn="l" marL="279400" indent="-279400">
              <a:lnSpc>
                <a:spcPct val="123000"/>
              </a:lnSpc>
              <a:buAutoNum type="arabicPeriod" startAt="1"/>
            </a:pPr>
            <a:r>
              <a:rPr sz="1550" b="0" i="0">
                <a:solidFill>
                  <a:srgbClr val="2E3A4A"/>
                </a:solidFill>
                <a:latin typeface="Montserrat"/>
              </a:rPr>
              <a:t>O que o Theo faz? Descrevam só o que dá para ver e ouvir, sem palavras como “birra” ou “crise”.</a:t>
            </a:r>
          </a:p>
          <a:p>
            <a:pPr algn="l" marL="279400" indent="-279400">
              <a:lnSpc>
                <a:spcPct val="123000"/>
              </a:lnSpc>
              <a:buAutoNum type="arabicPeriod" startAt="1"/>
            </a:pPr>
            <a:r>
              <a:rPr sz="1550" b="0" i="0">
                <a:solidFill>
                  <a:srgbClr val="2E3A4A"/>
                </a:solidFill>
                <a:latin typeface="Montserrat"/>
              </a:rPr>
              <a:t>O que acontece logo antes?</a:t>
            </a:r>
          </a:p>
          <a:p>
            <a:pPr algn="l" marL="279400" indent="-279400">
              <a:lnSpc>
                <a:spcPct val="123000"/>
              </a:lnSpc>
              <a:buAutoNum type="arabicPeriod" startAt="1"/>
            </a:pPr>
            <a:r>
              <a:rPr sz="1550" b="0" i="0">
                <a:solidFill>
                  <a:srgbClr val="2E3A4A"/>
                </a:solidFill>
                <a:latin typeface="Montserrat"/>
              </a:rPr>
              <a:t>O que acontece logo depois?</a:t>
            </a:r>
          </a:p>
          <a:p>
            <a:pPr algn="l" marL="279400" indent="-279400">
              <a:lnSpc>
                <a:spcPct val="123000"/>
              </a:lnSpc>
              <a:buAutoNum type="arabicPeriod" startAt="1"/>
            </a:pPr>
            <a:r>
              <a:rPr sz="1550" b="0" i="0">
                <a:solidFill>
                  <a:srgbClr val="2E3A4A"/>
                </a:solidFill>
                <a:latin typeface="Montserrat"/>
              </a:rPr>
              <a:t>Por que isso pode estar acontecendo? Deem duas explicações possíveis e, para cada uma, um dado da história que ajuda e um que atrapalha.</a:t>
            </a:r>
          </a:p>
        </p:txBody>
      </p:sp>
      <p:sp>
        <p:nvSpPr>
          <p:cNvPr id="6" name="TextBox 5"/>
          <p:cNvSpPr txBox="1"/>
          <p:nvPr/>
        </p:nvSpPr>
        <p:spPr>
          <a:xfrm>
            <a:off x="1168400" y="3795117"/>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Cada grupo, mais uma (cerca de 4 min)</a:t>
            </a:r>
          </a:p>
        </p:txBody>
      </p:sp>
      <p:sp>
        <p:nvSpPr>
          <p:cNvPr id="7" name="TextBox 6"/>
          <p:cNvSpPr txBox="1"/>
          <p:nvPr/>
        </p:nvSpPr>
        <p:spPr>
          <a:xfrm>
            <a:off x="1168400" y="4219277"/>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5. (grupos 1, 3, 5…)</a:t>
            </a:r>
            <a:r>
              <a:rPr sz="1550" b="0" i="0">
                <a:solidFill>
                  <a:srgbClr val="2E3A4A"/>
                </a:solidFill>
                <a:latin typeface="Montserrat"/>
              </a:rPr>
              <a:t> Escolham uma das explicações. O que vocês fariam para ajudar o Theo? E se essa explicação estiver errada, o que pode dar errado?</a:t>
            </a:r>
          </a:p>
        </p:txBody>
      </p:sp>
      <p:sp>
        <p:nvSpPr>
          <p:cNvPr id="8" name="TextBox 7"/>
          <p:cNvSpPr txBox="1"/>
          <p:nvPr/>
        </p:nvSpPr>
        <p:spPr>
          <a:xfrm>
            <a:off x="1168400" y="4910038"/>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6. (grupos 2, 4, 6…)</a:t>
            </a:r>
            <a:r>
              <a:rPr sz="1550" b="0" i="0">
                <a:solidFill>
                  <a:srgbClr val="2E3A4A"/>
                </a:solidFill>
                <a:latin typeface="Montserrat"/>
              </a:rPr>
              <a:t> A mãe pergunta: “Não é melhor tirar os trilhos de vez?”. O que vocês responderiam?</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5370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Plenária (discussão com toda a turma): do comportamento à decisão</a:t>
            </a:r>
          </a:p>
        </p:txBody>
      </p:sp>
      <p:sp>
        <p:nvSpPr>
          <p:cNvPr id="4" name="TextBox 3"/>
          <p:cNvSpPr txBox="1"/>
          <p:nvPr/>
        </p:nvSpPr>
        <p:spPr>
          <a:xfrm>
            <a:off x="1168400" y="3147715"/>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Comportamento → Antes e depois → Explicações possíveis → O que fazer → Cuidados éticos</a:t>
            </a:r>
          </a:p>
        </p:txBody>
      </p:sp>
      <p:sp>
        <p:nvSpPr>
          <p:cNvPr id="5" name="TextBox 4"/>
          <p:cNvSpPr txBox="1"/>
          <p:nvPr/>
        </p:nvSpPr>
        <p:spPr>
          <a:xfrm>
            <a:off x="1168400" y="4138315"/>
            <a:ext cx="10307828"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Uma história </a:t>
            </a:r>
            <a:r>
              <a:rPr sz="1900" b="1" i="0">
                <a:solidFill>
                  <a:srgbClr val="2E3A4A"/>
                </a:solidFill>
                <a:latin typeface="Montserrat"/>
              </a:rPr>
              <a:t>não permite concluir a função (para que o comportamento serve)</a:t>
            </a:r>
            <a:r>
              <a:rPr sz="1900" b="0" i="0">
                <a:solidFill>
                  <a:srgbClr val="2E3A4A"/>
                </a:solidFill>
                <a:latin typeface="Montserrat"/>
              </a:rPr>
              <a:t>. Ela permite levantar hipóteses que precisam de avaliação.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559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1 a 3: o que aconteceu</a:t>
            </a:r>
          </a:p>
        </p:txBody>
      </p:sp>
      <p:sp>
        <p:nvSpPr>
          <p:cNvPr id="4" name="TextBox 3"/>
          <p:cNvSpPr txBox="1"/>
          <p:nvPr/>
        </p:nvSpPr>
        <p:spPr>
          <a:xfrm>
            <a:off x="11684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1. O que ele faz</a:t>
            </a:r>
          </a:p>
        </p:txBody>
      </p:sp>
      <p:sp>
        <p:nvSpPr>
          <p:cNvPr id="5" name="TextBox 4"/>
          <p:cNvSpPr txBox="1"/>
          <p:nvPr/>
        </p:nvSpPr>
        <p:spPr>
          <a:xfrm>
            <a:off x="11684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Grita, se joga no chão e chuta o ar, por 3 a 8 minutos, em 11 de 12 sessões. Sem “birra” ou “crise”: são interpretações.</a:t>
            </a:r>
          </a:p>
        </p:txBody>
      </p:sp>
      <p:sp>
        <p:nvSpPr>
          <p:cNvPr id="6" name="TextBox 5"/>
          <p:cNvSpPr txBox="1"/>
          <p:nvPr/>
        </p:nvSpPr>
        <p:spPr>
          <a:xfrm>
            <a:off x="46228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2. Antes</a:t>
            </a:r>
          </a:p>
        </p:txBody>
      </p:sp>
      <p:sp>
        <p:nvSpPr>
          <p:cNvPr id="7" name="TextBox 6"/>
          <p:cNvSpPr txBox="1"/>
          <p:nvPr/>
        </p:nvSpPr>
        <p:spPr>
          <a:xfrm>
            <a:off x="46228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“Agora acabou, vamos para a mesa”; trilhos guardados; atividade de mesa. Contexto: sono ruim, troca de terapeuta.</a:t>
            </a:r>
          </a:p>
        </p:txBody>
      </p:sp>
      <p:sp>
        <p:nvSpPr>
          <p:cNvPr id="8" name="TextBox 7"/>
          <p:cNvSpPr txBox="1"/>
          <p:nvPr/>
        </p:nvSpPr>
        <p:spPr>
          <a:xfrm>
            <a:off x="80772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3. Depois</a:t>
            </a:r>
          </a:p>
        </p:txBody>
      </p:sp>
      <p:sp>
        <p:nvSpPr>
          <p:cNvPr id="9" name="TextBox 8"/>
          <p:cNvSpPr txBox="1"/>
          <p:nvPr/>
        </p:nvSpPr>
        <p:spPr>
          <a:xfrm>
            <a:off x="8077200" y="2516882"/>
            <a:ext cx="3191764" cy="826591"/>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Às vezes os trilhos voltam, às vezes a mesa é adiada, às vezes a mesa é mantida.</a:t>
            </a:r>
          </a:p>
        </p:txBody>
      </p:sp>
      <p:sp>
        <p:nvSpPr>
          <p:cNvPr id="10" name="TextBox 9"/>
          <p:cNvSpPr txBox="1"/>
          <p:nvPr/>
        </p:nvSpPr>
        <p:spPr>
          <a:xfrm>
            <a:off x="1168400" y="3834904"/>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Sono e troca de terapeuta são contexto, não função (o que mantém o comportamento).</a:t>
            </a:r>
          </a:p>
        </p:txBody>
      </p:sp>
      <p:sp>
        <p:nvSpPr>
          <p:cNvPr id="11" name="TextBox 10"/>
          <p:cNvSpPr txBox="1"/>
          <p:nvPr/>
        </p:nvSpPr>
        <p:spPr>
          <a:xfrm>
            <a:off x="1168400" y="4678065"/>
            <a:ext cx="10307828" cy="533400"/>
          </a:xfrm>
          <a:prstGeom prst="rect">
            <a:avLst/>
          </a:prstGeom>
          <a:noFill/>
        </p:spPr>
        <p:txBody>
          <a:bodyPr wrap="square" lIns="0" rIns="0" tIns="0" bIns="0" anchor="t">
            <a:noAutofit/>
          </a:bodyPr>
          <a:lstStyle/>
          <a:p>
            <a:pPr algn="l">
              <a:lnSpc>
                <a:spcPct val="115000"/>
              </a:lnSpc>
            </a:pPr>
            <a:r>
              <a:rPr sz="1500" b="1" i="0">
                <a:solidFill>
                  <a:srgbClr val="2E3A4A"/>
                </a:solidFill>
                <a:latin typeface="Montserrat"/>
              </a:rPr>
              <a:t>E a terapeuta do vídeo?</a:t>
            </a:r>
            <a:r>
              <a:rPr sz="1500" b="0" i="0">
                <a:solidFill>
                  <a:srgbClr val="2E3A4A"/>
                </a:solidFill>
                <a:latin typeface="Montserrat"/>
              </a:rPr>
              <a:t> Devolver os trilhos faz o grito parar e alivia quem está com ele. Esse alívio pode reforçar (tornar mais provável) o comportamento do adulto, e o ciclo continua.</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412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Respostas 4: explicações possíveis</a:t>
            </a:r>
          </a:p>
        </p:txBody>
      </p:sp>
      <p:graphicFrame>
        <p:nvGraphicFramePr>
          <p:cNvPr id="4" name="Table 3"/>
          <p:cNvGraphicFramePr>
            <a:graphicFrameLocks noGrp="1"/>
          </p:cNvGraphicFramePr>
          <p:nvPr/>
        </p:nvGraphicFramePr>
        <p:xfrm>
          <a:off x="1168400" y="1855192"/>
          <a:ext cx="10007600" cy="2819400"/>
        </p:xfrm>
        <a:graphic>
          <a:graphicData uri="http://schemas.openxmlformats.org/drawingml/2006/table">
            <a:tbl>
              <a:tblPr firstRow="0" bandRow="0">
                <a:tableStyleId>{2D5ABB26-0587-4C30-8999-92F81FD0307C}</a:tableStyleId>
              </a:tblPr>
              <a:tblGrid>
                <a:gridCol w="2201664"/>
                <a:gridCol w="4203105"/>
                <a:gridCol w="3602831"/>
              </a:tblGrid>
              <a:tr h="438150">
                <a:tc>
                  <a:txBody>
                    <a:bodyPr wrap="square"/>
                    <a:lstStyle/>
                    <a:p>
                      <a:pPr>
                        <a:lnSpc>
                          <a:spcPct val="100000"/>
                        </a:lnSpc>
                      </a:pPr>
                      <a:r>
                        <a:rPr sz="1350" b="1" i="0">
                          <a:solidFill>
                            <a:srgbClr val="FFFFFF"/>
                          </a:solidFill>
                          <a:latin typeface="Montserrat"/>
                        </a:rPr>
                        <a:t>Explicação</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ajuda</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atrapalha</a:t>
                      </a:r>
                    </a:p>
                  </a:txBody>
                  <a:tcPr marL="114300" marR="114300" marT="68580" marB="68580" anchor="ctr">
                    <a:solidFill>
                      <a:srgbClr val="1B2F4B"/>
                    </a:solidFill>
                  </a:tcPr>
                </a:tc>
              </a:tr>
              <a:tr h="647700">
                <a:tc>
                  <a:txBody>
                    <a:bodyPr wrap="square"/>
                    <a:lstStyle/>
                    <a:p>
                      <a:pPr>
                        <a:lnSpc>
                          <a:spcPct val="100000"/>
                        </a:lnSpc>
                      </a:pPr>
                      <a:r>
                        <a:rPr sz="1350" b="1" i="0">
                          <a:solidFill>
                            <a:srgbClr val="2E3A4A"/>
                          </a:solidFill>
                          <a:latin typeface="Montserrat"/>
                        </a:rPr>
                        <a:t>Quer os trilhos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Acontece quando os trilhos são guardados; às vezes eles voltam; em casa, ao desligar a TV</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No lanche os trilhos também foram guardados, e não houve episódio</a:t>
                      </a:r>
                    </a:p>
                  </a:txBody>
                  <a:tcPr marL="114300" marR="114300" marT="68580" marB="68580" anchor="ctr">
                    <a:solidFill>
                      <a:srgbClr val="FFFFFF"/>
                    </a:solidFill>
                  </a:tcPr>
                </a:tc>
              </a:tr>
              <a:tr h="647700">
                <a:tc>
                  <a:txBody>
                    <a:bodyPr wrap="square"/>
                    <a:lstStyle/>
                    <a:p>
                      <a:pPr>
                        <a:lnSpc>
                          <a:spcPct val="100000"/>
                        </a:lnSpc>
                      </a:pPr>
                      <a:r>
                        <a:rPr sz="1350" b="1" i="0">
                          <a:solidFill>
                            <a:srgbClr val="2E3A4A"/>
                          </a:solidFill>
                          <a:latin typeface="Montserrat"/>
                        </a:rPr>
                        <a:t>Foge da mesa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Não acontece quando o próximo é o lanche; às vezes a mesa é adiada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Em casa, o antecedente (o que vem antes) é o banho</a:t>
                      </a:r>
                    </a:p>
                  </a:txBody>
                  <a:tcPr marL="114300" marR="114300" marT="68580" marB="68580" anchor="ctr">
                    <a:solidFill>
                      <a:srgbClr val="F1F4F6"/>
                    </a:solidFill>
                  </a:tcPr>
                </a:tc>
              </a:tr>
              <a:tr h="647700">
                <a:tc>
                  <a:txBody>
                    <a:bodyPr wrap="square"/>
                    <a:lstStyle/>
                    <a:p>
                      <a:pPr>
                        <a:lnSpc>
                          <a:spcPct val="100000"/>
                        </a:lnSpc>
                      </a:pPr>
                      <a:r>
                        <a:rPr sz="1350" b="1" i="0">
                          <a:solidFill>
                            <a:srgbClr val="2E3A4A"/>
                          </a:solidFill>
                          <a:latin typeface="Montserrat"/>
                        </a:rPr>
                        <a:t>As duas juntas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Os dois antecedentes acontecem ao mesmo tempo</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Precisa de avaliação</a:t>
                      </a:r>
                    </a:p>
                  </a:txBody>
                  <a:tcPr marL="114300" marR="114300" marT="68580" marB="68580" anchor="ctr">
                    <a:solidFill>
                      <a:srgbClr val="FFFFFF"/>
                    </a:solidFill>
                  </a:tcPr>
                </a:tc>
              </a:tr>
              <a:tr h="438150">
                <a:tc>
                  <a:txBody>
                    <a:bodyPr wrap="square"/>
                    <a:lstStyle/>
                    <a:p>
                      <a:pPr>
                        <a:lnSpc>
                          <a:spcPct val="100000"/>
                        </a:lnSpc>
                      </a:pPr>
                      <a:r>
                        <a:rPr sz="1350" b="1" i="0">
                          <a:solidFill>
                            <a:srgbClr val="2E3A4A"/>
                          </a:solidFill>
                          <a:latin typeface="Montserrat"/>
                        </a:rPr>
                        <a:t>Quer atenção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Possível atenção durante o episódio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Nenhum dado mostra isso</a:t>
                      </a:r>
                    </a:p>
                  </a:txBody>
                  <a:tcPr marL="114300" marR="114300" marT="68580" marB="68580" anchor="ctr">
                    <a:solidFill>
                      <a:srgbClr val="F1F4F6"/>
                    </a:solidFill>
                  </a:tcPr>
                </a:tc>
              </a:tr>
            </a:tbl>
          </a:graphicData>
        </a:graphic>
      </p:graphicFrame>
      <p:sp>
        <p:nvSpPr>
          <p:cNvPr id="5" name="TextBox 4"/>
          <p:cNvSpPr txBox="1"/>
          <p:nvPr/>
        </p:nvSpPr>
        <p:spPr>
          <a:xfrm>
            <a:off x="1168400" y="4865092"/>
            <a:ext cx="10307828" cy="561181"/>
          </a:xfrm>
          <a:prstGeom prst="rect">
            <a:avLst/>
          </a:prstGeom>
          <a:noFill/>
        </p:spPr>
        <p:txBody>
          <a:bodyPr wrap="square" lIns="0" rIns="0" tIns="0" bIns="0" anchor="t">
            <a:noAutofit/>
          </a:bodyPr>
          <a:lstStyle/>
          <a:p>
            <a:pPr algn="l">
              <a:lnSpc>
                <a:spcPct val="107000"/>
              </a:lnSpc>
            </a:pPr>
            <a:r>
              <a:rPr sz="1700" b="1" i="0">
                <a:solidFill>
                  <a:srgbClr val="0F7C86"/>
                </a:solidFill>
                <a:latin typeface="Montserrat"/>
              </a:rPr>
              <a:t>O lanche é a pista: enfraquece “quer os trilhos” e fortalece “foge da mesa” (ou as duas juntas).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3720"/>
            <a:ext cx="10307828" cy="817761"/>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Respostas 5: o que fazer, e se a explicação estiver errada?</a:t>
            </a:r>
          </a:p>
        </p:txBody>
      </p:sp>
      <p:graphicFrame>
        <p:nvGraphicFramePr>
          <p:cNvPr id="4" name="Table 3"/>
          <p:cNvGraphicFramePr>
            <a:graphicFrameLocks noGrp="1"/>
          </p:cNvGraphicFramePr>
          <p:nvPr/>
        </p:nvGraphicFramePr>
        <p:xfrm>
          <a:off x="1168400" y="2415480"/>
          <a:ext cx="10007600" cy="2324100"/>
        </p:xfrm>
        <a:graphic>
          <a:graphicData uri="http://schemas.openxmlformats.org/drawingml/2006/table">
            <a:tbl>
              <a:tblPr firstRow="0" bandRow="0">
                <a:tableStyleId>{2D5ABB26-0587-4C30-8999-92F81FD0307C}</a:tableStyleId>
              </a:tblPr>
              <a:tblGrid>
                <a:gridCol w="5203924"/>
                <a:gridCol w="4803676"/>
              </a:tblGrid>
              <a:tr h="463550">
                <a:tc>
                  <a:txBody>
                    <a:bodyPr wrap="square"/>
                    <a:lstStyle/>
                    <a:p>
                      <a:pPr>
                        <a:lnSpc>
                          <a:spcPct val="100000"/>
                        </a:lnSpc>
                      </a:pPr>
                      <a:r>
                        <a:rPr sz="1500" b="1" i="0">
                          <a:solidFill>
                            <a:srgbClr val="FFFFFF"/>
                          </a:solidFill>
                          <a:latin typeface="Montserrat"/>
                        </a:rPr>
                        <a:t>Se a explicação for…, podemos…</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Se a explicação estiver errada…</a:t>
                      </a:r>
                    </a:p>
                  </a:txBody>
                  <a:tcPr marL="114300" marR="114300" marT="68580" marB="68580" anchor="ctr">
                    <a:solidFill>
                      <a:srgbClr val="1B2F4B"/>
                    </a:solidFill>
                  </a:tcPr>
                </a:tc>
              </a:tr>
              <a:tr h="698500">
                <a:tc>
                  <a:txBody>
                    <a:bodyPr wrap="square"/>
                    <a:lstStyle/>
                    <a:p>
                      <a:pPr>
                        <a:lnSpc>
                          <a:spcPct val="100000"/>
                        </a:lnSpc>
                      </a:pPr>
                      <a:r>
                        <a:rPr sz="1500" b="1" i="0">
                          <a:solidFill>
                            <a:srgbClr val="2E3A4A"/>
                          </a:solidFill>
                          <a:latin typeface="Montserrat"/>
                        </a:rPr>
                        <a:t>Quer os trilhos:</a:t>
                      </a:r>
                      <a:r>
                        <a:rPr sz="1500" b="0" i="0">
                          <a:solidFill>
                            <a:srgbClr val="2E3A4A"/>
                          </a:solidFill>
                          <a:latin typeface="Montserrat"/>
                        </a:rPr>
                        <a:t> “primeiro mesa, depois trem”; ensinar a pedir “mais trem” e a esperar</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Se na verdade ele foge da mesa: pouco efeito, a mesa continua difícil</a:t>
                      </a:r>
                    </a:p>
                  </a:txBody>
                  <a:tcPr marL="114300" marR="114300" marT="68580" marB="68580" anchor="ctr">
                    <a:solidFill>
                      <a:srgbClr val="FFFFFF"/>
                    </a:solidFill>
                  </a:tcPr>
                </a:tc>
              </a:tr>
              <a:tr h="698500">
                <a:tc>
                  <a:txBody>
                    <a:bodyPr wrap="square"/>
                    <a:lstStyle/>
                    <a:p>
                      <a:pPr>
                        <a:lnSpc>
                          <a:spcPct val="100000"/>
                        </a:lnSpc>
                      </a:pPr>
                      <a:r>
                        <a:rPr sz="1500" b="1" i="0">
                          <a:solidFill>
                            <a:srgbClr val="2E3A4A"/>
                          </a:solidFill>
                          <a:latin typeface="Montserrat"/>
                        </a:rPr>
                        <a:t>Foge da mesa:</a:t>
                      </a:r>
                      <a:r>
                        <a:rPr sz="1500" b="0" i="0">
                          <a:solidFill>
                            <a:srgbClr val="2E3A4A"/>
                          </a:solidFill>
                          <a:latin typeface="Montserrat"/>
                        </a:rPr>
                        <a:t> tarefa mais curta, com tema de trens; ensinar a pedir “pausa”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Se na verdade ele quer os trilhos: o comportamento na hora de guardar continua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Adiar a mesa quando ele grita, “para acalmar”</a:t>
                      </a:r>
                    </a:p>
                  </a:txBody>
                  <a:tcPr marL="114300" marR="114300" marT="68580" marB="68580" anchor="ctr">
                    <a:solidFill>
                      <a:srgbClr val="FFFFFF"/>
                    </a:solidFill>
                  </a:tcPr>
                </a:tc>
                <a:tc>
                  <a:txBody>
                    <a:bodyPr wrap="square"/>
                    <a:lstStyle/>
                    <a:p>
                      <a:pPr>
                        <a:lnSpc>
                          <a:spcPct val="100000"/>
                        </a:lnSpc>
                      </a:pPr>
                      <a:r>
                        <a:rPr sz="1500" b="1" i="0">
                          <a:solidFill>
                            <a:srgbClr val="2E3A4A"/>
                          </a:solidFill>
                          <a:latin typeface="Montserrat"/>
                        </a:rPr>
                        <a:t>Piora:</a:t>
                      </a:r>
                      <a:r>
                        <a:rPr sz="1500" b="0" i="0">
                          <a:solidFill>
                            <a:srgbClr val="2E3A4A"/>
                          </a:solidFill>
                          <a:latin typeface="Montserrat"/>
                        </a:rPr>
                        <a:t> ele aprende que gritar funciona</a:t>
                      </a:r>
                    </a:p>
                  </a:txBody>
                  <a:tcPr marL="114300" marR="114300" marT="68580" marB="68580" anchor="ctr">
                    <a:solidFill>
                      <a:srgbClr val="FFFFFF"/>
                    </a:solidFill>
                  </a:tcPr>
                </a:tc>
              </a:tr>
            </a:tbl>
          </a:graphicData>
        </a:graphic>
      </p:graphicFrame>
      <p:sp>
        <p:nvSpPr>
          <p:cNvPr id="5" name="TextBox 4"/>
          <p:cNvSpPr txBox="1"/>
          <p:nvPr/>
        </p:nvSpPr>
        <p:spPr>
          <a:xfrm>
            <a:off x="1168400" y="4993580"/>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Errar a explicação pode ensinar o contrário do que queremos.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723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6: tirar os trilhos de vez?</a:t>
            </a:r>
          </a:p>
        </p:txBody>
      </p:sp>
      <p:sp>
        <p:nvSpPr>
          <p:cNvPr id="4" name="TextBox 3"/>
          <p:cNvSpPr txBox="1"/>
          <p:nvPr/>
        </p:nvSpPr>
        <p:spPr>
          <a:xfrm>
            <a:off x="1168400" y="2608262"/>
            <a:ext cx="10307828" cy="1619250"/>
          </a:xfrm>
          <a:prstGeom prst="rect">
            <a:avLst/>
          </a:prstGeom>
          <a:noFill/>
        </p:spPr>
        <p:txBody>
          <a:bodyPr wrap="square" lIns="0" rIns="0" tIns="0" bIns="0" anchor="t">
            <a:noAutofit/>
          </a:bodyPr>
          <a:lstStyle/>
          <a:p>
            <a:pPr algn="l" marL="279400" indent="-279400">
              <a:lnSpc>
                <a:spcPct val="123000"/>
              </a:lnSpc>
              <a:buChar char="•"/>
            </a:pPr>
            <a:r>
              <a:rPr sz="1700" b="1" i="0">
                <a:solidFill>
                  <a:srgbClr val="2E3A4A"/>
                </a:solidFill>
                <a:latin typeface="Montserrat"/>
              </a:rPr>
              <a:t>O interesse não é o problema:</a:t>
            </a:r>
            <a:r>
              <a:rPr sz="1700" b="0" i="0">
                <a:solidFill>
                  <a:srgbClr val="2E3A4A"/>
                </a:solidFill>
                <a:latin typeface="Montserrat"/>
              </a:rPr>
              <a:t> o problema é a transição e o que o comportamento consegue</a:t>
            </a:r>
          </a:p>
          <a:p>
            <a:pPr algn="l" marL="279400" indent="-279400">
              <a:lnSpc>
                <a:spcPct val="123000"/>
              </a:lnSpc>
              <a:buChar char="•"/>
            </a:pPr>
            <a:r>
              <a:rPr sz="1700" b="1" i="0">
                <a:solidFill>
                  <a:srgbClr val="2E3A4A"/>
                </a:solidFill>
                <a:latin typeface="Montserrat"/>
              </a:rPr>
              <a:t>Tirar não ensina nada novo:</a:t>
            </a:r>
            <a:r>
              <a:rPr sz="1700" b="0" i="0">
                <a:solidFill>
                  <a:srgbClr val="2E3A4A"/>
                </a:solidFill>
                <a:latin typeface="Montserrat"/>
              </a:rPr>
              <a:t> Theo continuaria sem saber pedir “mais” ou “pausa”</a:t>
            </a:r>
          </a:p>
          <a:p>
            <a:pPr algn="l" marL="279400" indent="-279400">
              <a:lnSpc>
                <a:spcPct val="123000"/>
              </a:lnSpc>
              <a:buChar char="•"/>
            </a:pPr>
            <a:r>
              <a:rPr sz="1700" b="1" i="0">
                <a:solidFill>
                  <a:srgbClr val="2E3A4A"/>
                </a:solidFill>
                <a:latin typeface="Montserrat"/>
              </a:rPr>
              <a:t>Pode não resolver:</a:t>
            </a:r>
            <a:r>
              <a:rPr sz="1700" b="0" i="0">
                <a:solidFill>
                  <a:srgbClr val="2E3A4A"/>
                </a:solidFill>
                <a:latin typeface="Montserrat"/>
              </a:rPr>
              <a:t> se a função for fugir da mesa, o comportamento continua</a:t>
            </a:r>
          </a:p>
          <a:p>
            <a:pPr algn="l" marL="279400" indent="-279400">
              <a:lnSpc>
                <a:spcPct val="123000"/>
              </a:lnSpc>
              <a:buChar char="•"/>
            </a:pPr>
            <a:r>
              <a:rPr sz="1700" b="1" i="0">
                <a:solidFill>
                  <a:srgbClr val="2E3A4A"/>
                </a:solidFill>
                <a:latin typeface="Montserrat"/>
              </a:rPr>
              <a:t>Os trens podem ser recurso:</a:t>
            </a:r>
            <a:r>
              <a:rPr sz="1700" b="0" i="0">
                <a:solidFill>
                  <a:srgbClr val="2E3A4A"/>
                </a:solidFill>
                <a:latin typeface="Montserrat"/>
              </a:rPr>
              <a:t> tarefas com tema de trem, trilhos combinados para depois</a:t>
            </a:r>
          </a:p>
        </p:txBody>
      </p:sp>
      <p:sp>
        <p:nvSpPr>
          <p:cNvPr id="5" name="TextBox 4"/>
          <p:cNvSpPr txBox="1"/>
          <p:nvPr/>
        </p:nvSpPr>
        <p:spPr>
          <a:xfrm>
            <a:off x="1168400" y="448151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Acolher a família e decidir junto, com plano para casa e supervisão.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85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Um dado novo sobre o Theo</a:t>
            </a:r>
          </a:p>
        </p:txBody>
      </p:sp>
      <p:sp>
        <p:nvSpPr>
          <p:cNvPr id="4" name="TextBox 3"/>
          <p:cNvSpPr txBox="1"/>
          <p:nvPr/>
        </p:nvSpPr>
        <p:spPr>
          <a:xfrm>
            <a:off x="1168400" y="2629892"/>
            <a:ext cx="10307828"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Na semana seguinte, em 4 sessões, a terapeuta apresentou a atividade de mesa </a:t>
            </a:r>
            <a:r>
              <a:rPr sz="1900" b="1" i="0">
                <a:solidFill>
                  <a:srgbClr val="2E3A4A"/>
                </a:solidFill>
                <a:latin typeface="Montserrat"/>
              </a:rPr>
              <a:t>sem guardar os trilhos</a:t>
            </a:r>
            <a:r>
              <a:rPr sz="1900" b="0" i="0">
                <a:solidFill>
                  <a:srgbClr val="2E3A4A"/>
                </a:solidFill>
                <a:latin typeface="Montserrat"/>
              </a:rPr>
              <a:t> (eles ficaram ao lado, e Theo poderia voltar a eles ao terminar). Em </a:t>
            </a:r>
            <a:r>
              <a:rPr sz="1900" b="1" i="0">
                <a:solidFill>
                  <a:srgbClr val="2E3A4A"/>
                </a:solidFill>
                <a:latin typeface="Montserrat"/>
              </a:rPr>
              <a:t>3 dessas sessões</a:t>
            </a:r>
            <a:r>
              <a:rPr sz="1900" b="0" i="0">
                <a:solidFill>
                  <a:srgbClr val="2E3A4A"/>
                </a:solidFill>
                <a:latin typeface="Montserrat"/>
              </a:rPr>
              <a:t>, Theo não gritou nem se jogou no chão.</a:t>
            </a:r>
          </a:p>
        </p:txBody>
      </p:sp>
      <p:sp>
        <p:nvSpPr>
          <p:cNvPr id="5" name="TextBox 4"/>
          <p:cNvSpPr txBox="1"/>
          <p:nvPr/>
        </p:nvSpPr>
        <p:spPr>
          <a:xfrm>
            <a:off x="1168400" y="392251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 esse dado, qual explicação fica mais forte? Já dá para ter certeza?</a:t>
            </a:r>
          </a:p>
        </p:txBody>
      </p:sp>
      <p:sp>
        <p:nvSpPr>
          <p:cNvPr id="6" name="TextBox 5"/>
          <p:cNvSpPr txBox="1"/>
          <p:nvPr/>
        </p:nvSpPr>
        <p:spPr>
          <a:xfrm>
            <a:off x="1168400" y="45321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076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dado novo</a:t>
            </a:r>
          </a:p>
        </p:txBody>
      </p:sp>
      <p:sp>
        <p:nvSpPr>
          <p:cNvPr id="4" name="TextBox 3"/>
          <p:cNvSpPr txBox="1"/>
          <p:nvPr/>
        </p:nvSpPr>
        <p:spPr>
          <a:xfrm>
            <a:off x="11684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muda</a:t>
            </a:r>
          </a:p>
        </p:txBody>
      </p:sp>
      <p:sp>
        <p:nvSpPr>
          <p:cNvPr id="5" name="TextBox 4"/>
          <p:cNvSpPr txBox="1"/>
          <p:nvPr/>
        </p:nvSpPr>
        <p:spPr>
          <a:xfrm>
            <a:off x="1168400" y="2825552"/>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Fica mais forte a explicação “quer os trilhos” (ou as duas juntas): sem guardar os trilhos, quase não houve episódio. “Foge da mesa” fica mais fraca.</a:t>
            </a:r>
          </a:p>
        </p:txBody>
      </p:sp>
      <p:sp>
        <p:nvSpPr>
          <p:cNvPr id="6" name="TextBox 5"/>
          <p:cNvSpPr txBox="1"/>
          <p:nvPr/>
        </p:nvSpPr>
        <p:spPr>
          <a:xfrm>
            <a:off x="64770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muda</a:t>
            </a:r>
          </a:p>
        </p:txBody>
      </p:sp>
      <p:sp>
        <p:nvSpPr>
          <p:cNvPr id="7" name="TextBox 6"/>
          <p:cNvSpPr txBox="1"/>
          <p:nvPr/>
        </p:nvSpPr>
        <p:spPr>
          <a:xfrm>
            <a:off x="6477000" y="2825552"/>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Ainda não dá para ter certeza: são só 4 sessões, sem controle de sono, terapeuta ou tipo de tarefa.</a:t>
            </a:r>
          </a:p>
        </p:txBody>
      </p:sp>
      <p:sp>
        <p:nvSpPr>
          <p:cNvPr id="8" name="TextBox 7"/>
          <p:cNvSpPr txBox="1"/>
          <p:nvPr/>
        </p:nvSpPr>
        <p:spPr>
          <a:xfrm>
            <a:off x="1168400" y="435947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É mais uma pista. O próximo passo é uma avaliação organizada, com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002808" y="2419052"/>
            <a:ext cx="2251874"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Se houver tempo</a:t>
            </a:r>
          </a:p>
        </p:txBody>
      </p:sp>
      <p:sp>
        <p:nvSpPr>
          <p:cNvPr id="3" name="TextBox 2"/>
          <p:cNvSpPr txBox="1"/>
          <p:nvPr/>
        </p:nvSpPr>
        <p:spPr>
          <a:xfrm>
            <a:off x="3146623" y="3054052"/>
            <a:ext cx="6075614" cy="803275"/>
          </a:xfrm>
          <a:prstGeom prst="rect">
            <a:avLst/>
          </a:prstGeom>
          <a:noFill/>
        </p:spPr>
        <p:txBody>
          <a:bodyPr wrap="square" lIns="0" rIns="0" tIns="0" bIns="0" anchor="t">
            <a:noAutofit/>
          </a:bodyPr>
          <a:lstStyle/>
          <a:p>
            <a:pPr algn="ctr">
              <a:lnSpc>
                <a:spcPct val="94000"/>
              </a:lnSpc>
            </a:pPr>
            <a:r>
              <a:rPr sz="5500" b="1" i="0">
                <a:solidFill>
                  <a:srgbClr val="FFFFFF"/>
                </a:solidFill>
                <a:latin typeface="Montserrat"/>
              </a:rPr>
              <a:t>Caso extra: Lara</a:t>
            </a:r>
          </a:p>
        </p:txBody>
      </p:sp>
      <p:sp>
        <p:nvSpPr>
          <p:cNvPr id="4" name="TextBox 3"/>
          <p:cNvSpPr txBox="1"/>
          <p:nvPr/>
        </p:nvSpPr>
        <p:spPr>
          <a:xfrm>
            <a:off x="1944688" y="4136727"/>
            <a:ext cx="8551704" cy="302220"/>
          </a:xfrm>
          <a:prstGeom prst="rect">
            <a:avLst/>
          </a:prstGeom>
          <a:noFill/>
        </p:spPr>
        <p:txBody>
          <a:bodyPr wrap="square" lIns="0" rIns="0" tIns="0" bIns="0" anchor="t">
            <a:noAutofit/>
          </a:bodyPr>
          <a:lstStyle/>
          <a:p>
            <a:pPr algn="ctr">
              <a:lnSpc>
                <a:spcPct val="115000"/>
              </a:lnSpc>
            </a:pPr>
            <a:r>
              <a:rPr sz="1700" b="0" i="1">
                <a:solidFill>
                  <a:srgbClr val="9FD3D8"/>
                </a:solidFill>
                <a:latin typeface="Montserrat"/>
              </a:rPr>
              <a:t>O mesmo raciocínio com outra história: vídeo, história, perguntas e respostas.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Caso extra: vídeo da Lara</a:t>
            </a:r>
          </a:p>
        </p:txBody>
      </p:sp>
      <p:sp>
        <p:nvSpPr>
          <p:cNvPr id="4" name="TextBox 3"/>
          <p:cNvSpPr txBox="1"/>
          <p:nvPr/>
        </p:nvSpPr>
        <p:spPr>
          <a:xfrm>
            <a:off x="1168400" y="273149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3186112"/>
            <a:ext cx="4133596" cy="9715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logo antes?</a:t>
            </a:r>
          </a:p>
          <a:p>
            <a:pPr algn="l" marL="279400" indent="-279400">
              <a:lnSpc>
                <a:spcPct val="123000"/>
              </a:lnSpc>
              <a:buAutoNum type="arabicPeriod" startAt="1"/>
            </a:pPr>
            <a:r>
              <a:rPr sz="1700" b="0" i="0">
                <a:solidFill>
                  <a:srgbClr val="2E3A4A"/>
                </a:solidFill>
                <a:latin typeface="Montserrat"/>
              </a:rPr>
              <a:t>O que a Lara faz?</a:t>
            </a:r>
          </a:p>
          <a:p>
            <a:pPr algn="l" marL="279400" indent="-279400">
              <a:lnSpc>
                <a:spcPct val="123000"/>
              </a:lnSpc>
              <a:buAutoNum type="arabicPeriod" startAt="1"/>
            </a:pPr>
            <a:r>
              <a:rPr sz="1700" b="0" i="0">
                <a:solidFill>
                  <a:srgbClr val="2E3A4A"/>
                </a:solidFill>
                <a:latin typeface="Montserrat"/>
              </a:rPr>
              <a:t>O que acontece logo depois?</a:t>
            </a:r>
          </a:p>
        </p:txBody>
      </p:sp>
      <p:pic>
        <p:nvPicPr>
          <p:cNvPr id="6" name="Animação: Lara desenha na sala; a professora propõe trabalho em grupo; os colegas conversam alto; Lara coloca o capuz, abaixa a cabeça e sai da sala; depois desenha na bibliotec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pessoa real. O vídeo mostra um episódio; o padrão está na história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01167"/>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Caso extra: a história da Lara</a:t>
            </a:r>
          </a:p>
        </p:txBody>
      </p:sp>
      <p:sp>
        <p:nvSpPr>
          <p:cNvPr id="4" name="TextBox 3"/>
          <p:cNvSpPr txBox="1"/>
          <p:nvPr/>
        </p:nvSpPr>
        <p:spPr>
          <a:xfrm>
            <a:off x="1168400" y="1960562"/>
            <a:ext cx="10307828" cy="1333500"/>
          </a:xfrm>
          <a:prstGeom prst="rect">
            <a:avLst/>
          </a:prstGeom>
          <a:noFill/>
        </p:spPr>
        <p:txBody>
          <a:bodyPr wrap="square" lIns="0" rIns="0" tIns="0" bIns="0" anchor="t">
            <a:noAutofit/>
          </a:bodyPr>
          <a:lstStyle/>
          <a:p>
            <a:pPr algn="l">
              <a:lnSpc>
                <a:spcPct val="115000"/>
              </a:lnSpc>
            </a:pPr>
            <a:r>
              <a:rPr sz="1500" b="0" i="0">
                <a:solidFill>
                  <a:srgbClr val="2E3A4A"/>
                </a:solidFill>
                <a:latin typeface="Montserrat"/>
              </a:rPr>
              <a:t>Lara tem 14 anos, é autista e fala com fluência. Gosta de desenho e de astronomia. Nos últimos dois meses, quando a professora propõe </a:t>
            </a:r>
            <a:r>
              <a:rPr sz="1500" b="1" i="0">
                <a:solidFill>
                  <a:srgbClr val="2E3A4A"/>
                </a:solidFill>
                <a:latin typeface="Montserrat"/>
              </a:rPr>
              <a:t>trabalho em grupo</a:t>
            </a:r>
            <a:r>
              <a:rPr sz="1500" b="0" i="0">
                <a:solidFill>
                  <a:srgbClr val="2E3A4A"/>
                </a:solidFill>
                <a:latin typeface="Montserrat"/>
              </a:rPr>
              <a:t> numa sala barulhenta, Lara </a:t>
            </a:r>
            <a:r>
              <a:rPr sz="1500" b="1" i="0">
                <a:solidFill>
                  <a:srgbClr val="2E3A4A"/>
                </a:solidFill>
                <a:latin typeface="Montserrat"/>
              </a:rPr>
              <a:t>coloca o capuz, abaixa a cabeça e, às vezes, sai da sala sem avisar</a:t>
            </a:r>
            <a:r>
              <a:rPr sz="1500" b="0" i="0">
                <a:solidFill>
                  <a:srgbClr val="2E3A4A"/>
                </a:solidFill>
                <a:latin typeface="Montserrat"/>
              </a:rPr>
              <a:t>. Quando sai, é levada à coordenação e passa o resto da aula na biblioteca. Nas atividades individuais, participa e tira boas notas. Ela disse à psicóloga da escola: “o barulho é demais” e “sempre falo alguma coisa errada nos grupos”.</a:t>
            </a:r>
          </a:p>
        </p:txBody>
      </p:sp>
      <p:sp>
        <p:nvSpPr>
          <p:cNvPr id="5" name="TextBox 4"/>
          <p:cNvSpPr txBox="1"/>
          <p:nvPr/>
        </p:nvSpPr>
        <p:spPr>
          <a:xfrm>
            <a:off x="1168400" y="3459162"/>
            <a:ext cx="10307828" cy="1428750"/>
          </a:xfrm>
          <a:prstGeom prst="rect">
            <a:avLst/>
          </a:prstGeom>
          <a:noFill/>
        </p:spPr>
        <p:txBody>
          <a:bodyPr wrap="square" lIns="0" rIns="0" tIns="0" bIns="0" anchor="t">
            <a:noAutofit/>
          </a:bodyPr>
          <a:lstStyle/>
          <a:p>
            <a:pPr algn="l" marL="279400" indent="-279400">
              <a:lnSpc>
                <a:spcPct val="123000"/>
              </a:lnSpc>
              <a:buAutoNum type="arabicPeriod" startAt="1"/>
            </a:pPr>
            <a:r>
              <a:rPr sz="1500" b="0" i="0">
                <a:solidFill>
                  <a:srgbClr val="2E3A4A"/>
                </a:solidFill>
                <a:latin typeface="Montserrat"/>
              </a:rPr>
              <a:t>O que a Lara faz? Descrevam só o que dá para ver e ouvir.</a:t>
            </a:r>
          </a:p>
          <a:p>
            <a:pPr algn="l" marL="279400" indent="-279400">
              <a:lnSpc>
                <a:spcPct val="123000"/>
              </a:lnSpc>
              <a:buAutoNum type="arabicPeriod" startAt="1"/>
            </a:pPr>
            <a:r>
              <a:rPr sz="1500" b="0" i="0">
                <a:solidFill>
                  <a:srgbClr val="2E3A4A"/>
                </a:solidFill>
                <a:latin typeface="Montserrat"/>
              </a:rPr>
              <a:t>O que acontece logo antes? E logo depois?</a:t>
            </a:r>
          </a:p>
          <a:p>
            <a:pPr algn="l" marL="279400" indent="-279400">
              <a:lnSpc>
                <a:spcPct val="123000"/>
              </a:lnSpc>
              <a:buAutoNum type="arabicPeriod" startAt="1"/>
            </a:pPr>
            <a:r>
              <a:rPr sz="1500" b="0" i="0">
                <a:solidFill>
                  <a:srgbClr val="2E3A4A"/>
                </a:solidFill>
                <a:latin typeface="Montserrat"/>
              </a:rPr>
              <a:t>Por que isso pode estar acontecendo? Deem duas explicações possíveis.</a:t>
            </a:r>
          </a:p>
          <a:p>
            <a:pPr algn="l" marL="279400" indent="-279400">
              <a:lnSpc>
                <a:spcPct val="123000"/>
              </a:lnSpc>
              <a:buAutoNum type="arabicPeriod" startAt="1"/>
            </a:pPr>
            <a:r>
              <a:rPr sz="1500" b="0" i="0">
                <a:solidFill>
                  <a:srgbClr val="2E3A4A"/>
                </a:solidFill>
                <a:latin typeface="Montserrat"/>
              </a:rPr>
              <a:t>A escola quer que a Lara faça todos os trabalhos sozinha, na biblioteca. Isso ajuda ou atrapalha?</a:t>
            </a:r>
          </a:p>
          <a:p>
            <a:pPr algn="l" marL="279400" indent="-279400">
              <a:lnSpc>
                <a:spcPct val="123000"/>
              </a:lnSpc>
              <a:buAutoNum type="arabicPeriod" startAt="1"/>
            </a:pPr>
            <a:r>
              <a:rPr sz="1500" b="0" i="0">
                <a:solidFill>
                  <a:srgbClr val="2E3A4A"/>
                </a:solidFill>
                <a:latin typeface="Montserrat"/>
              </a:rPr>
              <a:t>O que vocês proporiam no lugar?</a:t>
            </a:r>
          </a:p>
        </p:txBody>
      </p:sp>
      <p:sp>
        <p:nvSpPr>
          <p:cNvPr id="6" name="TextBox 5"/>
          <p:cNvSpPr txBox="1"/>
          <p:nvPr/>
        </p:nvSpPr>
        <p:spPr>
          <a:xfrm>
            <a:off x="1168400" y="5053012"/>
            <a:ext cx="10307828" cy="213320"/>
          </a:xfrm>
          <a:prstGeom prst="rect">
            <a:avLst/>
          </a:prstGeom>
          <a:noFill/>
        </p:spPr>
        <p:txBody>
          <a:bodyPr wrap="square" lIns="0" rIns="0" tIns="0" bIns="0" anchor="t">
            <a:noAutofit/>
          </a:bodyPr>
          <a:lstStyle/>
          <a:p>
            <a:pPr algn="l">
              <a:lnSpc>
                <a:spcPct val="115000"/>
              </a:lnSpc>
            </a:pPr>
            <a:r>
              <a:rPr sz="12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07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a história da Lara</a:t>
            </a:r>
          </a:p>
        </p:txBody>
      </p:sp>
      <p:graphicFrame>
        <p:nvGraphicFramePr>
          <p:cNvPr id="4" name="Table 3"/>
          <p:cNvGraphicFramePr>
            <a:graphicFrameLocks noGrp="1"/>
          </p:cNvGraphicFramePr>
          <p:nvPr/>
        </p:nvGraphicFramePr>
        <p:xfrm>
          <a:off x="1168400" y="1653183"/>
          <a:ext cx="10007600" cy="3594100"/>
        </p:xfrm>
        <a:graphic>
          <a:graphicData uri="http://schemas.openxmlformats.org/drawingml/2006/table">
            <a:tbl>
              <a:tblPr firstRow="0" bandRow="0">
                <a:tableStyleId>{2D5ABB26-0587-4C30-8999-92F81FD0307C}</a:tableStyleId>
              </a:tblPr>
              <a:tblGrid>
                <a:gridCol w="3002260"/>
                <a:gridCol w="7005340"/>
              </a:tblGrid>
              <a:tr h="450850">
                <a:tc>
                  <a:txBody>
                    <a:bodyPr wrap="square"/>
                    <a:lstStyle/>
                    <a:p>
                      <a:pPr>
                        <a:lnSpc>
                          <a:spcPct val="100000"/>
                        </a:lnSpc>
                      </a:pPr>
                      <a:r>
                        <a:rPr sz="1450" b="1" i="0">
                          <a:solidFill>
                            <a:srgbClr val="FFFFFF"/>
                          </a:solidFill>
                          <a:latin typeface="Montserrat"/>
                        </a:rPr>
                        <a:t>Pergunta</a:t>
                      </a:r>
                    </a:p>
                  </a:txBody>
                  <a:tcPr marL="114300" marR="114300" marT="68580" marB="68580" anchor="ctr">
                    <a:solidFill>
                      <a:srgbClr val="1B2F4B"/>
                    </a:solidFill>
                  </a:tcPr>
                </a:tc>
                <a:tc>
                  <a:txBody>
                    <a:bodyPr wrap="square"/>
                    <a:lstStyle/>
                    <a:p>
                      <a:pPr>
                        <a:lnSpc>
                          <a:spcPct val="100000"/>
                        </a:lnSpc>
                      </a:pPr>
                      <a:r>
                        <a:rPr sz="1450" b="1" i="0">
                          <a:solidFill>
                            <a:srgbClr val="FFFFFF"/>
                          </a:solidFill>
                          <a:latin typeface="Montserrat"/>
                        </a:rPr>
                        <a:t>Resposta</a:t>
                      </a:r>
                    </a:p>
                  </a:txBody>
                  <a:tcPr marL="114300" marR="114300" marT="68580" marB="68580" anchor="ctr">
                    <a:solidFill>
                      <a:srgbClr val="1B2F4B"/>
                    </a:solidFill>
                  </a:tcPr>
                </a:tc>
              </a:tr>
              <a:tr h="450850">
                <a:tc>
                  <a:txBody>
                    <a:bodyPr wrap="square"/>
                    <a:lstStyle/>
                    <a:p>
                      <a:pPr>
                        <a:lnSpc>
                          <a:spcPct val="100000"/>
                        </a:lnSpc>
                      </a:pPr>
                      <a:r>
                        <a:rPr sz="1450" b="0" i="0">
                          <a:solidFill>
                            <a:srgbClr val="2E3A4A"/>
                          </a:solidFill>
                          <a:latin typeface="Montserrat"/>
                        </a:rPr>
                        <a:t>1. O que ela faz</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Coloca o capuz, abaixa a cabeça e sai da sala sem avisar</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2. Antes e depois</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Antes: trabalho em grupo numa sala barulhenta. Depois: sai do grupo e vai para a biblioteca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3. Explicações possíveis</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Fugir do barulho; fugir da conversa em grupo (medo de errar); as duas juntas. Ir para a biblioteca pode reforçar (tornar mais provável) a saída</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4. Sozinha na biblioteca: ajuda ou atrapalha?</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Alivia agora, mas pode reforçar a fuga (sair da situação) e tirar chances de participar. Só serve como algo temporário, combinado com ela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5. O que propor no lugar</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Lugar mais silencioso ou protetor de ouvido (se ela quiser), grupo menor, um papel definido no grupo e um jeito combinado de pedir pausa</a:t>
                      </a:r>
                    </a:p>
                  </a:txBody>
                  <a:tcPr marL="114300" marR="114300" marT="68580" marB="68580" anchor="ctr">
                    <a:solidFill>
                      <a:srgbClr val="FFFFFF"/>
                    </a:solidFill>
                  </a:tcPr>
                </a:tc>
              </a:tr>
            </a:tbl>
          </a:graphicData>
        </a:graphic>
      </p:graphicFrame>
      <p:sp>
        <p:nvSpPr>
          <p:cNvPr id="5" name="TextBox 4"/>
          <p:cNvSpPr txBox="1"/>
          <p:nvPr/>
        </p:nvSpPr>
        <p:spPr>
          <a:xfrm>
            <a:off x="1168400" y="5437783"/>
            <a:ext cx="10307828" cy="24884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O capuz, em si, não é problema a eliminar. Decidir junto com a Lara.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052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Cinco mensagens para levar</a:t>
            </a:r>
          </a:p>
        </p:txBody>
      </p:sp>
      <p:sp>
        <p:nvSpPr>
          <p:cNvPr id="4" name="TextBox 3"/>
          <p:cNvSpPr txBox="1"/>
          <p:nvPr/>
        </p:nvSpPr>
        <p:spPr>
          <a:xfrm>
            <a:off x="1168400" y="2266553"/>
            <a:ext cx="10307828" cy="2895600"/>
          </a:xfrm>
          <a:prstGeom prst="rect">
            <a:avLst/>
          </a:prstGeom>
          <a:noFill/>
        </p:spPr>
        <p:txBody>
          <a:bodyPr wrap="square" lIns="0" rIns="0" tIns="0" bIns="0" anchor="t">
            <a:noAutofit/>
          </a:bodyPr>
          <a:lstStyle/>
          <a:p>
            <a:pPr algn="l" marL="279400" indent="-279400">
              <a:lnSpc>
                <a:spcPct val="123000"/>
              </a:lnSpc>
              <a:buAutoNum type="arabicPeriod" startAt="1"/>
            </a:pPr>
            <a:r>
              <a:rPr sz="1900" b="0" i="0">
                <a:solidFill>
                  <a:srgbClr val="2E3A4A"/>
                </a:solidFill>
                <a:latin typeface="Montserrat"/>
              </a:rPr>
              <a:t>TEA é heterogêneo (diferente de pessoa para pessoa): </a:t>
            </a:r>
            <a:r>
              <a:rPr sz="1900" b="1" i="0">
                <a:solidFill>
                  <a:srgbClr val="2E3A4A"/>
                </a:solidFill>
                <a:latin typeface="Montserrat"/>
              </a:rPr>
              <a:t>o diagnóstico não define o plano</a:t>
            </a:r>
          </a:p>
          <a:p>
            <a:pPr algn="l" marL="279400" indent="-279400">
              <a:lnSpc>
                <a:spcPct val="123000"/>
              </a:lnSpc>
              <a:buAutoNum type="arabicPeriod" startAt="1"/>
            </a:pPr>
            <a:r>
              <a:rPr sz="1900" b="1" i="0">
                <a:solidFill>
                  <a:srgbClr val="2E3A4A"/>
                </a:solidFill>
                <a:latin typeface="Montserrat"/>
              </a:rPr>
              <a:t>Topografia (forma) descreve; função (para que serve) explica</a:t>
            </a:r>
          </a:p>
          <a:p>
            <a:pPr algn="l" marL="279400" indent="-279400">
              <a:lnSpc>
                <a:spcPct val="123000"/>
              </a:lnSpc>
              <a:buAutoNum type="arabicPeriod" startAt="1"/>
            </a:pPr>
            <a:r>
              <a:rPr sz="1900" b="1" i="0">
                <a:solidFill>
                  <a:srgbClr val="2E3A4A"/>
                </a:solidFill>
                <a:latin typeface="Montserrat"/>
              </a:rPr>
              <a:t>Avaliar vem antes de intervir</a:t>
            </a:r>
          </a:p>
          <a:p>
            <a:pPr algn="l" marL="279400" indent="-279400">
              <a:lnSpc>
                <a:spcPct val="123000"/>
              </a:lnSpc>
              <a:buAutoNum type="arabicPeriod" startAt="1"/>
            </a:pPr>
            <a:r>
              <a:rPr sz="1900" b="0" i="0">
                <a:solidFill>
                  <a:srgbClr val="2E3A4A"/>
                </a:solidFill>
                <a:latin typeface="Montserrat"/>
              </a:rPr>
              <a:t>Bons objetivos ampliam comunicação, participação, autonomia e qualidade de vida</a:t>
            </a:r>
          </a:p>
          <a:p>
            <a:pPr algn="l" marL="279400" indent="-279400">
              <a:lnSpc>
                <a:spcPct val="123000"/>
              </a:lnSpc>
              <a:buAutoNum type="arabicPeriod" startAt="1"/>
            </a:pPr>
            <a:r>
              <a:rPr sz="1900" b="0" i="0">
                <a:solidFill>
                  <a:srgbClr val="2E3A4A"/>
                </a:solidFill>
                <a:latin typeface="Montserrat"/>
              </a:rPr>
              <a:t>Raciocínio clínico exige </a:t>
            </a:r>
            <a:r>
              <a:rPr sz="1900" b="1" i="0">
                <a:solidFill>
                  <a:srgbClr val="2E3A4A"/>
                </a:solidFill>
                <a:latin typeface="Montserrat"/>
              </a:rPr>
              <a:t>evidência, individualização (plano feito para cada pessoa), ética e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3196530" y="2881312"/>
            <a:ext cx="5972907"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Perguntas?</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70273"/>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Para aprofundar</a:t>
            </a:r>
          </a:p>
        </p:txBody>
      </p:sp>
      <p:graphicFrame>
        <p:nvGraphicFramePr>
          <p:cNvPr id="4" name="Table 3"/>
          <p:cNvGraphicFramePr>
            <a:graphicFrameLocks noGrp="1"/>
          </p:cNvGraphicFramePr>
          <p:nvPr/>
        </p:nvGraphicFramePr>
        <p:xfrm>
          <a:off x="1168400" y="1882378"/>
          <a:ext cx="10007600" cy="3714750"/>
        </p:xfrm>
        <a:graphic>
          <a:graphicData uri="http://schemas.openxmlformats.org/drawingml/2006/table">
            <a:tbl>
              <a:tblPr firstRow="0" bandRow="0">
                <a:tableStyleId>{2D5ABB26-0587-4C30-8999-92F81FD0307C}</a:tableStyleId>
              </a:tblPr>
              <a:tblGrid>
                <a:gridCol w="4803577"/>
                <a:gridCol w="5204023"/>
              </a:tblGrid>
              <a:tr h="463550">
                <a:tc>
                  <a:txBody>
                    <a:bodyPr wrap="square"/>
                    <a:lstStyle/>
                    <a:p>
                      <a:pPr>
                        <a:lnSpc>
                          <a:spcPct val="100000"/>
                        </a:lnSpc>
                      </a:pPr>
                      <a:r>
                        <a:rPr sz="1500" b="1" i="0">
                          <a:solidFill>
                            <a:srgbClr val="FFFFFF"/>
                          </a:solidFill>
                          <a:latin typeface="Montserrat"/>
                        </a:rPr>
                        <a:t>Leitura</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Tema</a:t>
                      </a:r>
                    </a:p>
                  </a:txBody>
                  <a:tcPr marL="114300" marR="114300" marT="68580" marB="68580" anchor="ctr">
                    <a:solidFill>
                      <a:srgbClr val="1B2F4B"/>
                    </a:solidFill>
                  </a:tcPr>
                </a:tc>
              </a:tr>
              <a:tr h="463550">
                <a:tc>
                  <a:txBody>
                    <a:bodyPr wrap="square"/>
                    <a:lstStyle/>
                    <a:p>
                      <a:pPr>
                        <a:lnSpc>
                          <a:spcPct val="100000"/>
                        </a:lnSpc>
                      </a:pPr>
                      <a:r>
                        <a:rPr sz="1500" b="0" i="0">
                          <a:solidFill>
                            <a:srgbClr val="2E3A4A"/>
                          </a:solidFill>
                          <a:latin typeface="Montserrat"/>
                        </a:rPr>
                        <a:t>Baer, Wolf &amp; Risley (1968)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O que define a ABA</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Hanley (2012)</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Avaliação funcional na prática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Tiger, Hanley &amp; Bruzek (2008)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Treino de Comunicação Funcional</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Schreibman et al. (2015)</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Intervenções naturalísticas (NDBI)</a:t>
                      </a:r>
                    </a:p>
                  </a:txBody>
                  <a:tcPr marL="114300" marR="114300" marT="68580" marB="68580" anchor="ctr">
                    <a:solidFill>
                      <a:srgbClr val="F1F4F6"/>
                    </a:solidFill>
                  </a:tcPr>
                </a:tc>
              </a:tr>
              <a:tr h="698500">
                <a:tc>
                  <a:txBody>
                    <a:bodyPr wrap="square"/>
                    <a:lstStyle/>
                    <a:p>
                      <a:pPr>
                        <a:lnSpc>
                          <a:spcPct val="100000"/>
                        </a:lnSpc>
                      </a:pPr>
                      <a:r>
                        <a:rPr sz="1500" b="0" i="0">
                          <a:solidFill>
                            <a:srgbClr val="2E3A4A"/>
                          </a:solidFill>
                          <a:latin typeface="Montserrat"/>
                        </a:rPr>
                        <a:t>Sandbank et al. (2020)</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Qualidade da evidência em intervenção precoce (na primeira infância)</a:t>
                      </a:r>
                    </a:p>
                  </a:txBody>
                  <a:tcPr marL="114300" marR="114300" marT="68580" marB="68580" anchor="ctr">
                    <a:solidFill>
                      <a:srgbClr val="FFFFFF"/>
                    </a:solidFill>
                  </a:tcPr>
                </a:tc>
              </a:tr>
              <a:tr h="698500">
                <a:tc>
                  <a:txBody>
                    <a:bodyPr wrap="square"/>
                    <a:lstStyle/>
                    <a:p>
                      <a:pPr>
                        <a:lnSpc>
                          <a:spcPct val="100000"/>
                        </a:lnSpc>
                      </a:pPr>
                      <a:r>
                        <a:rPr sz="1500" b="0" i="0">
                          <a:solidFill>
                            <a:srgbClr val="2E3A4A"/>
                          </a:solidFill>
                          <a:latin typeface="Montserrat"/>
                        </a:rPr>
                        <a:t>Breaux &amp; Smith (2023)</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Assentimento (concordância da pessoa em participar)</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Referências completas nos slides finais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217517" y="2290762"/>
            <a:ext cx="1809675"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Betina Binatti</a:t>
            </a:r>
          </a:p>
        </p:txBody>
      </p:sp>
      <p:sp>
        <p:nvSpPr>
          <p:cNvPr id="3" name="TextBox 2"/>
          <p:cNvSpPr txBox="1"/>
          <p:nvPr/>
        </p:nvSpPr>
        <p:spPr>
          <a:xfrm>
            <a:off x="3589933" y="2925762"/>
            <a:ext cx="5162498"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Obrigada!</a:t>
            </a:r>
          </a:p>
        </p:txBody>
      </p:sp>
      <p:sp>
        <p:nvSpPr>
          <p:cNvPr id="4" name="TextBox 3"/>
          <p:cNvSpPr txBox="1"/>
          <p:nvPr/>
        </p:nvSpPr>
        <p:spPr>
          <a:xfrm>
            <a:off x="3269655" y="4300538"/>
            <a:ext cx="582227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Workshop ABA e TEA, LACC, PUCRS, 24 de outubro de 2026</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389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TEA e neurodiversidade</a:t>
            </a:r>
          </a:p>
        </p:txBody>
      </p:sp>
      <p:sp>
        <p:nvSpPr>
          <p:cNvPr id="4" name="TextBox 3"/>
          <p:cNvSpPr txBox="1"/>
          <p:nvPr/>
        </p:nvSpPr>
        <p:spPr>
          <a:xfrm>
            <a:off x="1168400" y="163790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American Psychiatric Association. (2022). </a:t>
            </a:r>
            <a:r>
              <a:rPr sz="1200" b="0" i="1">
                <a:solidFill>
                  <a:srgbClr val="2E3A4A"/>
                </a:solidFill>
                <a:latin typeface="Montserrat"/>
              </a:rPr>
              <a:t>Diagnostic and statistical manual of mental disorders</a:t>
            </a:r>
            <a:r>
              <a:rPr sz="1200" b="0" i="0">
                <a:solidFill>
                  <a:srgbClr val="2E3A4A"/>
                </a:solidFill>
                <a:latin typeface="Montserrat"/>
              </a:rPr>
              <a:t> (5th ed., text rev.; DSM-5-TR). American Psychiatric Publishing.</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Bottema-Beutel, K., Kapp, S. K., Lester, J. N., Sasson, N. J., &amp; Hand, B. N. (2021). Avoiding ableist language: Suggestions for autism researchers. </a:t>
            </a:r>
            <a:r>
              <a:rPr sz="1200" b="0" i="1">
                <a:solidFill>
                  <a:srgbClr val="2E3A4A"/>
                </a:solidFill>
                <a:latin typeface="Montserrat"/>
              </a:rPr>
              <a:t>Autism in Adulthood, 3</a:t>
            </a:r>
            <a:r>
              <a:rPr sz="1200" b="0" i="0">
                <a:solidFill>
                  <a:srgbClr val="2E3A4A"/>
                </a:solidFill>
                <a:latin typeface="Montserrat"/>
              </a:rPr>
              <a:t>(1), 18–29. https://doi.org/10.1089/aut.2020.0014</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Kapp, S. K., Gillespie-Lynch, K., Sherman, L. E., &amp; Hutman, T. (2013). Deficit, difference, or both? Autism and neurodiversity. </a:t>
            </a:r>
            <a:r>
              <a:rPr sz="1200" b="0" i="1">
                <a:solidFill>
                  <a:srgbClr val="2E3A4A"/>
                </a:solidFill>
                <a:latin typeface="Montserrat"/>
              </a:rPr>
              <a:t>Developmental Psychology, 49</a:t>
            </a:r>
            <a:r>
              <a:rPr sz="1200" b="0" i="0">
                <a:solidFill>
                  <a:srgbClr val="2E3A4A"/>
                </a:solidFill>
                <a:latin typeface="Montserrat"/>
              </a:rPr>
              <a:t>(1), 59–71. https://doi.org/10.1037/a0028353</a:t>
            </a:r>
          </a:p>
        </p:txBody>
      </p:sp>
      <p:sp>
        <p:nvSpPr>
          <p:cNvPr id="7" name="TextBox 6"/>
          <p:cNvSpPr txBox="1"/>
          <p:nvPr/>
        </p:nvSpPr>
        <p:spPr>
          <a:xfrm>
            <a:off x="1168400" y="326072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Brugha, T. S., Charman, T., et al. (2020). Autism spectrum disorder. </a:t>
            </a:r>
            <a:r>
              <a:rPr sz="1200" b="0" i="1">
                <a:solidFill>
                  <a:srgbClr val="2E3A4A"/>
                </a:solidFill>
                <a:latin typeface="Montserrat"/>
              </a:rPr>
              <a:t>Nature Reviews Disease Primers, 6</a:t>
            </a:r>
            <a:r>
              <a:rPr sz="1200" b="0" i="0">
                <a:solidFill>
                  <a:srgbClr val="2E3A4A"/>
                </a:solidFill>
                <a:latin typeface="Montserrat"/>
              </a:rPr>
              <a:t>, 5. https://doi.org/10.1038/s41572-019-0138-4</a:t>
            </a:r>
          </a:p>
        </p:txBody>
      </p:sp>
      <p:sp>
        <p:nvSpPr>
          <p:cNvPr id="8" name="TextBox 7"/>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Charman, T., Havdahl, A., et al. (2022). The Lancet Commission on the future of care and clinical research in autism. </a:t>
            </a:r>
            <a:r>
              <a:rPr sz="1200" b="0" i="1">
                <a:solidFill>
                  <a:srgbClr val="2E3A4A"/>
                </a:solidFill>
                <a:latin typeface="Montserrat"/>
              </a:rPr>
              <a:t>The Lancet, 399</a:t>
            </a:r>
            <a:r>
              <a:rPr sz="1200" b="0" i="0">
                <a:solidFill>
                  <a:srgbClr val="2E3A4A"/>
                </a:solidFill>
                <a:latin typeface="Montserrat"/>
              </a:rPr>
              <a:t>(10321), 271–334. https://doi.org/10.1016/S0140-6736(21)01541-5</a:t>
            </a:r>
          </a:p>
        </p:txBody>
      </p:sp>
      <p:sp>
        <p:nvSpPr>
          <p:cNvPr id="9" name="TextBox 8"/>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Shaw, K. A., Williams, S., Patrick, M. E., et al. (2025). Prevalence and early identification of autism spectrum disorder among children aged 4 and 8 years — ADDM Network, 16 sites, United States, 2022. </a:t>
            </a:r>
            <a:r>
              <a:rPr sz="1200" b="0" i="1">
                <a:solidFill>
                  <a:srgbClr val="2E3A4A"/>
                </a:solidFill>
                <a:latin typeface="Montserrat"/>
              </a:rPr>
              <a:t>MMWR Surveillance Summaries, 74</a:t>
            </a:r>
            <a:r>
              <a:rPr sz="1200" b="0" i="0">
                <a:solidFill>
                  <a:srgbClr val="2E3A4A"/>
                </a:solidFill>
                <a:latin typeface="Montserrat"/>
              </a:rPr>
              <a:t>(SS-2), 1–22. https://doi.org/10.15585/mmwr.ss7402a1</a:t>
            </a:r>
          </a:p>
        </p:txBody>
      </p:sp>
      <p:sp>
        <p:nvSpPr>
          <p:cNvPr id="10" name="TextBox 9"/>
          <p:cNvSpPr txBox="1"/>
          <p:nvPr/>
        </p:nvSpPr>
        <p:spPr>
          <a:xfrm>
            <a:off x="1168400" y="509686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Zeidan, J., Fombonne, E., Scorah, J., et al. (2022). Global prevalence of autism: A systematic review update. </a:t>
            </a:r>
            <a:r>
              <a:rPr sz="1200" b="0" i="1">
                <a:solidFill>
                  <a:srgbClr val="2E3A4A"/>
                </a:solidFill>
                <a:latin typeface="Montserrat"/>
              </a:rPr>
              <a:t>Autism Research, 15</a:t>
            </a:r>
            <a:r>
              <a:rPr sz="1200" b="0" i="0">
                <a:solidFill>
                  <a:srgbClr val="2E3A4A"/>
                </a:solidFill>
                <a:latin typeface="Montserrat"/>
              </a:rPr>
              <a:t>(5), 778–790. https://doi.org/10.1002/aur.2696</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55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e análise funcional</a:t>
            </a:r>
          </a:p>
        </p:txBody>
      </p:sp>
      <p:sp>
        <p:nvSpPr>
          <p:cNvPr id="4" name="TextBox 3"/>
          <p:cNvSpPr txBox="1"/>
          <p:nvPr/>
        </p:nvSpPr>
        <p:spPr>
          <a:xfrm>
            <a:off x="1168400" y="174456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Baer, D. M., Wolf, M. M., &amp; Risley, T. R. (1968). Some current dimensions of applied behavior analysis. </a:t>
            </a:r>
            <a:r>
              <a:rPr sz="1200" b="0" i="1">
                <a:solidFill>
                  <a:srgbClr val="2E3A4A"/>
                </a:solidFill>
                <a:latin typeface="Montserrat"/>
              </a:rPr>
              <a:t>Journal of Applied Behavior Analysis, 1</a:t>
            </a:r>
            <a:r>
              <a:rPr sz="1200" b="0" i="0">
                <a:solidFill>
                  <a:srgbClr val="2E3A4A"/>
                </a:solidFill>
                <a:latin typeface="Montserrat"/>
              </a:rPr>
              <a:t>(1), 91–97. https://doi.org/10.1901/jaba.1968.1-91</a:t>
            </a:r>
          </a:p>
        </p:txBody>
      </p:sp>
      <p:sp>
        <p:nvSpPr>
          <p:cNvPr id="5" name="TextBox 4"/>
          <p:cNvSpPr txBox="1"/>
          <p:nvPr/>
        </p:nvSpPr>
        <p:spPr>
          <a:xfrm>
            <a:off x="1168400" y="2285504"/>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Cooper, J. O., Heron, T. E., &amp; Heward, W. L. (2020). </a:t>
            </a:r>
            <a:r>
              <a:rPr sz="1200" b="0" i="1">
                <a:solidFill>
                  <a:srgbClr val="2E3A4A"/>
                </a:solidFill>
                <a:latin typeface="Montserrat"/>
              </a:rPr>
              <a:t>Applied behavior analysis</a:t>
            </a:r>
            <a:r>
              <a:rPr sz="1200" b="0" i="0">
                <a:solidFill>
                  <a:srgbClr val="2E3A4A"/>
                </a:solidFill>
                <a:latin typeface="Montserrat"/>
              </a:rPr>
              <a:t> (3rd ed.). Pearson.</a:t>
            </a:r>
          </a:p>
        </p:txBody>
      </p:sp>
      <p:sp>
        <p:nvSpPr>
          <p:cNvPr id="6" name="TextBox 5"/>
          <p:cNvSpPr txBox="1"/>
          <p:nvPr/>
        </p:nvSpPr>
        <p:spPr>
          <a:xfrm>
            <a:off x="1168400" y="261312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(2012). Functional assessment of problem behavior: Dispelling myths, overcoming implementation obstacles, and developing new lore. </a:t>
            </a:r>
            <a:r>
              <a:rPr sz="1200" b="0" i="1">
                <a:solidFill>
                  <a:srgbClr val="2E3A4A"/>
                </a:solidFill>
                <a:latin typeface="Montserrat"/>
              </a:rPr>
              <a:t>Behavior Analysis in Practice, 5</a:t>
            </a:r>
            <a:r>
              <a:rPr sz="1200" b="0" i="0">
                <a:solidFill>
                  <a:srgbClr val="2E3A4A"/>
                </a:solidFill>
                <a:latin typeface="Montserrat"/>
              </a:rPr>
              <a:t>(1), 54–72. https://doi.org/10.1007/BF03391818</a:t>
            </a:r>
          </a:p>
        </p:txBody>
      </p:sp>
      <p:sp>
        <p:nvSpPr>
          <p:cNvPr id="7" name="TextBox 6"/>
          <p:cNvSpPr txBox="1"/>
          <p:nvPr/>
        </p:nvSpPr>
        <p:spPr>
          <a:xfrm>
            <a:off x="1168400" y="315406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Iwata, B. A., &amp; McCord, B. E. (2003). Functional analysis of problem behavior: A review. </a:t>
            </a:r>
            <a:r>
              <a:rPr sz="1200" b="0" i="1">
                <a:solidFill>
                  <a:srgbClr val="2E3A4A"/>
                </a:solidFill>
                <a:latin typeface="Montserrat"/>
              </a:rPr>
              <a:t>Journal of Applied Behavior Analysis, 36</a:t>
            </a:r>
            <a:r>
              <a:rPr sz="1200" b="0" i="0">
                <a:solidFill>
                  <a:srgbClr val="2E3A4A"/>
                </a:solidFill>
                <a:latin typeface="Montserrat"/>
              </a:rPr>
              <a:t>(2), 147–185. https://doi.org/10.1901/jaba.2003.36-147</a:t>
            </a:r>
          </a:p>
        </p:txBody>
      </p:sp>
      <p:sp>
        <p:nvSpPr>
          <p:cNvPr id="8" name="TextBox 7"/>
          <p:cNvSpPr txBox="1"/>
          <p:nvPr/>
        </p:nvSpPr>
        <p:spPr>
          <a:xfrm>
            <a:off x="1168400" y="369500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Jin, C. S., Vanselow, N. R., &amp; Hanratty, L. A. (2014). Producing meaningful improvements in problem behavior of children with autism via synthesized analyses and treatments. </a:t>
            </a:r>
            <a:r>
              <a:rPr sz="1200" b="0" i="1">
                <a:solidFill>
                  <a:srgbClr val="2E3A4A"/>
                </a:solidFill>
                <a:latin typeface="Montserrat"/>
              </a:rPr>
              <a:t>Journal of Applied Behavior Analysis, 47</a:t>
            </a:r>
            <a:r>
              <a:rPr sz="1200" b="0" i="0">
                <a:solidFill>
                  <a:srgbClr val="2E3A4A"/>
                </a:solidFill>
                <a:latin typeface="Montserrat"/>
              </a:rPr>
              <a:t>(1), 16–36. https://doi.org/10.1002/jaba.106</a:t>
            </a:r>
          </a:p>
        </p:txBody>
      </p:sp>
      <p:sp>
        <p:nvSpPr>
          <p:cNvPr id="9" name="TextBox 8"/>
          <p:cNvSpPr txBox="1"/>
          <p:nvPr/>
        </p:nvSpPr>
        <p:spPr>
          <a:xfrm>
            <a:off x="1168400" y="44492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Iwata, B. A., Dorsey, M. F., Slifer, K. J., Bauman, K. E., &amp; Richman, G. S. (1994). Toward a functional analysis of self-injury. </a:t>
            </a:r>
            <a:r>
              <a:rPr sz="1200" b="0" i="1">
                <a:solidFill>
                  <a:srgbClr val="2E3A4A"/>
                </a:solidFill>
                <a:latin typeface="Montserrat"/>
              </a:rPr>
              <a:t>Journal of Applied Behavior Analysis, 27</a:t>
            </a:r>
            <a:r>
              <a:rPr sz="1200" b="0" i="0">
                <a:solidFill>
                  <a:srgbClr val="2E3A4A"/>
                </a:solidFill>
                <a:latin typeface="Montserrat"/>
              </a:rPr>
              <a:t>(2), 197–209. https://doi.org/10.1901/jaba.1994.27-197 (Original publicado em 1982)</a:t>
            </a:r>
          </a:p>
        </p:txBody>
      </p:sp>
      <p:sp>
        <p:nvSpPr>
          <p:cNvPr id="10" name="TextBox 9"/>
          <p:cNvSpPr txBox="1"/>
          <p:nvPr/>
        </p:nvSpPr>
        <p:spPr>
          <a:xfrm>
            <a:off x="1168400" y="499020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Laraway, S., Snycerski, S., Michael, J., &amp; Poling, A. (2003). Motivating operations and terms to describe them: Some further refinements. </a:t>
            </a:r>
            <a:r>
              <a:rPr sz="1200" b="0" i="1">
                <a:solidFill>
                  <a:srgbClr val="2E3A4A"/>
                </a:solidFill>
                <a:latin typeface="Montserrat"/>
              </a:rPr>
              <a:t>Journal of Applied Behavior Analysis, 36</a:t>
            </a:r>
            <a:r>
              <a:rPr sz="1200" b="0" i="0">
                <a:solidFill>
                  <a:srgbClr val="2E3A4A"/>
                </a:solidFill>
                <a:latin typeface="Montserrat"/>
              </a:rPr>
              <a:t>(3), 407–414. https://doi.org/10.1901/jaba.2003.36-407</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5721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TCC e intervenção</a:t>
            </a:r>
          </a:p>
        </p:txBody>
      </p:sp>
      <p:sp>
        <p:nvSpPr>
          <p:cNvPr id="4" name="TextBox 3"/>
          <p:cNvSpPr txBox="1"/>
          <p:nvPr/>
        </p:nvSpPr>
        <p:spPr>
          <a:xfrm>
            <a:off x="1168400" y="1851223"/>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Beck, J. S. (2021). </a:t>
            </a:r>
            <a:r>
              <a:rPr sz="1200" b="0" i="1">
                <a:solidFill>
                  <a:srgbClr val="2E3A4A"/>
                </a:solidFill>
                <a:latin typeface="Montserrat"/>
              </a:rPr>
              <a:t>Cognitive behavior therapy: Basics and beyond</a:t>
            </a:r>
            <a:r>
              <a:rPr sz="1200" b="0" i="0">
                <a:solidFill>
                  <a:srgbClr val="2E3A4A"/>
                </a:solidFill>
                <a:latin typeface="Montserrat"/>
              </a:rPr>
              <a:t> (3rd ed.). Guilford Press.</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Carr, E. G., &amp; Durand, V. M. (1985). Reducing behavior problems through functional communication training. </a:t>
            </a:r>
            <a:r>
              <a:rPr sz="1200" b="0" i="1">
                <a:solidFill>
                  <a:srgbClr val="2E3A4A"/>
                </a:solidFill>
                <a:latin typeface="Montserrat"/>
              </a:rPr>
              <a:t>Journal of Applied Behavior Analysis, 18</a:t>
            </a:r>
            <a:r>
              <a:rPr sz="1200" b="0" i="0">
                <a:solidFill>
                  <a:srgbClr val="2E3A4A"/>
                </a:solidFill>
                <a:latin typeface="Montserrat"/>
              </a:rPr>
              <a:t>(2), 111–126. https://doi.org/10.1901/jaba.1985.18-111</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Hayes, S. C., &amp; Hofmann, S. G. (2017). The third wave of cognitive behavioral therapy and the rise of process-based care. </a:t>
            </a:r>
            <a:r>
              <a:rPr sz="1200" b="0" i="1">
                <a:solidFill>
                  <a:srgbClr val="2E3A4A"/>
                </a:solidFill>
                <a:latin typeface="Montserrat"/>
              </a:rPr>
              <a:t>World Psychiatry, 16</a:t>
            </a:r>
            <a:r>
              <a:rPr sz="1200" b="0" i="0">
                <a:solidFill>
                  <a:srgbClr val="2E3A4A"/>
                </a:solidFill>
                <a:latin typeface="Montserrat"/>
              </a:rPr>
              <a:t>(3), 245–246. https://doi.org/10.1002/wps.20442</a:t>
            </a:r>
          </a:p>
        </p:txBody>
      </p:sp>
      <p:sp>
        <p:nvSpPr>
          <p:cNvPr id="7" name="TextBox 6"/>
          <p:cNvSpPr txBox="1"/>
          <p:nvPr/>
        </p:nvSpPr>
        <p:spPr>
          <a:xfrm>
            <a:off x="1168400" y="326072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Hume, K., Steinbrenner, J. R., Odom, S. L., et al. (2021). Evidence-based practices for children, youth, and young adults with autism: Third generation review. </a:t>
            </a:r>
            <a:r>
              <a:rPr sz="1200" b="0" i="1">
                <a:solidFill>
                  <a:srgbClr val="2E3A4A"/>
                </a:solidFill>
                <a:latin typeface="Montserrat"/>
              </a:rPr>
              <a:t>Journal of Autism and Developmental Disorders, 51</a:t>
            </a:r>
            <a:r>
              <a:rPr sz="1200" b="0" i="0">
                <a:solidFill>
                  <a:srgbClr val="2E3A4A"/>
                </a:solidFill>
                <a:latin typeface="Montserrat"/>
              </a:rPr>
              <a:t>(11), 4013–4032. https://doi.org/10.1007/s10803-020-04844-2</a:t>
            </a:r>
          </a:p>
        </p:txBody>
      </p:sp>
      <p:sp>
        <p:nvSpPr>
          <p:cNvPr id="8" name="TextBox 7"/>
          <p:cNvSpPr txBox="1"/>
          <p:nvPr/>
        </p:nvSpPr>
        <p:spPr>
          <a:xfrm>
            <a:off x="1168400" y="4014986"/>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Skinner, B. F. (1953). </a:t>
            </a:r>
            <a:r>
              <a:rPr sz="1200" b="0" i="1">
                <a:solidFill>
                  <a:srgbClr val="2E3A4A"/>
                </a:solidFill>
                <a:latin typeface="Montserrat"/>
              </a:rPr>
              <a:t>Science and human behavior</a:t>
            </a:r>
            <a:r>
              <a:rPr sz="1200" b="0" i="0">
                <a:solidFill>
                  <a:srgbClr val="2E3A4A"/>
                </a:solidFill>
                <a:latin typeface="Montserrat"/>
              </a:rPr>
              <a:t>. Macmillan.</a:t>
            </a:r>
          </a:p>
        </p:txBody>
      </p:sp>
      <p:sp>
        <p:nvSpPr>
          <p:cNvPr id="9" name="TextBox 8"/>
          <p:cNvSpPr txBox="1"/>
          <p:nvPr/>
        </p:nvSpPr>
        <p:spPr>
          <a:xfrm>
            <a:off x="1168400" y="434260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Tiger, J. H., Hanley, G. P., &amp; Bruzek, J. (2008). Functional communication training: A review and practical guide. </a:t>
            </a:r>
            <a:r>
              <a:rPr sz="1200" b="0" i="1">
                <a:solidFill>
                  <a:srgbClr val="2E3A4A"/>
                </a:solidFill>
                <a:latin typeface="Montserrat"/>
              </a:rPr>
              <a:t>Behavior Analysis in Practice, 1</a:t>
            </a:r>
            <a:r>
              <a:rPr sz="1200" b="0" i="0">
                <a:solidFill>
                  <a:srgbClr val="2E3A4A"/>
                </a:solidFill>
                <a:latin typeface="Montserrat"/>
              </a:rPr>
              <a:t>(1), 16–23. https://doi.org/10.1007/BF03391716</a:t>
            </a:r>
          </a:p>
        </p:txBody>
      </p:sp>
      <p:sp>
        <p:nvSpPr>
          <p:cNvPr id="10" name="TextBox 9"/>
          <p:cNvSpPr txBox="1"/>
          <p:nvPr/>
        </p:nvSpPr>
        <p:spPr>
          <a:xfrm>
            <a:off x="1168400" y="488354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Wood, J. J., Kendall, P. C., Wood, K. S., et al. (2020). Cognitive behavioral treatments for anxiety in children with autism spectrum disorder: A randomized clinical trial. </a:t>
            </a:r>
            <a:r>
              <a:rPr sz="1200" b="0" i="1">
                <a:solidFill>
                  <a:srgbClr val="2E3A4A"/>
                </a:solidFill>
                <a:latin typeface="Montserrat"/>
              </a:rPr>
              <a:t>JAMA Psychiatry, 77</a:t>
            </a:r>
            <a:r>
              <a:rPr sz="1200" b="0" i="0">
                <a:solidFill>
                  <a:srgbClr val="2E3A4A"/>
                </a:solidFill>
                <a:latin typeface="Montserrat"/>
              </a:rPr>
              <a:t>(5), 474–483. https://doi.org/10.1001/jamapsychiatry.2019.4160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5530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estratégias naturalistas e evidência</a:t>
            </a:r>
          </a:p>
        </p:txBody>
      </p:sp>
      <p:sp>
        <p:nvSpPr>
          <p:cNvPr id="4" name="TextBox 3"/>
          <p:cNvSpPr txBox="1"/>
          <p:nvPr/>
        </p:nvSpPr>
        <p:spPr>
          <a:xfrm>
            <a:off x="1168400" y="244931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S., et al. (2020). Project AIM: Autism intervention meta-analysis for studies of young children. </a:t>
            </a:r>
            <a:r>
              <a:rPr sz="1200" b="0" i="1">
                <a:solidFill>
                  <a:srgbClr val="2E3A4A"/>
                </a:solidFill>
                <a:latin typeface="Montserrat"/>
              </a:rPr>
              <a:t>Psychological Bulletin, 146</a:t>
            </a:r>
            <a:r>
              <a:rPr sz="1200" b="0" i="0">
                <a:solidFill>
                  <a:srgbClr val="2E3A4A"/>
                </a:solidFill>
                <a:latin typeface="Montserrat"/>
              </a:rPr>
              <a:t>(1), 1–29. https://doi.org/10.1037/bul0000215</a:t>
            </a:r>
          </a:p>
        </p:txBody>
      </p:sp>
      <p:sp>
        <p:nvSpPr>
          <p:cNvPr id="5" name="TextBox 4"/>
          <p:cNvSpPr txBox="1"/>
          <p:nvPr/>
        </p:nvSpPr>
        <p:spPr>
          <a:xfrm>
            <a:off x="1168400" y="299025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LaPoint, S., et al. (2023). Autism intervention meta-analysis of early childhood studies (Project AIM): Updated systematic review and secondary analysis. </a:t>
            </a:r>
            <a:r>
              <a:rPr sz="1200" b="0" i="1">
                <a:solidFill>
                  <a:srgbClr val="2E3A4A"/>
                </a:solidFill>
                <a:latin typeface="Montserrat"/>
              </a:rPr>
              <a:t>BMJ, 383</a:t>
            </a:r>
            <a:r>
              <a:rPr sz="1200" b="0" i="0">
                <a:solidFill>
                  <a:srgbClr val="2E3A4A"/>
                </a:solidFill>
                <a:latin typeface="Montserrat"/>
              </a:rPr>
              <a:t>, e076733. https://doi.org/10.1136/bmj-2023-076733</a:t>
            </a:r>
          </a:p>
        </p:txBody>
      </p:sp>
      <p:sp>
        <p:nvSpPr>
          <p:cNvPr id="6" name="TextBox 5"/>
          <p:cNvSpPr txBox="1"/>
          <p:nvPr/>
        </p:nvSpPr>
        <p:spPr>
          <a:xfrm>
            <a:off x="1168400" y="353119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Schreibman, L., Dawson, G., Stahmer, A. C., et al. (2015). Naturalistic developmental behavioral interventions: Empirically validated treatments for autism spectrum disorder. </a:t>
            </a:r>
            <a:r>
              <a:rPr sz="1200" b="0" i="1">
                <a:solidFill>
                  <a:srgbClr val="2E3A4A"/>
                </a:solidFill>
                <a:latin typeface="Montserrat"/>
              </a:rPr>
              <a:t>Journal of Autism and Developmental Disorders, 45</a:t>
            </a:r>
            <a:r>
              <a:rPr sz="1200" b="0" i="0">
                <a:solidFill>
                  <a:srgbClr val="2E3A4A"/>
                </a:solidFill>
                <a:latin typeface="Montserrat"/>
              </a:rPr>
              <a:t>(8), 2411–2428. https://doi.org/10.1007/s10803-015-2407-8</a:t>
            </a:r>
          </a:p>
        </p:txBody>
      </p:sp>
      <p:sp>
        <p:nvSpPr>
          <p:cNvPr id="7" name="TextBox 6"/>
          <p:cNvSpPr txBox="1"/>
          <p:nvPr/>
        </p:nvSpPr>
        <p:spPr>
          <a:xfrm>
            <a:off x="1168400" y="428545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Stokes, T. F., &amp; Baer, D. M. (1977). An implicit technology of generalization. </a:t>
            </a:r>
            <a:r>
              <a:rPr sz="1200" b="0" i="1">
                <a:solidFill>
                  <a:srgbClr val="2E3A4A"/>
                </a:solidFill>
                <a:latin typeface="Montserrat"/>
              </a:rPr>
              <a:t>Journal of Applied Behavior Analysis, 10</a:t>
            </a:r>
            <a:r>
              <a:rPr sz="1200" b="0" i="0">
                <a:solidFill>
                  <a:srgbClr val="2E3A4A"/>
                </a:solidFill>
                <a:latin typeface="Montserrat"/>
              </a:rPr>
              <a:t>(2), 349–367. https://doi.org/10.1901/jaba.1977.10-349</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83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ética e assentimento</a:t>
            </a:r>
          </a:p>
        </p:txBody>
      </p:sp>
      <p:sp>
        <p:nvSpPr>
          <p:cNvPr id="4" name="TextBox 3"/>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Behavior Analyst Certification Board. (2020). </a:t>
            </a:r>
            <a:r>
              <a:rPr sz="1200" b="0" i="1">
                <a:solidFill>
                  <a:srgbClr val="2E3A4A"/>
                </a:solidFill>
                <a:latin typeface="Montserrat"/>
              </a:rPr>
              <a:t>Ethics code for behavior analysts</a:t>
            </a:r>
            <a:r>
              <a:rPr sz="1200" b="0" i="0">
                <a:solidFill>
                  <a:srgbClr val="2E3A4A"/>
                </a:solidFill>
                <a:latin typeface="Montserrat"/>
              </a:rPr>
              <a:t>. https://bacb.com/wp-content/ethics-code-for-behavior-analysts/</a:t>
            </a:r>
          </a:p>
        </p:txBody>
      </p:sp>
      <p:sp>
        <p:nvSpPr>
          <p:cNvPr id="5" name="TextBox 4"/>
          <p:cNvSpPr txBox="1"/>
          <p:nvPr/>
        </p:nvSpPr>
        <p:spPr>
          <a:xfrm>
            <a:off x="1168400" y="2719784"/>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Breaux, C. A., &amp; Smith, K. (2023).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(1), 111–121. https://doi.org/10.1080/20473869.2022.2144969</a:t>
            </a:r>
          </a:p>
        </p:txBody>
      </p:sp>
      <p:sp>
        <p:nvSpPr>
          <p:cNvPr id="6" name="TextBox 5"/>
          <p:cNvSpPr txBox="1"/>
          <p:nvPr/>
        </p:nvSpPr>
        <p:spPr>
          <a:xfrm>
            <a:off x="1168400" y="3474045"/>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Conselho Federal de Psicologia. (2005). </a:t>
            </a:r>
            <a:r>
              <a:rPr sz="1200" b="0" i="1">
                <a:solidFill>
                  <a:srgbClr val="2E3A4A"/>
                </a:solidFill>
                <a:latin typeface="Montserrat"/>
              </a:rPr>
              <a:t>Código de ética profissional do psicólogo</a:t>
            </a:r>
            <a:r>
              <a:rPr sz="1200" b="0" i="0">
                <a:solidFill>
                  <a:srgbClr val="2E3A4A"/>
                </a:solidFill>
                <a:latin typeface="Montserrat"/>
              </a:rPr>
              <a:t> (Resolução CFP nº 010/2005).</a:t>
            </a:r>
          </a:p>
        </p:txBody>
      </p:sp>
      <p:sp>
        <p:nvSpPr>
          <p:cNvPr id="7" name="TextBox 6"/>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Leaf, J. B., Cihon, J. H., Leaf, R., et al. (2022). Concerns about ABA-based intervention: An evaluation and recommendations. </a:t>
            </a:r>
            <a:r>
              <a:rPr sz="1200" b="0" i="1">
                <a:solidFill>
                  <a:srgbClr val="2E3A4A"/>
                </a:solidFill>
                <a:latin typeface="Montserrat"/>
              </a:rPr>
              <a:t>Journal of Autism and Developmental Disorders, 52</a:t>
            </a:r>
            <a:r>
              <a:rPr sz="1200" b="0" i="0">
                <a:solidFill>
                  <a:srgbClr val="2E3A4A"/>
                </a:solidFill>
                <a:latin typeface="Montserrat"/>
              </a:rPr>
              <a:t>(6), 2838–2853. https://doi.org/10.1007/s10803-021-05137-y</a:t>
            </a:r>
          </a:p>
        </p:txBody>
      </p:sp>
      <p:sp>
        <p:nvSpPr>
          <p:cNvPr id="8" name="TextBox 7"/>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Newcomb, E. T., &amp; Wine, B. (2023). A brief response to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(4), 628–629. https://doi.org/10.1080/20473869.2023.2206686</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ABA e TEA — LACC</dc:title>
  <dc:subject/>
  <dc:creator>Betina Binatti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