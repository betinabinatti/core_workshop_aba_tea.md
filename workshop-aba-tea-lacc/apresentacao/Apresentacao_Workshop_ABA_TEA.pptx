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Título provisório. Cumprimentar e esperar cerca de 1 minuto por quem está chegando. Tempo do slide: 0,5 min (9h30).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Usar apenas estas informações, sem acrescentar títulos, registros ou certificações. Ligar a experiência de supervisão ao tema da manhã: tomada de decisão clínica. Tempo: 1,5 min.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Versão resumida dos objetivos O1 a O7. Dizer que os itens 2, 3 e 4 (em destaque) são o coração do encontro. Tempo: 2 min.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Dizer isso logo no início evita expectativas erradas e já introduz o objetivo 7 (limites de atuação). Tempo: 1 min.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Explicar brevemente a escolha de linguagem, com base em pesquisa sobre linguagem capacitista (Bottema-Beutel et al., 2021). Se alguém trouxer um caso real, acolher e redirecionar para princípios gerais e supervisão. Tempo: 1 min.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Coletar 4 a 6 respostas oralmente e ANOTÁ-LAS para retomar no slide 22. Respostas esperadas: quer continuar brincando; não quer fazer a tarefa; quer atenção; excesso sensorial; cansaço. Não corrigir agora. Dizer: "Vamos voltar a essas respostas daqui a pouco." Tempo: 4 min (até 9h40).</a:t>
            </a:r>
          </a:p>
          <a:p/>
          <a:p>
            <a:r>
              <a:t>RESPOSTAS: não há resposta certa agora; cada resposta é uma hipótese. 'Quer continuar brincando' = acesso a item/atividade. 'Não quer a próxima tarefa' = fuga/esquiva da demanda. 'Quer atenção' = acesso a atenção. 'O barulho/a mudança incomoda' = fuga de estímulo ou variável de contexto. 'Está cansada/dormiu mal' = variável contextual (operação motivadora), NÃO é função. 'É birra/manha' = rótulo, não explica o que mantém o comportamento.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manual usa o termo "déficits"; o slide usa "diferenças" por coerência com a linguagem do workshop. Ao falar, mencionar que o texto diagnóstico usa "déficits". No domínio B, citar as quatro formas (movimentos, fala ou uso de objetos estereotipados; insistência na mesmice; interesses restritos e intensos; hiper ou hiporreatividade sensorial), das quais pelo menos duas são necessárias. Conferir a redação na edição em uso. Tempo: 3 min (início do Bloco 1, 9h40).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Os níveis descrevem necessidade de apoio, não "grau de autismo" nem valor da pessoa. O nível pode variar entre domínios e ao longo do tempo. Conferir a nomenclatura exata da tradução em uso. Tempo: 2 min.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Exemplo fictício, oral: uma criança de 4 anos que ainda não fala e um adulto que trabalha como programador podem ter o mesmo diagnóstico. A Comissão do Lancet enfatiza intervenções ajustadas a necessidades heterogêneas. Se surgir o termo "autismo profundo", apresentá-lo como proposta debatida. Tempo: 3 min.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dado de 1 em 31 é dos EUA; não apresentar como dado do Brasil nem do mundo. O próprio relatório do CDC atribui o aumento recente, provavelmente, a maior acesso a avaliações em grupos antes subatendidos; a variação entre regiões reflete também práticas de identificação. Tempo: 2 min.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Kapp et al. (2013) encontraram sobreposição entre a perspectiva médica e a da neurodiversidade e propõem ler "déficit como diferença". Bottema-Beutel et al. (2021) mostram como a linguagem pode reproduzir capacitismo. Tempo: 3 min.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Ouvir 2 a 3 respostas. Fechar: intervir quando há ganho para comunicação, aprendizagem, participação, autonomia, segurança ou qualidade de vida, com objetivos definidos junto à família e, sempre que possível, à própria pessoa. Transição: "Para decidir o que ensinar e como, a ABA propõe olhar para a relação entre comportamento e ambiente." Tempo: 2 min (até 9h55).</a:t>
            </a:r>
          </a:p>
          <a:p/>
          <a:p>
            <a:r>
              <a:t>RESPOSTAS: intervir se justifica quando há ganho real para a vida da pessoa: comunicação (pedir, recusar, se expressar), aprendizagem e participação (escola, casa, comunidade), autonomia, segurança (comportamento que machuca a pessoa ou outros) e qualidade de vida. Objetivos definidos com a família e, sempre que possível, com a pessoa. Características autistas inofensivas (estereotipias sem dano, interesses intensos) não são alvo por si só.</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de respostas: mostrar depois que a turma responder.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Exemplos orais: "aplicada" = foca em comportamentos socialmente relevantes para a pessoa; "analítica" = demonstra que a mudança se deve à intervenção; "generalidade" = a mudança se mantém e aparece em outros contextos. Desfazer a ideia de ABA como "método" único ou sinônimo de mesa e repetição. Tempo: 4 min (início do Bloco 2, 9h55).</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estudo clássico de Iwata et al., participantes com a mesma forma de comportamento (autolesão) mostraram padrões diferentes conforme as condições testadas. Esta é a ideia-âncora do workshop. Outro exemplo: "chorar" e "sair correndo" podem produzir o mesmo efeito (a tarefa ser retirada). Tempo: 4 min.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Pedir que o público evite descrever o comportamento com interpretações ("birra", "crise", "manha"). Uma boa descrição permite que dois observadores concordem. Tempo: 2 min.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Sono e cansaço não são funções; são variáveis que mudam o valor das consequências. Erro comum na vinheta. Tempo: 2 min.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adulto que devolve o tablet "para acalmar" não pretende reforçar o grito, mas pode estar reforçando. Reforçamento é definido pelo efeito no comportamento futuro, não pela intenção de quem reage. Tempo: 3 min.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revisão de Hanley et al. (2003) mostra como essas categorias foram estudadas em centenas de análises funcionais. Hanley et al. (2014) ilustram funções sintetizadas (mais de uma consequência ao mesmo tempo). Tempo: 3 min.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Formar duplas com quem está ao lado. Projetar o slide 20 logo em seguida. Tempo: 0,5 min (10h13).</a:t>
            </a:r>
          </a:p>
          <a:p/>
          <a:p>
            <a:r>
              <a:t>RESPOSTAS: ver slide 21. Desafio: dar um tempo fora da atividade SEM atenção ajuda na situação 1 (o comportamento deixa de produzir atenção), mas piora a 2 (a criança escapa da tarefa). Se o tempo fora tiver conversa ou consolo, também reforça a situação 1. Devolver o tablet 'para acalmar' reduz o choro na hora, mas fortalece o comportamento nas próximas vezes (situação 3). O acerto é justificar pela consequência.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Circular pela sala; avisar quando faltar 1 minuto. Tempo: 4,5 min.</a:t>
            </a:r>
          </a:p>
          <a:p/>
          <a:p>
            <a:r>
              <a:t>RESPOSTAS: 1 = atenção (a terapeuta volta e conversa). 2 = fuga da demanda (a folha é guardada). 3 = acesso a item (o tablet volta).</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Destacar que "dar um tempo fora da atividade" poderia ajudar em um caso e fortalecer o comportamento em outro (na situação 2, a criança deixaria de fazer a tarefa). Mencionar o reforçamento automático como quarta hipótese, ausente de propósito. Responder ao desafio. Tempo: 1,5 min (10h18).</a:t>
            </a:r>
          </a:p>
          <a:p/>
          <a:p>
            <a:r>
              <a:t>RESPOSTAS - o que observar para testar: Situação 1 (atenção): acontece quando a atenção é retirada mesmo sem tarefa? Diminui quando a criança recebe atenção com frequência, independentemente do comportamento? Situação 2 (fuga): acontece com qualquer tarefa ou só com as difíceis/longas? Continua se a tarefa é mantida? Situação 3 (item): acontece quando outros itens preferidos são retirados? Desafio: tempo fora sem atenção ajuda na 1 e piora a 2.</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de respostas: mostrar depois que a turma responder.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Ler 2 a 3 respostas anotadas no slide 6 e classificá-las rapidamente (ex.: "quer continuar brincando" = acesso a item; "não quer a tarefa" = fuga). Transição: "Vocês estudam TCC. Onde essas ideias se aproximam e onde se afastam do que vocês já conhecem?" Tempo: 0,5 min (até 10h20).</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aproximação é real, mas não torna as abordagens equivalentes. Síntese conceitual, sem referência específica. Tempo: 2,5 min (início do Bloco 3, 10h20).</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Não dizer que a análise funcional é "análise de pensamentos", nem que reestruturação cognitiva é "técnica ABA". Opcional, só falado: na pesquisa, a ABA usa muito delineamentos de sujeito único e a TCC, ensaios randomizados de protocolos — como tendência, não regra. Tempo: 4 min.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TCC adaptada do estudo de Wood et al. incorporou componentes de comunicação social e técnicas analítico-comportamentais. Sobre a "terceira onda" (ex.: ACT), só se perguntarem: descrita como parte da transição para um cuidado baseado em processos (Hayes &amp;amp; Hofmann, 2017). Tempo: 1,5 min.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Respostas esperadas. ABA: em que condições a esquiva ocorre e o que ela produz? TCC: que pensamentos e crenças sobre interações sociais estão presentes? Fechar: as duas leituras podem informar o caso, mas diferem no estatuto dos pensamentos e no tipo de intervenção. Tempo: 2 min (até 10h30).</a:t>
            </a:r>
          </a:p>
          <a:p/>
          <a:p>
            <a:r>
              <a:t>RESPOSTAS: Analista do comportamento: em que situações a esquiva acontece (grupo, barulho, tipo de tarefa)? O que acontece depois (sai do grupo, vai para outro lugar)? O que mantém o comportamento? A fala 'tenho medo de falar algo errado' também é comportamento, entendido pela história e pelo contexto. Terapeuta cognitivo-comportamental: que pensamentos automáticos e crenças ela tem sobre interações ('vou falar algo errado', 'vão rir de mim') e como influenciam a ansiedade e a esquiva? Fechamento: as duas leituras ajudam, mas não são equivalentes.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de respostas: mostrar depois que a turma responder.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Deixar projetado durante todo o intervalo (10h30 às 10h45).</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Essa sequência é o que separa hipótese de conclusão. Hanley (2012) discute mitos e obstáculos à análise funcional e o que pode ser compartilhado com outros profissionais. Ligar ao objetivo 7: estudantes não conduzem essas avaliações sem formação e supervisão. Tempo: 4 min (início do Bloco 4, 10h45).</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estratégia age sobre antecedentes ou operações motivadoras. A mesma estratégia pode ser útil para uma função e inócua para outra: avisar a transição ajuda pouco se a função é fuga de uma tarefa difícil demais. Intervenções antecedentes estão entre as práticas com critério de evidência (Hume et al., 2021). Tempo: 3 min.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FCT é uma das intervenções mais usadas e eficazes para comportamentos interferentes graves (Tiger et al., 2008). O estudo original mostrou redução replicada dos comportamentos com o ensino de respostas comunicativas equivalentes (Carr &amp;amp; Durand, 1985). O passo 4 aparece, por exemplo, no tratamento descrito por Hanley et al. (2014). O mesmo procedimento ensina pedidos diferentes conforme a função: por isso a avaliação vem antes. Tempo: 4 min.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Reforçar que interesses intensos (ex.: trens) são recursos de ensino, não problemas. Nota de rigor: em meta-análise, os efeitos positivos dependem muito da qualidade dos estudos considerados (Sandbank et al., 2020). Tempo: 1,5 min.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Generalização é programada, não esperada (Stokes &amp;amp; Baer, 1977). Tempo: 1,5 min.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Assentimento: concordância de quem não pode consentir legalmente; prática baseada em assentimento é tema em debate ativo (Breaux &amp;amp; Smith, 2023; Newcomb &amp;amp; Wine, 2023). A literatura de intervenção precoce ainda monitora pouco os efeitos adversos (Sandbank et al., 2023). Críticas à ABA existem e merecem ser levadas a sério; parte da própria área propõe respostas (Leaf et al., 2022 — os autores declararam conflito de interesses). Limites: no Brasil, Código de Ética do CFP; código do BACB como referência internacional. Tempo: 4 min (até 11h03).</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Numerar os grupos em voz alta antes de projetar a vinheta. Se houver só 1 ou 2 grupos, cada um responde P1 a P4 mais as perguntas 5 e 6. Tempo: 2 min (início do Bloco 5, 11h03).</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vídeo tem som (música e efeitos): conferir caixa de som antes. No artefato, o vídeo está no próprio slide: clique nele para começar (toca com som). No PDF não há vídeo: usar o arquivo Video_Theo_animacao.mp4 (pasta apresentacao) à parte. Exibir uma vez, dentro dos 2 minutos de instruções. Depois do vídeo: "Vocês viram UM episódio. Agora vejam o que a equipe registrou em quatro semanas" e projetar a vinheta. Na plenária, pergunta opcional: "O que mantém o comportamento da terapeuta?" (devolver os trilhos encerra o grito e alivia o adulto). Se o vídeo não estiver disponível ou não funcionar, pular este slide: a atividade funciona só com o texto.</a:t>
            </a:r>
          </a:p>
          <a:p/>
          <a:p>
            <a:r>
              <a:t>RESPOSTAS DO VÍDEO: Antes = a terapeuta guarda os trilhos na caixa e aponta a mesa ('Agora acabou. Vamos para a mesa.'). O que ele faz = grita, se joga no chão e chuta o ar. Depois = a terapeuta fica sem saber o que fazer e devolve os trilhos; ele volta a brincar. Pergunta extra: devolver os trilhos faz o grito parar e alivia a terapeuta; esse alívio pode reforçar o ato de devolver (reforçamento negativo do adulto) e manter o ciclo.</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de respostas: mostrar depois que a turma responder.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Ler em voz alta uma vez (cerca de 1,5 min, com o slide seguinte). Circular entre os grupos. Avisar aos 5 min ("passem para a pergunta do rodízio") e quando faltar 1 min. Os slides 35, 35b e 36 ficam alternados durante os 10 min de trabalho em grupo.</a:t>
            </a:r>
          </a:p>
          <a:p/>
          <a:p>
            <a:r>
              <a:t>RESPOSTAS P1 e P2: P1 = grita, se joga no chão e chuta o ar, por 3 a 8 minutos, em 11 de 12 sessões. Evitar 'birra', 'crise', 'surto', 'manha', 'desregulado' (supõem intenção ou estado que não observamos). P2 = antecedentes: 'agora acabou, vamos para a mesa', retirada dos trilhos, apresentação da mesa. Contexto: sono ruim, troca de terapeuta, previsibilidade (cartão e aviso: só 3 sessões, é indício). Sono e troca de terapeuta NÃO são funções.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Continuação da vinheta. O cartão "primeiro → depois" foi registrado em só 3 sessões: é indício, não conclusão.</a:t>
            </a:r>
          </a:p>
          <a:p/>
          <a:p>
            <a:r>
              <a:t>RESPOSTAS P3: trilhos devolvidos 'por mais cinco minutos'; mesa adiada; em algumas sessões a mesa foi mantida; possível atenção durante o episódio. Como o comportamento às vezes 'funciona' e às vezes não, tende a ser mais persistente.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Alternar com os slides da vinheta. Ao circular: grupos que listam hipóteses sem dados estão reconhecendo categorias; pergunte "que trecho da vinheta sustenta isso?". Para grupos que terminarem antes: slide R2 (dado novo) ou R1 (Lara). A antiga pergunta 5 (como distinguir as hipóteses) foi retirada; as perguntas 5 e 6 de agora são a estratégia e o dilema.</a:t>
            </a:r>
          </a:p>
          <a:p/>
          <a:p>
            <a:r>
              <a:t>RESPOSTAS 4 (dado que ajuda / dado que atrapalha): H1 acesso aos trilhos: a favor = acontece quando os trilhos são guardados, às vezes voltam, em casa ao desligar a TV; contra = no lanche os trilhos também foram guardados e não houve episódio. H2 fuga da mesa: a favor = não acontece quando o próximo é o lanche, às vezes a mesa é adiada; contra = em casa o antecedente é o banho. H3 as duas juntas: os antecedentes acontecem juntos e as consequências se alternam. H4 atenção: pouco apoio nos dados. O LANCHE é a pista principal: enfraquece H1, fortalece H2/H3, mas não descarta H1.</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de respostas: mostrar depois que a turma responder.</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de respostas: mostrar depois que a turma responder.</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de respostas: mostrar depois que a turma responder.</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de respostas: mostrar depois que a turma responder.</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Seguir a ordem: comportamento (1 min, turma) · antes e depois (1 min) · explicações possíveis com dado que ajuda e dado que atrapalha (2 min, dois grupos; destacar o lanche) · o que fazer e o risco de errar a explicação (2 min, grupos da pergunta 5) · dilema dos trilhos (1,5 min, grupos da pergunta 6) · fechamento relendo o aviso (0,5 min). Mostrar os slides de respostas 36a a 36d conforme cada pergunta for discutida. Tempo: 8 min (até 11h23).</a:t>
            </a:r>
          </a:p>
          <a:p/>
          <a:p>
            <a:r>
              <a:t>RESPOSTAS 5: estratégia para a explicação 'trilhos' ('primeiro mesa, depois trem'; ensinar a pedir 'mais trem' e a esperar) tem pouco efeito se a explicação real for fugir da mesa; estratégia para 'fugir da mesa' (tarefa curta, tema de trem; ensinar a pedir 'pausa') não resolve se for 'trilhos'; adiar a mesa quando ele grita FORTALECE o comportamento. Errar a explicação pode ensinar o contrário. RESPOSTAS 6: acolher a mãe e argumentar: o interesse não é o problema e pode ser recurso de ensino; tirar os trilhos não ensina a pedir 'mais' ou 'pausa'; pode não resolver se a função for fugir da mesa; reduz bem-estar e engajamento; decidir junto, com plano para casa e supervisão.</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Pergunta de checagem antes de avançar: "O que vocês NÃO podem concluir a partir da vinheta?" (objetivo 7). Tempo: 3 min (início da síntese, 11h23).</a:t>
            </a:r>
          </a:p>
          <a:p/>
          <a:p>
            <a:r>
              <a:t>RESPOSTA DA CHECAGEM: não podemos concluir a FUNÇÃO do comportamento. A vinheta só permite levantar hipóteses; concluir exige avaliação, mais dados e supervisão. Também não dá para garantir que uma estratégia vai funcionar antes de testá-la com dados.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minutos. Se não houver perguntas, retomar a pergunta disparadora do início.</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Baer et al., Hanley (2012), Tiger et al. e Schreibman et al. estão disponíveis em texto completo no PubMed Central. Tempo: 1 min.</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Não incluir contato ou registro profissional que não tenham sido informados. Encerramento às 11h30.</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Vídeo com som (música, conversa de fundo dos colegas, passos e porta): conferir caixa de som. No artefato, clicar no vídeo para começar. No PDF não há vídeo: usar o arquivo Video_Lara_animacao.mp4 (pasta apresentacao) à parte. Depois do vídeo: "Vocês viram UM episódio. Agora vejam o que a escola registrou em dois meses" e mostrar a história.</a:t>
            </a:r>
          </a:p>
          <a:p/>
          <a:p>
            <a:r>
              <a:t>RESPOSTAS DO VÍDEO: Antes = a professora propõe trabalho em grupo; os colegas se juntam e a sala fica barulhenta. O que ela faz = coloca o capuz, abaixa a cabeça, levanta e sai da sala sem avisar. Depois = fica sozinha e tranquila na biblioteca, desenhando (o barulho e o grupo acabam para ela).</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Só para grupos que terminarem antes, ou como estudo posterior. Não entra no tempo. A comparação ABA × TCC com este caso já foi feita no slide 26.</a:t>
            </a:r>
          </a:p>
          <a:p/>
          <a:p>
            <a:r>
              <a:t>RESPOSTAS: 1. Coloca o capuz, abaixa a cabeça e sai da sala sem avisar. 2. Antes: trabalho em grupo, sala barulhenta. Depois: sai e vai para a biblioteca. 3. Fugir do barulho, fugir da interação (medo de errar) ou as duas; ir para a biblioteca pode reforçar a saída. 4. Trabalhar sempre sozinha alivia agora, mas pode reforçar a fuga e tirar chances de participar; só como algo temporário, combinado com ela. No lugar: lugar mais silencioso ou protetor de ouvido (se ela quiser), grupo menor, papel definido, jeito combinado de pedir pausa. O capuz não é alvo.</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de respostas: mostrar depois que a turma responder.</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Raciocínio esperado: o dado fortalece 'quer os trilhos' (ou as duas juntas) e enfraquece 'foge da mesa'. Mas são 4 sessões, sem controle de outras variáveis: é mais uma pista, não uma conclusão. Próximo passo: avaliação organizada, com supervisão.</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de respostas: mostrar depois que a turma responder.</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Lista completa de autores em REFERENCIAS.md.</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Lista completa em REFERENCIAS.md.</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Lista completa em REFERENCIAS.md.</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Lista completa em REFERENCIAS.md.</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Lista completa em REFERENCIAS.md.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1.png"/><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2.mp4"/><Relationship Id="rId3" Type="http://schemas.openxmlformats.org/officeDocument/2006/relationships/video" Target="../media/media2.mp4"/><Relationship Id="rId4" Type="http://schemas.openxmlformats.org/officeDocument/2006/relationships/image" Target="../media/image2.png"/><Relationship Id="rId5"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F4B"/>
        </a:solidFill>
        <a:effectLst/>
      </p:bgPr>
    </p:bg>
    <p:spTree>
      <p:nvGrpSpPr>
        <p:cNvPr id="1" name=""/>
        <p:cNvGrpSpPr/>
        <p:nvPr/>
      </p:nvGrpSpPr>
      <p:grpSpPr/>
      <p:sp>
        <p:nvSpPr>
          <p:cNvPr id="2" name="Rectangle 1"/>
          <p:cNvSpPr/>
          <p:nvPr/>
        </p:nvSpPr>
        <p:spPr>
          <a:xfrm>
            <a:off x="0" y="6680200"/>
            <a:ext cx="12192000" cy="177800"/>
          </a:xfrm>
          <a:prstGeom prst="rect">
            <a:avLst/>
          </a:prstGeom>
          <a:solidFill>
            <a:srgbClr val="0F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6000" y="1723430"/>
            <a:ext cx="10464800" cy="247650"/>
          </a:xfrm>
          <a:prstGeom prst="rect">
            <a:avLst/>
          </a:prstGeom>
          <a:noFill/>
        </p:spPr>
        <p:txBody>
          <a:bodyPr wrap="square" lIns="0" rIns="0" tIns="0" bIns="0" anchor="t">
            <a:noAutofit/>
          </a:bodyPr>
          <a:lstStyle/>
          <a:p>
            <a:pPr algn="l">
              <a:lnSpc>
                <a:spcPct val="98000"/>
              </a:lnSpc>
            </a:pPr>
            <a:r>
              <a:rPr sz="1600" b="0" i="0">
                <a:solidFill>
                  <a:srgbClr val="9FD3D8"/>
                </a:solidFill>
                <a:latin typeface="Montserrat"/>
              </a:rPr>
              <a:t>Liga Acadêmica Cognitivo-Comportamental (LACC)</a:t>
            </a:r>
          </a:p>
        </p:txBody>
      </p:sp>
      <p:sp>
        <p:nvSpPr>
          <p:cNvPr id="4" name="TextBox 3"/>
          <p:cNvSpPr txBox="1"/>
          <p:nvPr/>
        </p:nvSpPr>
        <p:spPr>
          <a:xfrm>
            <a:off x="1016000" y="2148880"/>
            <a:ext cx="10464800" cy="889000"/>
          </a:xfrm>
          <a:prstGeom prst="rect">
            <a:avLst/>
          </a:prstGeom>
          <a:noFill/>
        </p:spPr>
        <p:txBody>
          <a:bodyPr wrap="square" lIns="0" rIns="0" tIns="0" bIns="0" anchor="t">
            <a:noAutofit/>
          </a:bodyPr>
          <a:lstStyle/>
          <a:p>
            <a:pPr algn="l">
              <a:lnSpc>
                <a:spcPct val="82000"/>
              </a:lnSpc>
            </a:pPr>
            <a:r>
              <a:rPr sz="7000" b="1" i="0">
                <a:solidFill>
                  <a:srgbClr val="FFFFFF"/>
                </a:solidFill>
                <a:latin typeface="Montserrat"/>
              </a:rPr>
              <a:t>ABA e TEA</a:t>
            </a:r>
          </a:p>
        </p:txBody>
      </p:sp>
      <p:sp>
        <p:nvSpPr>
          <p:cNvPr id="5" name="TextBox 4"/>
          <p:cNvSpPr txBox="1"/>
          <p:nvPr/>
        </p:nvSpPr>
        <p:spPr>
          <a:xfrm>
            <a:off x="1016000" y="3215680"/>
            <a:ext cx="10464800" cy="426641"/>
          </a:xfrm>
          <a:prstGeom prst="rect">
            <a:avLst/>
          </a:prstGeom>
          <a:noFill/>
        </p:spPr>
        <p:txBody>
          <a:bodyPr wrap="square" lIns="0" rIns="0" tIns="0" bIns="0" anchor="t">
            <a:noAutofit/>
          </a:bodyPr>
          <a:lstStyle/>
          <a:p>
            <a:pPr algn="l">
              <a:lnSpc>
                <a:spcPct val="98000"/>
              </a:lnSpc>
            </a:pPr>
            <a:r>
              <a:rPr sz="2800" b="0" i="0">
                <a:solidFill>
                  <a:srgbClr val="E6ECF2"/>
                </a:solidFill>
                <a:latin typeface="Montserrat"/>
              </a:rPr>
              <a:t>da análise funcional à decisão clínica</a:t>
            </a:r>
          </a:p>
        </p:txBody>
      </p:sp>
      <p:sp>
        <p:nvSpPr>
          <p:cNvPr id="6" name="TextBox 5"/>
          <p:cNvSpPr txBox="1"/>
          <p:nvPr/>
        </p:nvSpPr>
        <p:spPr>
          <a:xfrm>
            <a:off x="1016000" y="4378920"/>
            <a:ext cx="10464800" cy="330200"/>
          </a:xfrm>
          <a:prstGeom prst="rect">
            <a:avLst/>
          </a:prstGeom>
          <a:noFill/>
        </p:spPr>
        <p:txBody>
          <a:bodyPr wrap="square" lIns="0" rIns="0" tIns="0" bIns="0" anchor="t">
            <a:noAutofit/>
          </a:bodyPr>
          <a:lstStyle/>
          <a:p>
            <a:pPr algn="l">
              <a:lnSpc>
                <a:spcPct val="98000"/>
              </a:lnSpc>
            </a:pPr>
            <a:r>
              <a:rPr sz="2100" b="1" i="0">
                <a:solidFill>
                  <a:srgbClr val="FFFFFF"/>
                </a:solidFill>
                <a:latin typeface="Montserrat"/>
              </a:rPr>
              <a:t>Betina Binatti</a:t>
            </a:r>
          </a:p>
        </p:txBody>
      </p:sp>
      <p:sp>
        <p:nvSpPr>
          <p:cNvPr id="7" name="TextBox 6"/>
          <p:cNvSpPr txBox="1"/>
          <p:nvPr/>
        </p:nvSpPr>
        <p:spPr>
          <a:xfrm>
            <a:off x="1016000" y="4886920"/>
            <a:ext cx="10464800" cy="247650"/>
          </a:xfrm>
          <a:prstGeom prst="rect">
            <a:avLst/>
          </a:prstGeom>
          <a:noFill/>
        </p:spPr>
        <p:txBody>
          <a:bodyPr wrap="square" lIns="0" rIns="0" tIns="0" bIns="0" anchor="t">
            <a:noAutofit/>
          </a:bodyPr>
          <a:lstStyle/>
          <a:p>
            <a:pPr algn="l">
              <a:lnSpc>
                <a:spcPct val="98000"/>
              </a:lnSpc>
            </a:pPr>
            <a:r>
              <a:rPr sz="1600" b="0" i="0">
                <a:solidFill>
                  <a:srgbClr val="C9D3DE"/>
                </a:solidFill>
                <a:latin typeface="Montserrat"/>
              </a:rPr>
              <a:t>24 de outubro de 2026, PUCRS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77800" cy="6858000"/>
          </a:xfrm>
          <a:prstGeom prst="rect">
            <a:avLst/>
          </a:prstGeom>
          <a:solidFill>
            <a:srgbClr val="0F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1702792"/>
            <a:ext cx="10307828" cy="481905"/>
          </a:xfrm>
          <a:prstGeom prst="rect">
            <a:avLst/>
          </a:prstGeom>
          <a:noFill/>
        </p:spPr>
        <p:txBody>
          <a:bodyPr wrap="square" lIns="0" rIns="0" tIns="0" bIns="0" anchor="t">
            <a:noAutofit/>
          </a:bodyPr>
          <a:lstStyle/>
          <a:p>
            <a:pPr algn="l">
              <a:lnSpc>
                <a:spcPct val="94000"/>
              </a:lnSpc>
            </a:pPr>
            <a:r>
              <a:rPr sz="3300" b="1" i="0">
                <a:solidFill>
                  <a:srgbClr val="1B2F4B"/>
                </a:solidFill>
                <a:latin typeface="Montserrat"/>
              </a:rPr>
              <a:t>Quem conduz o workshop</a:t>
            </a:r>
          </a:p>
        </p:txBody>
      </p:sp>
      <p:sp>
        <p:nvSpPr>
          <p:cNvPr id="4" name="TextBox 3"/>
          <p:cNvSpPr txBox="1"/>
          <p:nvPr/>
        </p:nvSpPr>
        <p:spPr>
          <a:xfrm>
            <a:off x="1168400" y="2438698"/>
            <a:ext cx="10307828" cy="462260"/>
          </a:xfrm>
          <a:prstGeom prst="rect">
            <a:avLst/>
          </a:prstGeom>
          <a:noFill/>
        </p:spPr>
        <p:txBody>
          <a:bodyPr wrap="square" lIns="0" rIns="0" tIns="0" bIns="0" anchor="t">
            <a:noAutofit/>
          </a:bodyPr>
          <a:lstStyle/>
          <a:p>
            <a:pPr algn="l">
              <a:lnSpc>
                <a:spcPct val="115000"/>
              </a:lnSpc>
            </a:pPr>
            <a:r>
              <a:rPr sz="2600" b="1" i="0">
                <a:solidFill>
                  <a:srgbClr val="1B2F4B"/>
                </a:solidFill>
                <a:latin typeface="Montserrat"/>
              </a:rPr>
              <a:t>Betina Binatti</a:t>
            </a:r>
          </a:p>
        </p:txBody>
      </p:sp>
      <p:sp>
        <p:nvSpPr>
          <p:cNvPr id="5" name="TextBox 4"/>
          <p:cNvSpPr txBox="1"/>
          <p:nvPr/>
        </p:nvSpPr>
        <p:spPr>
          <a:xfrm>
            <a:off x="1168400" y="3154958"/>
            <a:ext cx="10307828" cy="1809750"/>
          </a:xfrm>
          <a:prstGeom prst="rect">
            <a:avLst/>
          </a:prstGeom>
          <a:noFill/>
        </p:spPr>
        <p:txBody>
          <a:bodyPr wrap="square" lIns="0" rIns="0" tIns="0" bIns="0" anchor="t">
            <a:noAutofit/>
          </a:bodyPr>
          <a:lstStyle/>
          <a:p>
            <a:pPr algn="l" marL="279400" indent="-279400">
              <a:lnSpc>
                <a:spcPct val="123000"/>
              </a:lnSpc>
              <a:buChar char="•"/>
            </a:pPr>
            <a:r>
              <a:rPr sz="1900" b="0" i="0">
                <a:solidFill>
                  <a:srgbClr val="2E3A4A"/>
                </a:solidFill>
                <a:latin typeface="Montserrat"/>
              </a:rPr>
              <a:t>Psicóloga formada pela PUCRS</a:t>
            </a:r>
          </a:p>
          <a:p>
            <a:pPr algn="l" marL="279400" indent="-279400">
              <a:lnSpc>
                <a:spcPct val="123000"/>
              </a:lnSpc>
              <a:buChar char="•"/>
            </a:pPr>
            <a:r>
              <a:rPr sz="1900" b="0" i="0">
                <a:solidFill>
                  <a:srgbClr val="2E3A4A"/>
                </a:solidFill>
                <a:latin typeface="Montserrat"/>
              </a:rPr>
              <a:t>Pós-graduada em ABA e Estratégias Naturalistas (Instituto Singular)</a:t>
            </a:r>
          </a:p>
          <a:p>
            <a:pPr algn="l" marL="279400" indent="-279400">
              <a:lnSpc>
                <a:spcPct val="123000"/>
              </a:lnSpc>
              <a:buChar char="•"/>
            </a:pPr>
            <a:r>
              <a:rPr sz="1900" b="0" i="0">
                <a:solidFill>
                  <a:srgbClr val="2E3A4A"/>
                </a:solidFill>
                <a:latin typeface="Montserrat"/>
              </a:rPr>
              <a:t>Pós-graduanda em Neuropsicologia (Comportamente)</a:t>
            </a:r>
          </a:p>
          <a:p>
            <a:pPr algn="l" marL="279400" indent="-279400">
              <a:lnSpc>
                <a:spcPct val="123000"/>
              </a:lnSpc>
              <a:buChar char="•"/>
            </a:pPr>
            <a:r>
              <a:rPr sz="1900" b="0" i="0">
                <a:solidFill>
                  <a:srgbClr val="2E3A4A"/>
                </a:solidFill>
                <a:latin typeface="Montserrat"/>
              </a:rPr>
              <a:t>7 anos de experiência em neurodivergência</a:t>
            </a:r>
          </a:p>
          <a:p>
            <a:pPr algn="l" marL="279400" indent="-279400">
              <a:lnSpc>
                <a:spcPct val="123000"/>
              </a:lnSpc>
              <a:buChar char="•"/>
            </a:pPr>
            <a:r>
              <a:rPr sz="1900" b="0" i="0">
                <a:solidFill>
                  <a:srgbClr val="2E3A4A"/>
                </a:solidFill>
                <a:latin typeface="Montserrat"/>
              </a:rPr>
              <a:t>2 anos e 6 meses como coordenadora de caso e supervisora clínica</a:t>
            </a:r>
          </a:p>
        </p:txBody>
      </p:sp>
      <p:sp>
        <p:nvSpPr>
          <p:cNvPr id="6" name="TextBox 5"/>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66717F"/>
                </a:solidFill>
                <a:latin typeface="Montserrat"/>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77800" cy="6858000"/>
          </a:xfrm>
          <a:prstGeom prst="rect">
            <a:avLst/>
          </a:prstGeom>
          <a:solidFill>
            <a:srgbClr val="0F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1765598"/>
            <a:ext cx="10307828" cy="481905"/>
          </a:xfrm>
          <a:prstGeom prst="rect">
            <a:avLst/>
          </a:prstGeom>
          <a:noFill/>
        </p:spPr>
        <p:txBody>
          <a:bodyPr wrap="square" lIns="0" rIns="0" tIns="0" bIns="0" anchor="t">
            <a:noAutofit/>
          </a:bodyPr>
          <a:lstStyle/>
          <a:p>
            <a:pPr algn="l">
              <a:lnSpc>
                <a:spcPct val="94000"/>
              </a:lnSpc>
            </a:pPr>
            <a:r>
              <a:rPr sz="3300" b="1" i="0">
                <a:solidFill>
                  <a:srgbClr val="1B2F4B"/>
                </a:solidFill>
                <a:latin typeface="Montserrat"/>
              </a:rPr>
              <a:t>Ao final, vocês vão conseguir</a:t>
            </a:r>
          </a:p>
        </p:txBody>
      </p:sp>
      <p:sp>
        <p:nvSpPr>
          <p:cNvPr id="4" name="TextBox 3"/>
          <p:cNvSpPr txBox="1"/>
          <p:nvPr/>
        </p:nvSpPr>
        <p:spPr>
          <a:xfrm>
            <a:off x="1168400" y="2501503"/>
            <a:ext cx="10307828" cy="2400300"/>
          </a:xfrm>
          <a:prstGeom prst="rect">
            <a:avLst/>
          </a:prstGeom>
          <a:noFill/>
        </p:spPr>
        <p:txBody>
          <a:bodyPr wrap="square" lIns="0" rIns="0" tIns="0" bIns="0" anchor="t">
            <a:noAutofit/>
          </a:bodyPr>
          <a:lstStyle/>
          <a:p>
            <a:pPr algn="l" marL="279400" indent="-279400">
              <a:lnSpc>
                <a:spcPct val="123000"/>
              </a:lnSpc>
              <a:buAutoNum type="arabicPeriod" startAt="1"/>
            </a:pPr>
            <a:r>
              <a:rPr sz="1800" b="0" i="0">
                <a:solidFill>
                  <a:srgbClr val="2E3A4A"/>
                </a:solidFill>
                <a:latin typeface="Montserrat"/>
              </a:rPr>
              <a:t>Explicar por que o TEA é heterogêneo</a:t>
            </a:r>
          </a:p>
          <a:p>
            <a:pPr algn="l" marL="279400" indent="-279400">
              <a:lnSpc>
                <a:spcPct val="123000"/>
              </a:lnSpc>
              <a:buAutoNum type="arabicPeriod" startAt="1"/>
            </a:pPr>
            <a:r>
              <a:rPr sz="1800" b="1" i="0">
                <a:solidFill>
                  <a:srgbClr val="2E3A4A"/>
                </a:solidFill>
                <a:latin typeface="Montserrat"/>
              </a:rPr>
              <a:t>Diferenciar topografia e função</a:t>
            </a:r>
          </a:p>
          <a:p>
            <a:pPr algn="l" marL="279400" indent="-279400">
              <a:lnSpc>
                <a:spcPct val="123000"/>
              </a:lnSpc>
              <a:buAutoNum type="arabicPeriod" startAt="1"/>
            </a:pPr>
            <a:r>
              <a:rPr sz="1800" b="1" i="0">
                <a:solidFill>
                  <a:srgbClr val="2E3A4A"/>
                </a:solidFill>
                <a:latin typeface="Montserrat"/>
              </a:rPr>
              <a:t>Identificar antecedentes, consequências e contexto</a:t>
            </a:r>
          </a:p>
          <a:p>
            <a:pPr algn="l" marL="279400" indent="-279400">
              <a:lnSpc>
                <a:spcPct val="123000"/>
              </a:lnSpc>
              <a:buAutoNum type="arabicPeriod" startAt="1"/>
            </a:pPr>
            <a:r>
              <a:rPr sz="1800" b="1" i="0">
                <a:solidFill>
                  <a:srgbClr val="2E3A4A"/>
                </a:solidFill>
                <a:latin typeface="Montserrat"/>
              </a:rPr>
              <a:t>Justificar por que avaliar vem antes de intervir</a:t>
            </a:r>
          </a:p>
          <a:p>
            <a:pPr algn="l" marL="279400" indent="-279400">
              <a:lnSpc>
                <a:spcPct val="123000"/>
              </a:lnSpc>
              <a:buAutoNum type="arabicPeriod" startAt="1"/>
            </a:pPr>
            <a:r>
              <a:rPr sz="1800" b="0" i="0">
                <a:solidFill>
                  <a:srgbClr val="2E3A4A"/>
                </a:solidFill>
                <a:latin typeface="Montserrat"/>
              </a:rPr>
              <a:t>Reconhecer estratégias baseadas em evidências e ligá-las à função</a:t>
            </a:r>
          </a:p>
          <a:p>
            <a:pPr algn="l" marL="279400" indent="-279400">
              <a:lnSpc>
                <a:spcPct val="123000"/>
              </a:lnSpc>
              <a:buAutoNum type="arabicPeriod" startAt="1"/>
            </a:pPr>
            <a:r>
              <a:rPr sz="1800" b="0" i="0">
                <a:solidFill>
                  <a:srgbClr val="2E3A4A"/>
                </a:solidFill>
                <a:latin typeface="Montserrat"/>
              </a:rPr>
              <a:t>Analisar uma vinheta e justificar decisões</a:t>
            </a:r>
          </a:p>
          <a:p>
            <a:pPr algn="l" marL="279400" indent="-279400">
              <a:lnSpc>
                <a:spcPct val="123000"/>
              </a:lnSpc>
              <a:buAutoNum type="arabicPeriod" startAt="1"/>
            </a:pPr>
            <a:r>
              <a:rPr sz="1800" b="0" i="0">
                <a:solidFill>
                  <a:srgbClr val="2E3A4A"/>
                </a:solidFill>
                <a:latin typeface="Montserrat"/>
              </a:rPr>
              <a:t>Reconhecer limites de atuação e a importância da supervisão</a:t>
            </a:r>
          </a:p>
        </p:txBody>
      </p:sp>
      <p:sp>
        <p:nvSpPr>
          <p:cNvPr id="5" name="TextBox 4"/>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66717F"/>
                </a:solidFill>
                <a:latin typeface="Montserrat"/>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77800" cy="6858000"/>
          </a:xfrm>
          <a:prstGeom prst="rect">
            <a:avLst/>
          </a:prstGeom>
          <a:solidFill>
            <a:srgbClr val="0F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2189857"/>
            <a:ext cx="10307828" cy="481905"/>
          </a:xfrm>
          <a:prstGeom prst="rect">
            <a:avLst/>
          </a:prstGeom>
          <a:noFill/>
        </p:spPr>
        <p:txBody>
          <a:bodyPr wrap="square" lIns="0" rIns="0" tIns="0" bIns="0" anchor="t">
            <a:noAutofit/>
          </a:bodyPr>
          <a:lstStyle/>
          <a:p>
            <a:pPr algn="l">
              <a:lnSpc>
                <a:spcPct val="94000"/>
              </a:lnSpc>
            </a:pPr>
            <a:r>
              <a:rPr sz="3300" b="1" i="0">
                <a:solidFill>
                  <a:srgbClr val="1B2F4B"/>
                </a:solidFill>
                <a:latin typeface="Montserrat"/>
              </a:rPr>
              <a:t>Este workshop não forma aplicadores</a:t>
            </a:r>
          </a:p>
        </p:txBody>
      </p:sp>
      <p:sp>
        <p:nvSpPr>
          <p:cNvPr id="4" name="TextBox 3"/>
          <p:cNvSpPr txBox="1"/>
          <p:nvPr/>
        </p:nvSpPr>
        <p:spPr>
          <a:xfrm>
            <a:off x="1168400" y="3001962"/>
            <a:ext cx="4839970" cy="319980"/>
          </a:xfrm>
          <a:prstGeom prst="rect">
            <a:avLst/>
          </a:prstGeom>
          <a:noFill/>
        </p:spPr>
        <p:txBody>
          <a:bodyPr wrap="square" lIns="0" rIns="0" tIns="0" bIns="0" anchor="t">
            <a:noAutofit/>
          </a:bodyPr>
          <a:lstStyle/>
          <a:p>
            <a:pPr algn="l">
              <a:lnSpc>
                <a:spcPct val="98000"/>
              </a:lnSpc>
            </a:pPr>
            <a:r>
              <a:rPr sz="2100" b="1" i="0">
                <a:solidFill>
                  <a:srgbClr val="0F7C86"/>
                </a:solidFill>
                <a:latin typeface="Montserrat"/>
              </a:rPr>
              <a:t>O que é</a:t>
            </a:r>
          </a:p>
        </p:txBody>
      </p:sp>
      <p:sp>
        <p:nvSpPr>
          <p:cNvPr id="5" name="TextBox 4"/>
          <p:cNvSpPr txBox="1"/>
          <p:nvPr/>
        </p:nvSpPr>
        <p:spPr>
          <a:xfrm>
            <a:off x="1168400" y="3410843"/>
            <a:ext cx="4839970" cy="1066800"/>
          </a:xfrm>
          <a:prstGeom prst="rect">
            <a:avLst/>
          </a:prstGeom>
          <a:noFill/>
        </p:spPr>
        <p:txBody>
          <a:bodyPr wrap="square" lIns="0" rIns="0" tIns="0" bIns="0" anchor="t">
            <a:noAutofit/>
          </a:bodyPr>
          <a:lstStyle/>
          <a:p>
            <a:pPr algn="l">
              <a:lnSpc>
                <a:spcPct val="115000"/>
              </a:lnSpc>
            </a:pPr>
            <a:r>
              <a:rPr sz="2000" b="0" i="0">
                <a:solidFill>
                  <a:srgbClr val="2E3A4A"/>
                </a:solidFill>
                <a:latin typeface="Montserrat"/>
              </a:rPr>
              <a:t>Uma introdução ao raciocínio analítico-comportamental aplicado ao TEA.</a:t>
            </a:r>
          </a:p>
        </p:txBody>
      </p:sp>
      <p:sp>
        <p:nvSpPr>
          <p:cNvPr id="6" name="TextBox 5"/>
          <p:cNvSpPr txBox="1"/>
          <p:nvPr/>
        </p:nvSpPr>
        <p:spPr>
          <a:xfrm>
            <a:off x="6477000" y="3001962"/>
            <a:ext cx="4839970" cy="319980"/>
          </a:xfrm>
          <a:prstGeom prst="rect">
            <a:avLst/>
          </a:prstGeom>
          <a:noFill/>
        </p:spPr>
        <p:txBody>
          <a:bodyPr wrap="square" lIns="0" rIns="0" tIns="0" bIns="0" anchor="t">
            <a:noAutofit/>
          </a:bodyPr>
          <a:lstStyle/>
          <a:p>
            <a:pPr algn="l">
              <a:lnSpc>
                <a:spcPct val="98000"/>
              </a:lnSpc>
            </a:pPr>
            <a:r>
              <a:rPr sz="2100" b="1" i="0">
                <a:solidFill>
                  <a:srgbClr val="0F7C86"/>
                </a:solidFill>
                <a:latin typeface="Montserrat"/>
              </a:rPr>
              <a:t>O que não é</a:t>
            </a:r>
          </a:p>
        </p:txBody>
      </p:sp>
      <p:sp>
        <p:nvSpPr>
          <p:cNvPr id="7" name="TextBox 6"/>
          <p:cNvSpPr txBox="1"/>
          <p:nvPr/>
        </p:nvSpPr>
        <p:spPr>
          <a:xfrm>
            <a:off x="6477000" y="3410843"/>
            <a:ext cx="4839970" cy="1066800"/>
          </a:xfrm>
          <a:prstGeom prst="rect">
            <a:avLst/>
          </a:prstGeom>
          <a:noFill/>
        </p:spPr>
        <p:txBody>
          <a:bodyPr wrap="square" lIns="0" rIns="0" tIns="0" bIns="0" anchor="t">
            <a:noAutofit/>
          </a:bodyPr>
          <a:lstStyle/>
          <a:p>
            <a:pPr algn="l">
              <a:lnSpc>
                <a:spcPct val="115000"/>
              </a:lnSpc>
            </a:pPr>
            <a:r>
              <a:rPr sz="2000" b="0" i="0">
                <a:solidFill>
                  <a:srgbClr val="2E3A4A"/>
                </a:solidFill>
                <a:latin typeface="Montserrat"/>
              </a:rPr>
              <a:t>Um curso de formação em ABA. Ele não habilita ninguém a avaliar ou intervir sem formação e supervisão.</a:t>
            </a:r>
          </a:p>
        </p:txBody>
      </p:sp>
      <p:sp>
        <p:nvSpPr>
          <p:cNvPr id="8" name="TextBox 7"/>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66717F"/>
                </a:solidFill>
                <a:latin typeface="Montserrat"/>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77800" cy="6858000"/>
          </a:xfrm>
          <a:prstGeom prst="rect">
            <a:avLst/>
          </a:prstGeom>
          <a:solidFill>
            <a:srgbClr val="0F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2165648"/>
            <a:ext cx="10307828" cy="481905"/>
          </a:xfrm>
          <a:prstGeom prst="rect">
            <a:avLst/>
          </a:prstGeom>
          <a:noFill/>
        </p:spPr>
        <p:txBody>
          <a:bodyPr wrap="square" lIns="0" rIns="0" tIns="0" bIns="0" anchor="t">
            <a:noAutofit/>
          </a:bodyPr>
          <a:lstStyle/>
          <a:p>
            <a:pPr algn="l">
              <a:lnSpc>
                <a:spcPct val="94000"/>
              </a:lnSpc>
            </a:pPr>
            <a:r>
              <a:rPr sz="3300" b="1" i="0">
                <a:solidFill>
                  <a:srgbClr val="1B2F4B"/>
                </a:solidFill>
                <a:latin typeface="Montserrat"/>
              </a:rPr>
              <a:t>Combinados</a:t>
            </a:r>
          </a:p>
        </p:txBody>
      </p:sp>
      <p:sp>
        <p:nvSpPr>
          <p:cNvPr id="4" name="TextBox 3"/>
          <p:cNvSpPr txBox="1"/>
          <p:nvPr/>
        </p:nvSpPr>
        <p:spPr>
          <a:xfrm>
            <a:off x="1168400" y="2977753"/>
            <a:ext cx="10307828" cy="1524000"/>
          </a:xfrm>
          <a:prstGeom prst="rect">
            <a:avLst/>
          </a:prstGeom>
          <a:noFill/>
        </p:spPr>
        <p:txBody>
          <a:bodyPr wrap="square" lIns="0" rIns="0" tIns="0" bIns="0" anchor="t">
            <a:noAutofit/>
          </a:bodyPr>
          <a:lstStyle/>
          <a:p>
            <a:pPr algn="l" marL="279400" indent="-279400">
              <a:lnSpc>
                <a:spcPct val="123000"/>
              </a:lnSpc>
              <a:buChar char="•"/>
            </a:pPr>
            <a:r>
              <a:rPr sz="2000" b="0" i="0">
                <a:solidFill>
                  <a:srgbClr val="2E3A4A"/>
                </a:solidFill>
                <a:latin typeface="Montserrat"/>
              </a:rPr>
              <a:t>Perguntas são bem-vindas a qualquer momento</a:t>
            </a:r>
          </a:p>
          <a:p>
            <a:pPr algn="l" marL="279400" indent="-279400">
              <a:lnSpc>
                <a:spcPct val="123000"/>
              </a:lnSpc>
              <a:buChar char="•"/>
            </a:pPr>
            <a:r>
              <a:rPr sz="2000" b="0" i="0">
                <a:solidFill>
                  <a:srgbClr val="2E3A4A"/>
                </a:solidFill>
                <a:latin typeface="Montserrat"/>
              </a:rPr>
              <a:t>Todos os casos são fictícios</a:t>
            </a:r>
          </a:p>
          <a:p>
            <a:pPr algn="l" marL="279400" indent="-279400">
              <a:lnSpc>
                <a:spcPct val="123000"/>
              </a:lnSpc>
              <a:buChar char="•"/>
            </a:pPr>
            <a:r>
              <a:rPr sz="2000" b="0" i="0">
                <a:solidFill>
                  <a:srgbClr val="2E3A4A"/>
                </a:solidFill>
                <a:latin typeface="Montserrat"/>
              </a:rPr>
              <a:t>Não vamos discutir casos reais</a:t>
            </a:r>
          </a:p>
          <a:p>
            <a:pPr algn="l" marL="279400" indent="-279400">
              <a:lnSpc>
                <a:spcPct val="123000"/>
              </a:lnSpc>
              <a:buChar char="•"/>
            </a:pPr>
            <a:r>
              <a:rPr sz="2000" b="0" i="0">
                <a:solidFill>
                  <a:srgbClr val="2E3A4A"/>
                </a:solidFill>
                <a:latin typeface="Montserrat"/>
              </a:rPr>
              <a:t>Vamos usar “pessoa autista”, respeitando preferências individuais</a:t>
            </a:r>
          </a:p>
        </p:txBody>
      </p:sp>
      <p:sp>
        <p:nvSpPr>
          <p:cNvPr id="5" name="TextBox 4"/>
          <p:cNvSpPr txBox="1"/>
          <p:nvPr/>
        </p:nvSpPr>
        <p:spPr>
          <a:xfrm>
            <a:off x="1168400" y="6343650"/>
            <a:ext cx="9156700" cy="184150"/>
          </a:xfrm>
          <a:prstGeom prst="rect">
            <a:avLst/>
          </a:prstGeom>
          <a:noFill/>
        </p:spPr>
        <p:txBody>
          <a:bodyPr wrap="square" lIns="0" rIns="0" tIns="0" bIns="0" anchor="t">
            <a:noAutofit/>
          </a:bodyPr>
          <a:lstStyle/>
          <a:p>
            <a:pPr algn="l">
              <a:lnSpc>
                <a:spcPct val="98000"/>
              </a:lnSpc>
            </a:pPr>
            <a:r>
              <a:rPr sz="1200" b="0" i="0">
                <a:solidFill>
                  <a:srgbClr val="66717F"/>
                </a:solidFill>
                <a:latin typeface="Montserrat"/>
              </a:rPr>
              <a:t>Bottema-Beutel et al. (2021)</a:t>
            </a:r>
          </a:p>
        </p:txBody>
      </p:sp>
      <p:sp>
        <p:nvSpPr>
          <p:cNvPr id="6" name="TextBox 5"/>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66717F"/>
                </a:solidFill>
                <a:latin typeface="Montserrat"/>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B2F4B"/>
        </a:solidFill>
        <a:effectLst/>
      </p:bgPr>
    </p:bg>
    <p:spTree>
      <p:nvGrpSpPr>
        <p:cNvPr id="1" name=""/>
        <p:cNvGrpSpPr/>
        <p:nvPr/>
      </p:nvGrpSpPr>
      <p:grpSpPr/>
      <p:sp>
        <p:nvSpPr>
          <p:cNvPr id="2" name="TextBox 1"/>
          <p:cNvSpPr txBox="1"/>
          <p:nvPr/>
        </p:nvSpPr>
        <p:spPr>
          <a:xfrm>
            <a:off x="2126258" y="2327275"/>
            <a:ext cx="8177567" cy="355600"/>
          </a:xfrm>
          <a:prstGeom prst="rect">
            <a:avLst/>
          </a:prstGeom>
          <a:noFill/>
        </p:spPr>
        <p:txBody>
          <a:bodyPr wrap="square" lIns="0" rIns="0" tIns="0" bIns="0" anchor="t">
            <a:noAutofit/>
          </a:bodyPr>
          <a:lstStyle/>
          <a:p>
            <a:pPr algn="ctr">
              <a:lnSpc>
                <a:spcPct val="115000"/>
              </a:lnSpc>
            </a:pPr>
            <a:r>
              <a:rPr sz="2000" b="0" i="0">
                <a:solidFill>
                  <a:srgbClr val="D8E1EA"/>
                </a:solidFill>
                <a:latin typeface="Montserrat"/>
              </a:rPr>
              <a:t>Uma criança grita e se joga no chão quando a atividade muda.</a:t>
            </a:r>
          </a:p>
        </p:txBody>
      </p:sp>
      <p:sp>
        <p:nvSpPr>
          <p:cNvPr id="3" name="TextBox 2"/>
          <p:cNvSpPr txBox="1"/>
          <p:nvPr/>
        </p:nvSpPr>
        <p:spPr>
          <a:xfrm>
            <a:off x="3994646" y="2962275"/>
            <a:ext cx="4328789" cy="1022350"/>
          </a:xfrm>
          <a:prstGeom prst="rect">
            <a:avLst/>
          </a:prstGeom>
          <a:noFill/>
        </p:spPr>
        <p:txBody>
          <a:bodyPr wrap="square" lIns="0" rIns="0" tIns="0" bIns="0" anchor="t">
            <a:noAutofit/>
          </a:bodyPr>
          <a:lstStyle/>
          <a:p>
            <a:pPr algn="ctr">
              <a:lnSpc>
                <a:spcPct val="94000"/>
              </a:lnSpc>
            </a:pPr>
            <a:r>
              <a:rPr sz="7000" b="1" i="0">
                <a:solidFill>
                  <a:srgbClr val="FFFFFF"/>
                </a:solidFill>
                <a:latin typeface="Montserrat"/>
              </a:rPr>
              <a:t>Por quê?</a:t>
            </a:r>
          </a:p>
        </p:txBody>
      </p:sp>
      <p:sp>
        <p:nvSpPr>
          <p:cNvPr id="4" name="TextBox 3"/>
          <p:cNvSpPr txBox="1"/>
          <p:nvPr/>
        </p:nvSpPr>
        <p:spPr>
          <a:xfrm>
            <a:off x="5336183" y="4264025"/>
            <a:ext cx="1565121" cy="266700"/>
          </a:xfrm>
          <a:prstGeom prst="rect">
            <a:avLst/>
          </a:prstGeom>
          <a:noFill/>
        </p:spPr>
        <p:txBody>
          <a:bodyPr wrap="square" lIns="0" rIns="0" tIns="0" bIns="0" anchor="t">
            <a:noAutofit/>
          </a:bodyPr>
          <a:lstStyle/>
          <a:p>
            <a:pPr algn="ctr">
              <a:lnSpc>
                <a:spcPct val="115000"/>
              </a:lnSpc>
            </a:pPr>
            <a:r>
              <a:rPr sz="1500" b="0" i="1">
                <a:solidFill>
                  <a:srgbClr val="9FD3D8"/>
                </a:solidFill>
                <a:latin typeface="Montserrat"/>
              </a:rPr>
              <a:t>Exemplo fictício</a:t>
            </a:r>
          </a:p>
        </p:txBody>
      </p:sp>
      <p:sp>
        <p:nvSpPr>
          <p:cNvPr id="5" name="TextBox 4"/>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B8C4D2"/>
                </a:solidFill>
                <a:latin typeface="Montserrat"/>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77800" cy="6858000"/>
          </a:xfrm>
          <a:prstGeom prst="rect">
            <a:avLst/>
          </a:prstGeom>
          <a:solidFill>
            <a:srgbClr val="0F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1490563"/>
            <a:ext cx="10307828" cy="963811"/>
          </a:xfrm>
          <a:prstGeom prst="rect">
            <a:avLst/>
          </a:prstGeom>
          <a:noFill/>
        </p:spPr>
        <p:txBody>
          <a:bodyPr wrap="square" lIns="0" rIns="0" tIns="0" bIns="0" anchor="t">
            <a:noAutofit/>
          </a:bodyPr>
          <a:lstStyle/>
          <a:p>
            <a:pPr algn="l">
              <a:lnSpc>
                <a:spcPct val="94000"/>
              </a:lnSpc>
            </a:pPr>
            <a:r>
              <a:rPr sz="3300" b="1" i="0">
                <a:solidFill>
                  <a:srgbClr val="1B2F4B"/>
                </a:solidFill>
                <a:latin typeface="Montserrat"/>
              </a:rPr>
              <a:t>O diagnóstico de TEA se apoia em dois domínios</a:t>
            </a:r>
          </a:p>
        </p:txBody>
      </p:sp>
      <p:sp>
        <p:nvSpPr>
          <p:cNvPr id="4" name="TextBox 3"/>
          <p:cNvSpPr txBox="1"/>
          <p:nvPr/>
        </p:nvSpPr>
        <p:spPr>
          <a:xfrm>
            <a:off x="1168400" y="2784574"/>
            <a:ext cx="4839970" cy="319980"/>
          </a:xfrm>
          <a:prstGeom prst="rect">
            <a:avLst/>
          </a:prstGeom>
          <a:noFill/>
        </p:spPr>
        <p:txBody>
          <a:bodyPr wrap="square" lIns="0" rIns="0" tIns="0" bIns="0" anchor="t">
            <a:noAutofit/>
          </a:bodyPr>
          <a:lstStyle/>
          <a:p>
            <a:pPr algn="l">
              <a:lnSpc>
                <a:spcPct val="98000"/>
              </a:lnSpc>
            </a:pPr>
            <a:r>
              <a:rPr sz="2100" b="1" i="0">
                <a:solidFill>
                  <a:srgbClr val="0F7C86"/>
                </a:solidFill>
                <a:latin typeface="Montserrat"/>
              </a:rPr>
              <a:t>Comunicação e interação social</a:t>
            </a:r>
          </a:p>
        </p:txBody>
      </p:sp>
      <p:sp>
        <p:nvSpPr>
          <p:cNvPr id="5" name="TextBox 4"/>
          <p:cNvSpPr txBox="1"/>
          <p:nvPr/>
        </p:nvSpPr>
        <p:spPr>
          <a:xfrm>
            <a:off x="1168400" y="3193455"/>
            <a:ext cx="4839970" cy="675481"/>
          </a:xfrm>
          <a:prstGeom prst="rect">
            <a:avLst/>
          </a:prstGeom>
          <a:noFill/>
        </p:spPr>
        <p:txBody>
          <a:bodyPr wrap="square" lIns="0" rIns="0" tIns="0" bIns="0" anchor="t">
            <a:noAutofit/>
          </a:bodyPr>
          <a:lstStyle/>
          <a:p>
            <a:pPr algn="l">
              <a:lnSpc>
                <a:spcPct val="115000"/>
              </a:lnSpc>
            </a:pPr>
            <a:r>
              <a:rPr sz="1900" b="0" i="0">
                <a:solidFill>
                  <a:srgbClr val="2E3A4A"/>
                </a:solidFill>
                <a:latin typeface="Montserrat"/>
              </a:rPr>
              <a:t>Diferenças persistentes, em vários contextos.</a:t>
            </a:r>
          </a:p>
        </p:txBody>
      </p:sp>
      <p:sp>
        <p:nvSpPr>
          <p:cNvPr id="6" name="TextBox 5"/>
          <p:cNvSpPr txBox="1"/>
          <p:nvPr/>
        </p:nvSpPr>
        <p:spPr>
          <a:xfrm>
            <a:off x="6477000" y="2784574"/>
            <a:ext cx="4839970" cy="319980"/>
          </a:xfrm>
          <a:prstGeom prst="rect">
            <a:avLst/>
          </a:prstGeom>
          <a:noFill/>
        </p:spPr>
        <p:txBody>
          <a:bodyPr wrap="square" lIns="0" rIns="0" tIns="0" bIns="0" anchor="t">
            <a:noAutofit/>
          </a:bodyPr>
          <a:lstStyle/>
          <a:p>
            <a:pPr algn="l">
              <a:lnSpc>
                <a:spcPct val="98000"/>
              </a:lnSpc>
            </a:pPr>
            <a:r>
              <a:rPr sz="2100" b="1" i="0">
                <a:solidFill>
                  <a:srgbClr val="0F7C86"/>
                </a:solidFill>
                <a:latin typeface="Montserrat"/>
              </a:rPr>
              <a:t>Padrões restritos e repetitivos</a:t>
            </a:r>
          </a:p>
        </p:txBody>
      </p:sp>
      <p:sp>
        <p:nvSpPr>
          <p:cNvPr id="7" name="TextBox 6"/>
          <p:cNvSpPr txBox="1"/>
          <p:nvPr/>
        </p:nvSpPr>
        <p:spPr>
          <a:xfrm>
            <a:off x="6477000" y="3193455"/>
            <a:ext cx="4839970" cy="1013222"/>
          </a:xfrm>
          <a:prstGeom prst="rect">
            <a:avLst/>
          </a:prstGeom>
          <a:noFill/>
        </p:spPr>
        <p:txBody>
          <a:bodyPr wrap="square" lIns="0" rIns="0" tIns="0" bIns="0" anchor="t">
            <a:noAutofit/>
          </a:bodyPr>
          <a:lstStyle/>
          <a:p>
            <a:pPr algn="l">
              <a:lnSpc>
                <a:spcPct val="115000"/>
              </a:lnSpc>
            </a:pPr>
            <a:r>
              <a:rPr sz="1900" b="0" i="0">
                <a:solidFill>
                  <a:srgbClr val="2E3A4A"/>
                </a:solidFill>
                <a:latin typeface="Montserrat"/>
              </a:rPr>
              <a:t>De comportamento, interesses ou atividades, incluindo respostas sensoriais.</a:t>
            </a:r>
          </a:p>
        </p:txBody>
      </p:sp>
      <p:sp>
        <p:nvSpPr>
          <p:cNvPr id="8" name="TextBox 7"/>
          <p:cNvSpPr txBox="1"/>
          <p:nvPr/>
        </p:nvSpPr>
        <p:spPr>
          <a:xfrm>
            <a:off x="1168400" y="4536877"/>
            <a:ext cx="10307828" cy="639961"/>
          </a:xfrm>
          <a:prstGeom prst="rect">
            <a:avLst/>
          </a:prstGeom>
          <a:noFill/>
        </p:spPr>
        <p:txBody>
          <a:bodyPr wrap="square" lIns="0" rIns="0" tIns="0" bIns="0" anchor="t">
            <a:noAutofit/>
          </a:bodyPr>
          <a:lstStyle/>
          <a:p>
            <a:pPr algn="l">
              <a:lnSpc>
                <a:spcPct val="115000"/>
              </a:lnSpc>
            </a:pPr>
            <a:r>
              <a:rPr sz="1800" b="0" i="0">
                <a:solidFill>
                  <a:srgbClr val="2E3A4A"/>
                </a:solidFill>
                <a:latin typeface="Montserrat"/>
              </a:rPr>
              <a:t>Os sinais aparecem no início do desenvolvimento e têm impacto significativo no funcionamento.</a:t>
            </a:r>
          </a:p>
        </p:txBody>
      </p:sp>
      <p:sp>
        <p:nvSpPr>
          <p:cNvPr id="9" name="TextBox 8"/>
          <p:cNvSpPr txBox="1"/>
          <p:nvPr/>
        </p:nvSpPr>
        <p:spPr>
          <a:xfrm>
            <a:off x="1168400" y="6343650"/>
            <a:ext cx="9156700" cy="184150"/>
          </a:xfrm>
          <a:prstGeom prst="rect">
            <a:avLst/>
          </a:prstGeom>
          <a:noFill/>
        </p:spPr>
        <p:txBody>
          <a:bodyPr wrap="square" lIns="0" rIns="0" tIns="0" bIns="0" anchor="t">
            <a:noAutofit/>
          </a:bodyPr>
          <a:lstStyle/>
          <a:p>
            <a:pPr algn="l">
              <a:lnSpc>
                <a:spcPct val="98000"/>
              </a:lnSpc>
            </a:pPr>
            <a:r>
              <a:rPr sz="1200" b="0" i="0">
                <a:solidFill>
                  <a:srgbClr val="66717F"/>
                </a:solidFill>
                <a:latin typeface="Montserrat"/>
              </a:rPr>
              <a:t>American Psychiatric Association (2022), DSM-5-TR</a:t>
            </a:r>
          </a:p>
        </p:txBody>
      </p:sp>
      <p:sp>
        <p:nvSpPr>
          <p:cNvPr id="10" name="TextBox 9"/>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66717F"/>
                </a:solidFill>
                <a:latin typeface="Montserrat"/>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77800" cy="6858000"/>
          </a:xfrm>
          <a:prstGeom prst="rect">
            <a:avLst/>
          </a:prstGeom>
          <a:solidFill>
            <a:srgbClr val="0F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1285577"/>
            <a:ext cx="10307828" cy="481905"/>
          </a:xfrm>
          <a:prstGeom prst="rect">
            <a:avLst/>
          </a:prstGeom>
          <a:noFill/>
        </p:spPr>
        <p:txBody>
          <a:bodyPr wrap="square" lIns="0" rIns="0" tIns="0" bIns="0" anchor="t">
            <a:noAutofit/>
          </a:bodyPr>
          <a:lstStyle/>
          <a:p>
            <a:pPr algn="l">
              <a:lnSpc>
                <a:spcPct val="94000"/>
              </a:lnSpc>
            </a:pPr>
            <a:r>
              <a:rPr sz="3300" b="1" i="0">
                <a:solidFill>
                  <a:srgbClr val="1B2F4B"/>
                </a:solidFill>
                <a:latin typeface="Montserrat"/>
              </a:rPr>
              <a:t>Especificadores e níveis de gravidade</a:t>
            </a:r>
          </a:p>
        </p:txBody>
      </p:sp>
      <p:sp>
        <p:nvSpPr>
          <p:cNvPr id="4" name="TextBox 3"/>
          <p:cNvSpPr txBox="1"/>
          <p:nvPr/>
        </p:nvSpPr>
        <p:spPr>
          <a:xfrm>
            <a:off x="1168400" y="2021483"/>
            <a:ext cx="10307828" cy="604441"/>
          </a:xfrm>
          <a:prstGeom prst="rect">
            <a:avLst/>
          </a:prstGeom>
          <a:noFill/>
        </p:spPr>
        <p:txBody>
          <a:bodyPr wrap="square" lIns="0" rIns="0" tIns="0" bIns="0" anchor="t">
            <a:noAutofit/>
          </a:bodyPr>
          <a:lstStyle/>
          <a:p>
            <a:pPr algn="l">
              <a:lnSpc>
                <a:spcPct val="115000"/>
              </a:lnSpc>
            </a:pPr>
            <a:r>
              <a:rPr sz="1700" b="1" i="0">
                <a:solidFill>
                  <a:srgbClr val="2E3A4A"/>
                </a:solidFill>
                <a:latin typeface="Montserrat"/>
              </a:rPr>
              <a:t>Especificadores:</a:t>
            </a:r>
            <a:r>
              <a:rPr sz="1700" b="0" i="0">
                <a:solidFill>
                  <a:srgbClr val="2E3A4A"/>
                </a:solidFill>
                <a:latin typeface="Montserrat"/>
              </a:rPr>
              <a:t> com ou sem deficiência intelectual, com ou sem comprometimento de linguagem, condições associadas.</a:t>
            </a:r>
          </a:p>
        </p:txBody>
      </p:sp>
      <p:graphicFrame>
        <p:nvGraphicFramePr>
          <p:cNvPr id="5" name="Table 4"/>
          <p:cNvGraphicFramePr>
            <a:graphicFrameLocks noGrp="1"/>
          </p:cNvGraphicFramePr>
          <p:nvPr/>
        </p:nvGraphicFramePr>
        <p:xfrm>
          <a:off x="1168400" y="2879923"/>
          <a:ext cx="10007600" cy="1981200"/>
        </p:xfrm>
        <a:graphic>
          <a:graphicData uri="http://schemas.openxmlformats.org/drawingml/2006/table">
            <a:tbl>
              <a:tblPr firstRow="0" bandRow="0">
                <a:tableStyleId>{2D5ABB26-0587-4C30-8999-92F81FD0307C}</a:tableStyleId>
              </a:tblPr>
              <a:tblGrid>
                <a:gridCol w="2001441"/>
                <a:gridCol w="8006159"/>
              </a:tblGrid>
              <a:tr h="495300">
                <a:tc>
                  <a:txBody>
                    <a:bodyPr wrap="square"/>
                    <a:lstStyle/>
                    <a:p>
                      <a:pPr>
                        <a:lnSpc>
                          <a:spcPct val="100000"/>
                        </a:lnSpc>
                      </a:pPr>
                      <a:r>
                        <a:rPr sz="1700" b="1" i="0">
                          <a:solidFill>
                            <a:srgbClr val="FFFFFF"/>
                          </a:solidFill>
                          <a:latin typeface="Montserrat"/>
                        </a:rPr>
                        <a:t>Nível</a:t>
                      </a:r>
                    </a:p>
                  </a:txBody>
                  <a:tcPr marL="114300" marR="114300" marT="68580" marB="68580" anchor="ctr">
                    <a:solidFill>
                      <a:srgbClr val="1B2F4B"/>
                    </a:solidFill>
                  </a:tcPr>
                </a:tc>
                <a:tc>
                  <a:txBody>
                    <a:bodyPr wrap="square"/>
                    <a:lstStyle/>
                    <a:p>
                      <a:pPr>
                        <a:lnSpc>
                          <a:spcPct val="100000"/>
                        </a:lnSpc>
                      </a:pPr>
                      <a:r>
                        <a:rPr sz="1700" b="1" i="0">
                          <a:solidFill>
                            <a:srgbClr val="FFFFFF"/>
                          </a:solidFill>
                          <a:latin typeface="Montserrat"/>
                        </a:rPr>
                        <a:t>Necessidade de apoio</a:t>
                      </a:r>
                    </a:p>
                  </a:txBody>
                  <a:tcPr marL="114300" marR="114300" marT="68580" marB="68580" anchor="ctr">
                    <a:solidFill>
                      <a:srgbClr val="1B2F4B"/>
                    </a:solidFill>
                  </a:tcPr>
                </a:tc>
              </a:tr>
              <a:tr h="495300">
                <a:tc>
                  <a:txBody>
                    <a:bodyPr wrap="square"/>
                    <a:lstStyle/>
                    <a:p>
                      <a:pPr>
                        <a:lnSpc>
                          <a:spcPct val="100000"/>
                        </a:lnSpc>
                      </a:pPr>
                      <a:r>
                        <a:rPr sz="1700" b="0" i="0">
                          <a:solidFill>
                            <a:srgbClr val="2E3A4A"/>
                          </a:solidFill>
                          <a:latin typeface="Montserrat"/>
                        </a:rPr>
                        <a:t>1</a:t>
                      </a:r>
                    </a:p>
                  </a:txBody>
                  <a:tcPr marL="114300" marR="114300" marT="68580" marB="68580" anchor="ctr">
                    <a:solidFill>
                      <a:srgbClr val="FFFFFF"/>
                    </a:solidFill>
                  </a:tcPr>
                </a:tc>
                <a:tc>
                  <a:txBody>
                    <a:bodyPr wrap="square"/>
                    <a:lstStyle/>
                    <a:p>
                      <a:pPr>
                        <a:lnSpc>
                          <a:spcPct val="100000"/>
                        </a:lnSpc>
                      </a:pPr>
                      <a:r>
                        <a:rPr sz="1700" b="0" i="0">
                          <a:solidFill>
                            <a:srgbClr val="2E3A4A"/>
                          </a:solidFill>
                          <a:latin typeface="Montserrat"/>
                        </a:rPr>
                        <a:t>Exige apoio</a:t>
                      </a:r>
                    </a:p>
                  </a:txBody>
                  <a:tcPr marL="114300" marR="114300" marT="68580" marB="68580" anchor="ctr">
                    <a:solidFill>
                      <a:srgbClr val="FFFFFF"/>
                    </a:solidFill>
                  </a:tcPr>
                </a:tc>
              </a:tr>
              <a:tr h="495300">
                <a:tc>
                  <a:txBody>
                    <a:bodyPr wrap="square"/>
                    <a:lstStyle/>
                    <a:p>
                      <a:pPr>
                        <a:lnSpc>
                          <a:spcPct val="100000"/>
                        </a:lnSpc>
                      </a:pPr>
                      <a:r>
                        <a:rPr sz="1700" b="0" i="0">
                          <a:solidFill>
                            <a:srgbClr val="2E3A4A"/>
                          </a:solidFill>
                          <a:latin typeface="Montserrat"/>
                        </a:rPr>
                        <a:t>2</a:t>
                      </a:r>
                    </a:p>
                  </a:txBody>
                  <a:tcPr marL="114300" marR="114300" marT="68580" marB="68580" anchor="ctr">
                    <a:solidFill>
                      <a:srgbClr val="F1F4F6"/>
                    </a:solidFill>
                  </a:tcPr>
                </a:tc>
                <a:tc>
                  <a:txBody>
                    <a:bodyPr wrap="square"/>
                    <a:lstStyle/>
                    <a:p>
                      <a:pPr>
                        <a:lnSpc>
                          <a:spcPct val="100000"/>
                        </a:lnSpc>
                      </a:pPr>
                      <a:r>
                        <a:rPr sz="1700" b="0" i="0">
                          <a:solidFill>
                            <a:srgbClr val="2E3A4A"/>
                          </a:solidFill>
                          <a:latin typeface="Montserrat"/>
                        </a:rPr>
                        <a:t>Exige apoio substancial</a:t>
                      </a:r>
                    </a:p>
                  </a:txBody>
                  <a:tcPr marL="114300" marR="114300" marT="68580" marB="68580" anchor="ctr">
                    <a:solidFill>
                      <a:srgbClr val="F1F4F6"/>
                    </a:solidFill>
                  </a:tcPr>
                </a:tc>
              </a:tr>
              <a:tr h="495300">
                <a:tc>
                  <a:txBody>
                    <a:bodyPr wrap="square"/>
                    <a:lstStyle/>
                    <a:p>
                      <a:pPr>
                        <a:lnSpc>
                          <a:spcPct val="100000"/>
                        </a:lnSpc>
                      </a:pPr>
                      <a:r>
                        <a:rPr sz="1700" b="0" i="0">
                          <a:solidFill>
                            <a:srgbClr val="2E3A4A"/>
                          </a:solidFill>
                          <a:latin typeface="Montserrat"/>
                        </a:rPr>
                        <a:t>3</a:t>
                      </a:r>
                    </a:p>
                  </a:txBody>
                  <a:tcPr marL="114300" marR="114300" marT="68580" marB="68580" anchor="ctr">
                    <a:solidFill>
                      <a:srgbClr val="FFFFFF"/>
                    </a:solidFill>
                  </a:tcPr>
                </a:tc>
                <a:tc>
                  <a:txBody>
                    <a:bodyPr wrap="square"/>
                    <a:lstStyle/>
                    <a:p>
                      <a:pPr>
                        <a:lnSpc>
                          <a:spcPct val="100000"/>
                        </a:lnSpc>
                      </a:pPr>
                      <a:r>
                        <a:rPr sz="1700" b="0" i="0">
                          <a:solidFill>
                            <a:srgbClr val="2E3A4A"/>
                          </a:solidFill>
                          <a:latin typeface="Montserrat"/>
                        </a:rPr>
                        <a:t>Exige apoio muito substancial</a:t>
                      </a:r>
                    </a:p>
                  </a:txBody>
                  <a:tcPr marL="114300" marR="114300" marT="68580" marB="68580" anchor="ctr">
                    <a:solidFill>
                      <a:srgbClr val="FFFFFF"/>
                    </a:solidFill>
                  </a:tcPr>
                </a:tc>
              </a:tr>
            </a:tbl>
          </a:graphicData>
        </a:graphic>
      </p:graphicFrame>
      <p:sp>
        <p:nvSpPr>
          <p:cNvPr id="6" name="TextBox 5"/>
          <p:cNvSpPr txBox="1"/>
          <p:nvPr/>
        </p:nvSpPr>
        <p:spPr>
          <a:xfrm>
            <a:off x="1168400" y="5115123"/>
            <a:ext cx="10307828" cy="266700"/>
          </a:xfrm>
          <a:prstGeom prst="rect">
            <a:avLst/>
          </a:prstGeom>
          <a:noFill/>
        </p:spPr>
        <p:txBody>
          <a:bodyPr wrap="square" lIns="0" rIns="0" tIns="0" bIns="0" anchor="t">
            <a:noAutofit/>
          </a:bodyPr>
          <a:lstStyle/>
          <a:p>
            <a:pPr algn="l">
              <a:lnSpc>
                <a:spcPct val="115000"/>
              </a:lnSpc>
            </a:pPr>
            <a:r>
              <a:rPr sz="1500" b="0" i="1">
                <a:solidFill>
                  <a:srgbClr val="66717F"/>
                </a:solidFill>
                <a:latin typeface="Montserrat"/>
              </a:rPr>
              <a:t>Os níveis são definidos para cada domínio e descrevem necessidade de apoio, não “grau de autismo”.</a:t>
            </a:r>
          </a:p>
        </p:txBody>
      </p:sp>
      <p:sp>
        <p:nvSpPr>
          <p:cNvPr id="7" name="TextBox 6"/>
          <p:cNvSpPr txBox="1"/>
          <p:nvPr/>
        </p:nvSpPr>
        <p:spPr>
          <a:xfrm>
            <a:off x="1168400" y="6343650"/>
            <a:ext cx="9156700" cy="184150"/>
          </a:xfrm>
          <a:prstGeom prst="rect">
            <a:avLst/>
          </a:prstGeom>
          <a:noFill/>
        </p:spPr>
        <p:txBody>
          <a:bodyPr wrap="square" lIns="0" rIns="0" tIns="0" bIns="0" anchor="t">
            <a:noAutofit/>
          </a:bodyPr>
          <a:lstStyle/>
          <a:p>
            <a:pPr algn="l">
              <a:lnSpc>
                <a:spcPct val="98000"/>
              </a:lnSpc>
            </a:pPr>
            <a:r>
              <a:rPr sz="1200" b="0" i="0">
                <a:solidFill>
                  <a:srgbClr val="66717F"/>
                </a:solidFill>
                <a:latin typeface="Montserrat"/>
              </a:rPr>
              <a:t>American Psychiatric Association (2022), DSM-5-TR</a:t>
            </a:r>
          </a:p>
        </p:txBody>
      </p:sp>
      <p:sp>
        <p:nvSpPr>
          <p:cNvPr id="8" name="TextBox 7"/>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66717F"/>
                </a:solidFill>
                <a:latin typeface="Montserrat"/>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77800" cy="6858000"/>
          </a:xfrm>
          <a:prstGeom prst="rect">
            <a:avLst/>
          </a:prstGeom>
          <a:solidFill>
            <a:srgbClr val="0F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2031107"/>
            <a:ext cx="10307828" cy="481905"/>
          </a:xfrm>
          <a:prstGeom prst="rect">
            <a:avLst/>
          </a:prstGeom>
          <a:noFill/>
        </p:spPr>
        <p:txBody>
          <a:bodyPr wrap="square" lIns="0" rIns="0" tIns="0" bIns="0" anchor="t">
            <a:noAutofit/>
          </a:bodyPr>
          <a:lstStyle/>
          <a:p>
            <a:pPr algn="l">
              <a:lnSpc>
                <a:spcPct val="94000"/>
              </a:lnSpc>
            </a:pPr>
            <a:r>
              <a:rPr sz="3300" b="1" i="0">
                <a:solidFill>
                  <a:srgbClr val="1B2F4B"/>
                </a:solidFill>
                <a:latin typeface="Montserrat"/>
              </a:rPr>
              <a:t>O diagnóstico não define o plano</a:t>
            </a:r>
          </a:p>
        </p:txBody>
      </p:sp>
      <p:sp>
        <p:nvSpPr>
          <p:cNvPr id="4" name="TextBox 3"/>
          <p:cNvSpPr txBox="1"/>
          <p:nvPr/>
        </p:nvSpPr>
        <p:spPr>
          <a:xfrm>
            <a:off x="1168400" y="2843212"/>
            <a:ext cx="10307828" cy="1066800"/>
          </a:xfrm>
          <a:prstGeom prst="rect">
            <a:avLst/>
          </a:prstGeom>
          <a:noFill/>
        </p:spPr>
        <p:txBody>
          <a:bodyPr wrap="square" lIns="0" rIns="0" tIns="0" bIns="0" anchor="t">
            <a:noAutofit/>
          </a:bodyPr>
          <a:lstStyle/>
          <a:p>
            <a:pPr algn="l">
              <a:lnSpc>
                <a:spcPct val="115000"/>
              </a:lnSpc>
            </a:pPr>
            <a:r>
              <a:rPr sz="2000" b="0" i="0">
                <a:solidFill>
                  <a:srgbClr val="2E3A4A"/>
                </a:solidFill>
                <a:latin typeface="Montserrat"/>
              </a:rPr>
              <a:t>Duas pessoas autistas podem ser muito diferentes em linguagem, capacidade intelectual, necessidade de apoio, condições coocorrentes, interesses e contexto familiar.</a:t>
            </a:r>
          </a:p>
        </p:txBody>
      </p:sp>
      <p:sp>
        <p:nvSpPr>
          <p:cNvPr id="5" name="TextBox 4"/>
          <p:cNvSpPr txBox="1"/>
          <p:nvPr/>
        </p:nvSpPr>
        <p:spPr>
          <a:xfrm>
            <a:off x="1168400" y="4240212"/>
            <a:ext cx="10307828" cy="396180"/>
          </a:xfrm>
          <a:prstGeom prst="rect">
            <a:avLst/>
          </a:prstGeom>
          <a:noFill/>
        </p:spPr>
        <p:txBody>
          <a:bodyPr wrap="square" lIns="0" rIns="0" tIns="0" bIns="0" anchor="t">
            <a:noAutofit/>
          </a:bodyPr>
          <a:lstStyle/>
          <a:p>
            <a:pPr algn="l">
              <a:lnSpc>
                <a:spcPct val="107000"/>
              </a:lnSpc>
            </a:pPr>
            <a:r>
              <a:rPr sz="2400" b="1" i="0">
                <a:solidFill>
                  <a:srgbClr val="0F7C86"/>
                </a:solidFill>
                <a:latin typeface="Montserrat"/>
              </a:rPr>
              <a:t>O plano nasce da avaliação da pessoa, não do rótulo.</a:t>
            </a:r>
          </a:p>
        </p:txBody>
      </p:sp>
      <p:sp>
        <p:nvSpPr>
          <p:cNvPr id="6" name="TextBox 5"/>
          <p:cNvSpPr txBox="1"/>
          <p:nvPr/>
        </p:nvSpPr>
        <p:spPr>
          <a:xfrm>
            <a:off x="1168400" y="6343650"/>
            <a:ext cx="9156700" cy="184150"/>
          </a:xfrm>
          <a:prstGeom prst="rect">
            <a:avLst/>
          </a:prstGeom>
          <a:noFill/>
        </p:spPr>
        <p:txBody>
          <a:bodyPr wrap="square" lIns="0" rIns="0" tIns="0" bIns="0" anchor="t">
            <a:noAutofit/>
          </a:bodyPr>
          <a:lstStyle/>
          <a:p>
            <a:pPr algn="l">
              <a:lnSpc>
                <a:spcPct val="98000"/>
              </a:lnSpc>
            </a:pPr>
            <a:r>
              <a:rPr sz="1200" b="0" i="0">
                <a:solidFill>
                  <a:srgbClr val="66717F"/>
                </a:solidFill>
                <a:latin typeface="Montserrat"/>
              </a:rPr>
              <a:t>Lord et al. (2020); Lord et al. (2022)</a:t>
            </a:r>
          </a:p>
        </p:txBody>
      </p:sp>
      <p:sp>
        <p:nvSpPr>
          <p:cNvPr id="7" name="TextBox 6"/>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66717F"/>
                </a:solidFill>
                <a:latin typeface="Montserrat"/>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77800" cy="6858000"/>
          </a:xfrm>
          <a:prstGeom prst="rect">
            <a:avLst/>
          </a:prstGeom>
          <a:solidFill>
            <a:srgbClr val="0F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1627584"/>
            <a:ext cx="10307828" cy="963811"/>
          </a:xfrm>
          <a:prstGeom prst="rect">
            <a:avLst/>
          </a:prstGeom>
          <a:noFill/>
        </p:spPr>
        <p:txBody>
          <a:bodyPr wrap="square" lIns="0" rIns="0" tIns="0" bIns="0" anchor="t">
            <a:noAutofit/>
          </a:bodyPr>
          <a:lstStyle/>
          <a:p>
            <a:pPr algn="l">
              <a:lnSpc>
                <a:spcPct val="94000"/>
              </a:lnSpc>
            </a:pPr>
            <a:r>
              <a:rPr sz="3300" b="1" i="0">
                <a:solidFill>
                  <a:srgbClr val="1B2F4B"/>
                </a:solidFill>
                <a:latin typeface="Montserrat"/>
              </a:rPr>
              <a:t>Prevalência depende de onde e como se mede</a:t>
            </a:r>
          </a:p>
        </p:txBody>
      </p:sp>
      <p:sp>
        <p:nvSpPr>
          <p:cNvPr id="4" name="TextBox 3"/>
          <p:cNvSpPr txBox="1"/>
          <p:nvPr/>
        </p:nvSpPr>
        <p:spPr>
          <a:xfrm>
            <a:off x="1168400" y="2921595"/>
            <a:ext cx="4839970" cy="800100"/>
          </a:xfrm>
          <a:prstGeom prst="rect">
            <a:avLst/>
          </a:prstGeom>
          <a:noFill/>
        </p:spPr>
        <p:txBody>
          <a:bodyPr wrap="square" lIns="0" rIns="0" tIns="0" bIns="0" anchor="t">
            <a:noAutofit/>
          </a:bodyPr>
          <a:lstStyle/>
          <a:p>
            <a:pPr algn="l">
              <a:lnSpc>
                <a:spcPct val="86000"/>
              </a:lnSpc>
            </a:pPr>
            <a:r>
              <a:rPr sz="6000" b="1" i="0">
                <a:solidFill>
                  <a:srgbClr val="0F7C86"/>
                </a:solidFill>
                <a:latin typeface="Montserrat"/>
              </a:rPr>
              <a:t>≈ 1%</a:t>
            </a:r>
          </a:p>
        </p:txBody>
      </p:sp>
      <p:sp>
        <p:nvSpPr>
          <p:cNvPr id="5" name="TextBox 4"/>
          <p:cNvSpPr txBox="1"/>
          <p:nvPr/>
        </p:nvSpPr>
        <p:spPr>
          <a:xfrm>
            <a:off x="1168400" y="3785195"/>
            <a:ext cx="4839970" cy="604441"/>
          </a:xfrm>
          <a:prstGeom prst="rect">
            <a:avLst/>
          </a:prstGeom>
          <a:noFill/>
        </p:spPr>
        <p:txBody>
          <a:bodyPr wrap="square" lIns="0" rIns="0" tIns="0" bIns="0" anchor="t">
            <a:noAutofit/>
          </a:bodyPr>
          <a:lstStyle/>
          <a:p>
            <a:pPr algn="l">
              <a:lnSpc>
                <a:spcPct val="115000"/>
              </a:lnSpc>
            </a:pPr>
            <a:r>
              <a:rPr sz="1700" b="0" i="0">
                <a:solidFill>
                  <a:srgbClr val="2E3A4A"/>
                </a:solidFill>
                <a:latin typeface="Montserrat"/>
              </a:rPr>
              <a:t>Estimativa global (mediana de 100 por 10.000 em estudos de vários países)</a:t>
            </a:r>
          </a:p>
        </p:txBody>
      </p:sp>
      <p:sp>
        <p:nvSpPr>
          <p:cNvPr id="6" name="TextBox 5"/>
          <p:cNvSpPr txBox="1"/>
          <p:nvPr/>
        </p:nvSpPr>
        <p:spPr>
          <a:xfrm>
            <a:off x="6477000" y="2921595"/>
            <a:ext cx="4839970" cy="800100"/>
          </a:xfrm>
          <a:prstGeom prst="rect">
            <a:avLst/>
          </a:prstGeom>
          <a:noFill/>
        </p:spPr>
        <p:txBody>
          <a:bodyPr wrap="square" lIns="0" rIns="0" tIns="0" bIns="0" anchor="t">
            <a:noAutofit/>
          </a:bodyPr>
          <a:lstStyle/>
          <a:p>
            <a:pPr algn="l">
              <a:lnSpc>
                <a:spcPct val="86000"/>
              </a:lnSpc>
            </a:pPr>
            <a:r>
              <a:rPr sz="6000" b="1" i="0">
                <a:solidFill>
                  <a:srgbClr val="0F7C86"/>
                </a:solidFill>
                <a:latin typeface="Montserrat"/>
              </a:rPr>
              <a:t>1 em 31</a:t>
            </a:r>
          </a:p>
        </p:txBody>
      </p:sp>
      <p:sp>
        <p:nvSpPr>
          <p:cNvPr id="7" name="TextBox 6"/>
          <p:cNvSpPr txBox="1"/>
          <p:nvPr/>
        </p:nvSpPr>
        <p:spPr>
          <a:xfrm>
            <a:off x="6477000" y="3785195"/>
            <a:ext cx="4839970" cy="604441"/>
          </a:xfrm>
          <a:prstGeom prst="rect">
            <a:avLst/>
          </a:prstGeom>
          <a:noFill/>
        </p:spPr>
        <p:txBody>
          <a:bodyPr wrap="square" lIns="0" rIns="0" tIns="0" bIns="0" anchor="t">
            <a:noAutofit/>
          </a:bodyPr>
          <a:lstStyle/>
          <a:p>
            <a:pPr algn="l">
              <a:lnSpc>
                <a:spcPct val="115000"/>
              </a:lnSpc>
            </a:pPr>
            <a:r>
              <a:rPr sz="1700" b="0" i="0">
                <a:solidFill>
                  <a:srgbClr val="2E3A4A"/>
                </a:solidFill>
                <a:latin typeface="Montserrat"/>
              </a:rPr>
              <a:t>Crianças de 8 anos em 16 regiões dos EUA, em 2022</a:t>
            </a:r>
          </a:p>
        </p:txBody>
      </p:sp>
      <p:sp>
        <p:nvSpPr>
          <p:cNvPr id="8" name="TextBox 7"/>
          <p:cNvSpPr txBox="1"/>
          <p:nvPr/>
        </p:nvSpPr>
        <p:spPr>
          <a:xfrm>
            <a:off x="1168400" y="4719836"/>
            <a:ext cx="10307828" cy="319980"/>
          </a:xfrm>
          <a:prstGeom prst="rect">
            <a:avLst/>
          </a:prstGeom>
          <a:noFill/>
        </p:spPr>
        <p:txBody>
          <a:bodyPr wrap="square" lIns="0" rIns="0" tIns="0" bIns="0" anchor="t">
            <a:noAutofit/>
          </a:bodyPr>
          <a:lstStyle/>
          <a:p>
            <a:pPr algn="l">
              <a:lnSpc>
                <a:spcPct val="115000"/>
              </a:lnSpc>
            </a:pPr>
            <a:r>
              <a:rPr sz="1800" b="0" i="0">
                <a:solidFill>
                  <a:srgbClr val="2E3A4A"/>
                </a:solidFill>
                <a:latin typeface="Montserrat"/>
              </a:rPr>
              <a:t>Parte da variação reflete práticas de identificação e acesso a avaliação.</a:t>
            </a:r>
          </a:p>
        </p:txBody>
      </p:sp>
      <p:sp>
        <p:nvSpPr>
          <p:cNvPr id="9" name="TextBox 8"/>
          <p:cNvSpPr txBox="1"/>
          <p:nvPr/>
        </p:nvSpPr>
        <p:spPr>
          <a:xfrm>
            <a:off x="1168400" y="6343650"/>
            <a:ext cx="9156700" cy="184150"/>
          </a:xfrm>
          <a:prstGeom prst="rect">
            <a:avLst/>
          </a:prstGeom>
          <a:noFill/>
        </p:spPr>
        <p:txBody>
          <a:bodyPr wrap="square" lIns="0" rIns="0" tIns="0" bIns="0" anchor="t">
            <a:noAutofit/>
          </a:bodyPr>
          <a:lstStyle/>
          <a:p>
            <a:pPr algn="l">
              <a:lnSpc>
                <a:spcPct val="98000"/>
              </a:lnSpc>
            </a:pPr>
            <a:r>
              <a:rPr sz="1200" b="0" i="0">
                <a:solidFill>
                  <a:srgbClr val="66717F"/>
                </a:solidFill>
                <a:latin typeface="Montserrat"/>
              </a:rPr>
              <a:t>Zeidan et al. (2022); Shaw et al. (2025)</a:t>
            </a:r>
          </a:p>
        </p:txBody>
      </p:sp>
      <p:sp>
        <p:nvSpPr>
          <p:cNvPr id="10" name="TextBox 9"/>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66717F"/>
                </a:solidFill>
                <a:latin typeface="Montserrat"/>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77800" cy="6858000"/>
          </a:xfrm>
          <a:prstGeom prst="rect">
            <a:avLst/>
          </a:prstGeom>
          <a:solidFill>
            <a:srgbClr val="0F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2115245"/>
            <a:ext cx="10307828" cy="963811"/>
          </a:xfrm>
          <a:prstGeom prst="rect">
            <a:avLst/>
          </a:prstGeom>
          <a:noFill/>
        </p:spPr>
        <p:txBody>
          <a:bodyPr wrap="square" lIns="0" rIns="0" tIns="0" bIns="0" anchor="t">
            <a:noAutofit/>
          </a:bodyPr>
          <a:lstStyle/>
          <a:p>
            <a:pPr algn="l">
              <a:lnSpc>
                <a:spcPct val="94000"/>
              </a:lnSpc>
            </a:pPr>
            <a:r>
              <a:rPr sz="3300" b="1" i="0">
                <a:solidFill>
                  <a:srgbClr val="1B2F4B"/>
                </a:solidFill>
                <a:latin typeface="Montserrat"/>
              </a:rPr>
              <a:t>Neurodiversidade: diferença não é algo a “curar”</a:t>
            </a:r>
          </a:p>
        </p:txBody>
      </p:sp>
      <p:sp>
        <p:nvSpPr>
          <p:cNvPr id="4" name="TextBox 3"/>
          <p:cNvSpPr txBox="1"/>
          <p:nvPr/>
        </p:nvSpPr>
        <p:spPr>
          <a:xfrm>
            <a:off x="1168400" y="3409255"/>
            <a:ext cx="10307828" cy="1143000"/>
          </a:xfrm>
          <a:prstGeom prst="rect">
            <a:avLst/>
          </a:prstGeom>
          <a:noFill/>
        </p:spPr>
        <p:txBody>
          <a:bodyPr wrap="square" lIns="0" rIns="0" tIns="0" bIns="0" anchor="t">
            <a:noAutofit/>
          </a:bodyPr>
          <a:lstStyle/>
          <a:p>
            <a:pPr algn="l" marL="279400" indent="-279400">
              <a:lnSpc>
                <a:spcPct val="123000"/>
              </a:lnSpc>
              <a:buChar char="•"/>
            </a:pPr>
            <a:r>
              <a:rPr sz="2000" b="0" i="0">
                <a:solidFill>
                  <a:srgbClr val="2E3A4A"/>
                </a:solidFill>
                <a:latin typeface="Montserrat"/>
              </a:rPr>
              <a:t>O autismo como parte da variação humana</a:t>
            </a:r>
          </a:p>
          <a:p>
            <a:pPr algn="l" marL="279400" indent="-279400">
              <a:lnSpc>
                <a:spcPct val="123000"/>
              </a:lnSpc>
              <a:buChar char="•"/>
            </a:pPr>
            <a:r>
              <a:rPr sz="2000" b="0" i="0">
                <a:solidFill>
                  <a:srgbClr val="2E3A4A"/>
                </a:solidFill>
                <a:latin typeface="Montserrat"/>
              </a:rPr>
              <a:t>Reconhecer dificuldades e respeitar a identidade não são opostos</a:t>
            </a:r>
          </a:p>
          <a:p>
            <a:pPr algn="l" marL="279400" indent="-279400">
              <a:lnSpc>
                <a:spcPct val="123000"/>
              </a:lnSpc>
              <a:buChar char="•"/>
            </a:pPr>
            <a:r>
              <a:rPr sz="2000" b="0" i="0">
                <a:solidFill>
                  <a:srgbClr val="2E3A4A"/>
                </a:solidFill>
                <a:latin typeface="Montserrat"/>
              </a:rPr>
              <a:t>A linguagem importa: “pessoa autista”, “interesses focados”</a:t>
            </a:r>
          </a:p>
        </p:txBody>
      </p:sp>
      <p:sp>
        <p:nvSpPr>
          <p:cNvPr id="5" name="TextBox 4"/>
          <p:cNvSpPr txBox="1"/>
          <p:nvPr/>
        </p:nvSpPr>
        <p:spPr>
          <a:xfrm>
            <a:off x="1168400" y="6343650"/>
            <a:ext cx="9156700" cy="184150"/>
          </a:xfrm>
          <a:prstGeom prst="rect">
            <a:avLst/>
          </a:prstGeom>
          <a:noFill/>
        </p:spPr>
        <p:txBody>
          <a:bodyPr wrap="square" lIns="0" rIns="0" tIns="0" bIns="0" anchor="t">
            <a:noAutofit/>
          </a:bodyPr>
          <a:lstStyle/>
          <a:p>
            <a:pPr algn="l">
              <a:lnSpc>
                <a:spcPct val="98000"/>
              </a:lnSpc>
            </a:pPr>
            <a:r>
              <a:rPr sz="1200" b="0" i="0">
                <a:solidFill>
                  <a:srgbClr val="66717F"/>
                </a:solidFill>
                <a:latin typeface="Montserrat"/>
              </a:rPr>
              <a:t>Kapp et al. (2013); Bottema-Beutel et al. (2021)</a:t>
            </a:r>
          </a:p>
        </p:txBody>
      </p:sp>
      <p:sp>
        <p:nvSpPr>
          <p:cNvPr id="6" name="TextBox 5"/>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66717F"/>
                </a:solidFill>
                <a:latin typeface="Montserrat"/>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B2F4B"/>
        </a:solidFill>
        <a:effectLst/>
      </p:bgPr>
    </p:bg>
    <p:spTree>
      <p:nvGrpSpPr>
        <p:cNvPr id="1" name=""/>
        <p:cNvGrpSpPr/>
        <p:nvPr/>
      </p:nvGrpSpPr>
      <p:grpSpPr/>
      <p:sp>
        <p:nvSpPr>
          <p:cNvPr id="2" name="TextBox 1"/>
          <p:cNvSpPr txBox="1"/>
          <p:nvPr/>
        </p:nvSpPr>
        <p:spPr>
          <a:xfrm>
            <a:off x="1270000" y="2874070"/>
            <a:ext cx="9941560" cy="1109861"/>
          </a:xfrm>
          <a:prstGeom prst="rect">
            <a:avLst/>
          </a:prstGeom>
          <a:noFill/>
        </p:spPr>
        <p:txBody>
          <a:bodyPr wrap="square" lIns="0" rIns="0" tIns="0" bIns="0" anchor="t">
            <a:noAutofit/>
          </a:bodyPr>
          <a:lstStyle/>
          <a:p>
            <a:pPr algn="ctr">
              <a:lnSpc>
                <a:spcPct val="94000"/>
              </a:lnSpc>
            </a:pPr>
            <a:r>
              <a:rPr sz="3800" b="1" i="0">
                <a:solidFill>
                  <a:srgbClr val="FFFFFF"/>
                </a:solidFill>
                <a:latin typeface="Montserrat"/>
              </a:rPr>
              <a:t>Se o objetivo não é “tirar o autismo”, o que justifica uma intervenção?</a:t>
            </a:r>
          </a:p>
        </p:txBody>
      </p:sp>
      <p:sp>
        <p:nvSpPr>
          <p:cNvPr id="3" name="TextBox 2"/>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B8C4D2"/>
                </a:solidFill>
                <a:latin typeface="Montserrat"/>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77800" cy="6858000"/>
          </a:xfrm>
          <a:prstGeom prst="rect">
            <a:avLst/>
          </a:prstGeom>
          <a:solidFill>
            <a:srgbClr val="0F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926207"/>
            <a:ext cx="10307828" cy="481905"/>
          </a:xfrm>
          <a:prstGeom prst="rect">
            <a:avLst/>
          </a:prstGeom>
          <a:noFill/>
        </p:spPr>
        <p:txBody>
          <a:bodyPr wrap="square" lIns="0" rIns="0" tIns="0" bIns="0" anchor="t">
            <a:noAutofit/>
          </a:bodyPr>
          <a:lstStyle/>
          <a:p>
            <a:pPr algn="l">
              <a:lnSpc>
                <a:spcPct val="94000"/>
              </a:lnSpc>
            </a:pPr>
            <a:r>
              <a:rPr sz="3300" b="1" i="0">
                <a:solidFill>
                  <a:srgbClr val="1B2F4B"/>
                </a:solidFill>
                <a:latin typeface="Montserrat"/>
              </a:rPr>
              <a:t>Respostas: o que justifica intervir</a:t>
            </a:r>
          </a:p>
        </p:txBody>
      </p:sp>
      <p:graphicFrame>
        <p:nvGraphicFramePr>
          <p:cNvPr id="4" name="Table 3"/>
          <p:cNvGraphicFramePr>
            <a:graphicFrameLocks noGrp="1"/>
          </p:cNvGraphicFramePr>
          <p:nvPr/>
        </p:nvGraphicFramePr>
        <p:xfrm>
          <a:off x="1168400" y="1624012"/>
          <a:ext cx="10007600" cy="3105150"/>
        </p:xfrm>
        <a:graphic>
          <a:graphicData uri="http://schemas.openxmlformats.org/drawingml/2006/table">
            <a:tbl>
              <a:tblPr firstRow="0" bandRow="0">
                <a:tableStyleId>{2D5ABB26-0587-4C30-8999-92F81FD0307C}</a:tableStyleId>
              </a:tblPr>
              <a:tblGrid>
                <a:gridCol w="3802856"/>
                <a:gridCol w="6204744"/>
              </a:tblGrid>
              <a:tr h="476250">
                <a:tc>
                  <a:txBody>
                    <a:bodyPr wrap="square"/>
                    <a:lstStyle/>
                    <a:p>
                      <a:pPr>
                        <a:lnSpc>
                          <a:spcPct val="100000"/>
                        </a:lnSpc>
                      </a:pPr>
                      <a:r>
                        <a:rPr sz="1600" b="1" i="0">
                          <a:solidFill>
                            <a:srgbClr val="FFFFFF"/>
                          </a:solidFill>
                          <a:latin typeface="Montserrat"/>
                        </a:rPr>
                        <a:t>Ganho para a pessoa</a:t>
                      </a:r>
                    </a:p>
                  </a:txBody>
                  <a:tcPr marL="114300" marR="114300" marT="68580" marB="68580" anchor="ctr">
                    <a:solidFill>
                      <a:srgbClr val="1B2F4B"/>
                    </a:solidFill>
                  </a:tcPr>
                </a:tc>
                <a:tc>
                  <a:txBody>
                    <a:bodyPr wrap="square"/>
                    <a:lstStyle/>
                    <a:p>
                      <a:pPr>
                        <a:lnSpc>
                          <a:spcPct val="100000"/>
                        </a:lnSpc>
                      </a:pPr>
                      <a:r>
                        <a:rPr sz="1600" b="1" i="0">
                          <a:solidFill>
                            <a:srgbClr val="FFFFFF"/>
                          </a:solidFill>
                          <a:latin typeface="Montserrat"/>
                        </a:rPr>
                        <a:t>Exemplo</a:t>
                      </a:r>
                    </a:p>
                  </a:txBody>
                  <a:tcPr marL="114300" marR="114300" marT="68580" marB="68580" anchor="ctr">
                    <a:solidFill>
                      <a:srgbClr val="1B2F4B"/>
                    </a:solidFill>
                  </a:tcPr>
                </a:tc>
              </a:tr>
              <a:tr h="476250">
                <a:tc>
                  <a:txBody>
                    <a:bodyPr wrap="square"/>
                    <a:lstStyle/>
                    <a:p>
                      <a:pPr>
                        <a:lnSpc>
                          <a:spcPct val="100000"/>
                        </a:lnSpc>
                      </a:pPr>
                      <a:r>
                        <a:rPr sz="1600" b="1" i="0">
                          <a:solidFill>
                            <a:srgbClr val="2E3A4A"/>
                          </a:solidFill>
                          <a:latin typeface="Montserrat"/>
                        </a:rPr>
                        <a:t>Comunicação</a:t>
                      </a:r>
                    </a:p>
                  </a:txBody>
                  <a:tcPr marL="114300" marR="114300" marT="68580" marB="68580" anchor="ctr">
                    <a:solidFill>
                      <a:srgbClr val="FFFFFF"/>
                    </a:solidFill>
                  </a:tcPr>
                </a:tc>
                <a:tc>
                  <a:txBody>
                    <a:bodyPr wrap="square"/>
                    <a:lstStyle/>
                    <a:p>
                      <a:pPr>
                        <a:lnSpc>
                          <a:spcPct val="100000"/>
                        </a:lnSpc>
                      </a:pPr>
                      <a:r>
                        <a:rPr sz="1600" b="0" i="0">
                          <a:solidFill>
                            <a:srgbClr val="2E3A4A"/>
                          </a:solidFill>
                          <a:latin typeface="Montserrat"/>
                        </a:rPr>
                        <a:t>Ter formas eficazes de pedir, recusar e se expressar</a:t>
                      </a:r>
                    </a:p>
                  </a:txBody>
                  <a:tcPr marL="114300" marR="114300" marT="68580" marB="68580" anchor="ctr">
                    <a:solidFill>
                      <a:srgbClr val="FFFFFF"/>
                    </a:solidFill>
                  </a:tcPr>
                </a:tc>
              </a:tr>
              <a:tr h="476250">
                <a:tc>
                  <a:txBody>
                    <a:bodyPr wrap="square"/>
                    <a:lstStyle/>
                    <a:p>
                      <a:pPr>
                        <a:lnSpc>
                          <a:spcPct val="100000"/>
                        </a:lnSpc>
                      </a:pPr>
                      <a:r>
                        <a:rPr sz="1600" b="1" i="0">
                          <a:solidFill>
                            <a:srgbClr val="2E3A4A"/>
                          </a:solidFill>
                          <a:latin typeface="Montserrat"/>
                        </a:rPr>
                        <a:t>Aprendizagem e participação</a:t>
                      </a:r>
                    </a:p>
                  </a:txBody>
                  <a:tcPr marL="114300" marR="114300" marT="68580" marB="68580" anchor="ctr">
                    <a:solidFill>
                      <a:srgbClr val="F1F4F6"/>
                    </a:solidFill>
                  </a:tcPr>
                </a:tc>
                <a:tc>
                  <a:txBody>
                    <a:bodyPr wrap="square"/>
                    <a:lstStyle/>
                    <a:p>
                      <a:pPr>
                        <a:lnSpc>
                          <a:spcPct val="100000"/>
                        </a:lnSpc>
                      </a:pPr>
                      <a:r>
                        <a:rPr sz="1600" b="0" i="0">
                          <a:solidFill>
                            <a:srgbClr val="2E3A4A"/>
                          </a:solidFill>
                          <a:latin typeface="Montserrat"/>
                        </a:rPr>
                        <a:t>Na escola, em casa e na comunidade</a:t>
                      </a:r>
                    </a:p>
                  </a:txBody>
                  <a:tcPr marL="114300" marR="114300" marT="68580" marB="68580" anchor="ctr">
                    <a:solidFill>
                      <a:srgbClr val="F1F4F6"/>
                    </a:solidFill>
                  </a:tcPr>
                </a:tc>
              </a:tr>
              <a:tr h="476250">
                <a:tc>
                  <a:txBody>
                    <a:bodyPr wrap="square"/>
                    <a:lstStyle/>
                    <a:p>
                      <a:pPr>
                        <a:lnSpc>
                          <a:spcPct val="100000"/>
                        </a:lnSpc>
                      </a:pPr>
                      <a:r>
                        <a:rPr sz="1600" b="1" i="0">
                          <a:solidFill>
                            <a:srgbClr val="2E3A4A"/>
                          </a:solidFill>
                          <a:latin typeface="Montserrat"/>
                        </a:rPr>
                        <a:t>Autonomia</a:t>
                      </a:r>
                    </a:p>
                  </a:txBody>
                  <a:tcPr marL="114300" marR="114300" marT="68580" marB="68580" anchor="ctr">
                    <a:solidFill>
                      <a:srgbClr val="FFFFFF"/>
                    </a:solidFill>
                  </a:tcPr>
                </a:tc>
                <a:tc>
                  <a:txBody>
                    <a:bodyPr wrap="square"/>
                    <a:lstStyle/>
                    <a:p>
                      <a:pPr>
                        <a:lnSpc>
                          <a:spcPct val="100000"/>
                        </a:lnSpc>
                      </a:pPr>
                      <a:r>
                        <a:rPr sz="1600" b="0" i="0">
                          <a:solidFill>
                            <a:srgbClr val="2E3A4A"/>
                          </a:solidFill>
                          <a:latin typeface="Montserrat"/>
                        </a:rPr>
                        <a:t>Fazer mais por si, com menos ajuda</a:t>
                      </a:r>
                    </a:p>
                  </a:txBody>
                  <a:tcPr marL="114300" marR="114300" marT="68580" marB="68580" anchor="ctr">
                    <a:solidFill>
                      <a:srgbClr val="FFFFFF"/>
                    </a:solidFill>
                  </a:tcPr>
                </a:tc>
              </a:tr>
              <a:tr h="723900">
                <a:tc>
                  <a:txBody>
                    <a:bodyPr wrap="square"/>
                    <a:lstStyle/>
                    <a:p>
                      <a:pPr>
                        <a:lnSpc>
                          <a:spcPct val="100000"/>
                        </a:lnSpc>
                      </a:pPr>
                      <a:r>
                        <a:rPr sz="1600" b="1" i="0">
                          <a:solidFill>
                            <a:srgbClr val="2E3A4A"/>
                          </a:solidFill>
                          <a:latin typeface="Montserrat"/>
                        </a:rPr>
                        <a:t>Segurança</a:t>
                      </a:r>
                    </a:p>
                  </a:txBody>
                  <a:tcPr marL="114300" marR="114300" marT="68580" marB="68580" anchor="ctr">
                    <a:solidFill>
                      <a:srgbClr val="F1F4F6"/>
                    </a:solidFill>
                  </a:tcPr>
                </a:tc>
                <a:tc>
                  <a:txBody>
                    <a:bodyPr wrap="square"/>
                    <a:lstStyle/>
                    <a:p>
                      <a:pPr>
                        <a:lnSpc>
                          <a:spcPct val="100000"/>
                        </a:lnSpc>
                      </a:pPr>
                      <a:r>
                        <a:rPr sz="1600" b="0" i="0">
                          <a:solidFill>
                            <a:srgbClr val="2E3A4A"/>
                          </a:solidFill>
                          <a:latin typeface="Montserrat"/>
                        </a:rPr>
                        <a:t>Quando o comportamento machuca a pessoa ou outras pessoas</a:t>
                      </a:r>
                    </a:p>
                  </a:txBody>
                  <a:tcPr marL="114300" marR="114300" marT="68580" marB="68580" anchor="ctr">
                    <a:solidFill>
                      <a:srgbClr val="F1F4F6"/>
                    </a:solidFill>
                  </a:tcPr>
                </a:tc>
              </a:tr>
              <a:tr h="476250">
                <a:tc>
                  <a:txBody>
                    <a:bodyPr wrap="square"/>
                    <a:lstStyle/>
                    <a:p>
                      <a:pPr>
                        <a:lnSpc>
                          <a:spcPct val="100000"/>
                        </a:lnSpc>
                      </a:pPr>
                      <a:r>
                        <a:rPr sz="1600" b="1" i="0">
                          <a:solidFill>
                            <a:srgbClr val="2E3A4A"/>
                          </a:solidFill>
                          <a:latin typeface="Montserrat"/>
                        </a:rPr>
                        <a:t>Qualidade de vida</a:t>
                      </a:r>
                    </a:p>
                  </a:txBody>
                  <a:tcPr marL="114300" marR="114300" marT="68580" marB="68580" anchor="ctr">
                    <a:solidFill>
                      <a:srgbClr val="FFFFFF"/>
                    </a:solidFill>
                  </a:tcPr>
                </a:tc>
                <a:tc>
                  <a:txBody>
                    <a:bodyPr wrap="square"/>
                    <a:lstStyle/>
                    <a:p>
                      <a:pPr>
                        <a:lnSpc>
                          <a:spcPct val="100000"/>
                        </a:lnSpc>
                      </a:pPr>
                      <a:r>
                        <a:rPr sz="1600" b="0" i="0">
                          <a:solidFill>
                            <a:srgbClr val="2E3A4A"/>
                          </a:solidFill>
                          <a:latin typeface="Montserrat"/>
                        </a:rPr>
                        <a:t>Bem-estar, interesses e relações</a:t>
                      </a:r>
                    </a:p>
                  </a:txBody>
                  <a:tcPr marL="114300" marR="114300" marT="68580" marB="68580" anchor="ctr">
                    <a:solidFill>
                      <a:srgbClr val="FFFFFF"/>
                    </a:solidFill>
                  </a:tcPr>
                </a:tc>
              </a:tr>
            </a:tbl>
          </a:graphicData>
        </a:graphic>
      </p:graphicFrame>
      <p:sp>
        <p:nvSpPr>
          <p:cNvPr id="5" name="TextBox 4"/>
          <p:cNvSpPr txBox="1"/>
          <p:nvPr/>
        </p:nvSpPr>
        <p:spPr>
          <a:xfrm>
            <a:off x="1168400" y="4945062"/>
            <a:ext cx="10307828" cy="313630"/>
          </a:xfrm>
          <a:prstGeom prst="rect">
            <a:avLst/>
          </a:prstGeom>
          <a:noFill/>
        </p:spPr>
        <p:txBody>
          <a:bodyPr wrap="square" lIns="0" rIns="0" tIns="0" bIns="0" anchor="t">
            <a:noAutofit/>
          </a:bodyPr>
          <a:lstStyle/>
          <a:p>
            <a:pPr algn="l">
              <a:lnSpc>
                <a:spcPct val="107000"/>
              </a:lnSpc>
            </a:pPr>
            <a:r>
              <a:rPr sz="1900" b="1" i="0">
                <a:solidFill>
                  <a:srgbClr val="0F7C86"/>
                </a:solidFill>
                <a:latin typeface="Montserrat"/>
              </a:rPr>
              <a:t>Características autistas inofensivas não são alvo por si só.</a:t>
            </a:r>
          </a:p>
        </p:txBody>
      </p:sp>
      <p:sp>
        <p:nvSpPr>
          <p:cNvPr id="6" name="TextBox 5"/>
          <p:cNvSpPr txBox="1"/>
          <p:nvPr/>
        </p:nvSpPr>
        <p:spPr>
          <a:xfrm>
            <a:off x="1168400" y="5474593"/>
            <a:ext cx="10307828" cy="266700"/>
          </a:xfrm>
          <a:prstGeom prst="rect">
            <a:avLst/>
          </a:prstGeom>
          <a:noFill/>
        </p:spPr>
        <p:txBody>
          <a:bodyPr wrap="square" lIns="0" rIns="0" tIns="0" bIns="0" anchor="t">
            <a:noAutofit/>
          </a:bodyPr>
          <a:lstStyle/>
          <a:p>
            <a:pPr algn="l">
              <a:lnSpc>
                <a:spcPct val="115000"/>
              </a:lnSpc>
            </a:pPr>
            <a:r>
              <a:rPr sz="1500" b="0" i="1">
                <a:solidFill>
                  <a:srgbClr val="66717F"/>
                </a:solidFill>
                <a:latin typeface="Montserrat"/>
              </a:rPr>
              <a:t>Objetivos definidos com a família e, sempre que possível, com a própria pessoa.</a:t>
            </a:r>
          </a:p>
        </p:txBody>
      </p:sp>
      <p:sp>
        <p:nvSpPr>
          <p:cNvPr id="7" name="TextBox 6"/>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66717F"/>
                </a:solidFill>
                <a:latin typeface="Montserrat"/>
              </a:rPr>
              <a:t>12b</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77800" cy="6858000"/>
          </a:xfrm>
          <a:prstGeom prst="rect">
            <a:avLst/>
          </a:prstGeom>
          <a:solidFill>
            <a:srgbClr val="0F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1658045"/>
            <a:ext cx="10307828" cy="963811"/>
          </a:xfrm>
          <a:prstGeom prst="rect">
            <a:avLst/>
          </a:prstGeom>
          <a:noFill/>
        </p:spPr>
        <p:txBody>
          <a:bodyPr wrap="square" lIns="0" rIns="0" tIns="0" bIns="0" anchor="t">
            <a:noAutofit/>
          </a:bodyPr>
          <a:lstStyle/>
          <a:p>
            <a:pPr algn="l">
              <a:lnSpc>
                <a:spcPct val="94000"/>
              </a:lnSpc>
            </a:pPr>
            <a:r>
              <a:rPr sz="3300" b="1" i="0">
                <a:solidFill>
                  <a:srgbClr val="1B2F4B"/>
                </a:solidFill>
                <a:latin typeface="Montserrat"/>
              </a:rPr>
              <a:t>ABA é uma ciência aplicada, não um pacote de técnicas</a:t>
            </a:r>
          </a:p>
        </p:txBody>
      </p:sp>
      <p:sp>
        <p:nvSpPr>
          <p:cNvPr id="4" name="TextBox 3"/>
          <p:cNvSpPr txBox="1"/>
          <p:nvPr/>
        </p:nvSpPr>
        <p:spPr>
          <a:xfrm>
            <a:off x="1168400" y="2875855"/>
            <a:ext cx="10307828" cy="355600"/>
          </a:xfrm>
          <a:prstGeom prst="rect">
            <a:avLst/>
          </a:prstGeom>
          <a:noFill/>
        </p:spPr>
        <p:txBody>
          <a:bodyPr wrap="square" lIns="0" rIns="0" tIns="0" bIns="0" anchor="t">
            <a:noAutofit/>
          </a:bodyPr>
          <a:lstStyle/>
          <a:p>
            <a:pPr algn="l">
              <a:lnSpc>
                <a:spcPct val="115000"/>
              </a:lnSpc>
            </a:pPr>
            <a:r>
              <a:rPr sz="2000" b="0" i="0">
                <a:solidFill>
                  <a:srgbClr val="2E3A4A"/>
                </a:solidFill>
                <a:latin typeface="Montserrat"/>
              </a:rPr>
              <a:t>Sete dimensões definem a Análise do Comportamento Aplicada:</a:t>
            </a:r>
          </a:p>
        </p:txBody>
      </p:sp>
      <p:sp>
        <p:nvSpPr>
          <p:cNvPr id="5" name="TextBox 4"/>
          <p:cNvSpPr txBox="1"/>
          <p:nvPr/>
        </p:nvSpPr>
        <p:spPr>
          <a:xfrm>
            <a:off x="1168400" y="3485455"/>
            <a:ext cx="2526575" cy="1524000"/>
          </a:xfrm>
          <a:prstGeom prst="rect">
            <a:avLst/>
          </a:prstGeom>
          <a:noFill/>
        </p:spPr>
        <p:txBody>
          <a:bodyPr wrap="square" lIns="0" rIns="0" tIns="0" bIns="0" anchor="t">
            <a:noAutofit/>
          </a:bodyPr>
          <a:lstStyle/>
          <a:p>
            <a:pPr algn="l" marL="279400" indent="-279400">
              <a:lnSpc>
                <a:spcPct val="123000"/>
              </a:lnSpc>
              <a:buChar char="•"/>
            </a:pPr>
            <a:r>
              <a:rPr sz="2000" b="0" i="0">
                <a:solidFill>
                  <a:srgbClr val="2E3A4A"/>
                </a:solidFill>
                <a:latin typeface="Montserrat"/>
              </a:rPr>
              <a:t>Aplicada</a:t>
            </a:r>
          </a:p>
          <a:p>
            <a:pPr algn="l" marL="279400" indent="-279400">
              <a:lnSpc>
                <a:spcPct val="123000"/>
              </a:lnSpc>
              <a:buChar char="•"/>
            </a:pPr>
            <a:r>
              <a:rPr sz="2000" b="0" i="0">
                <a:solidFill>
                  <a:srgbClr val="2E3A4A"/>
                </a:solidFill>
                <a:latin typeface="Montserrat"/>
              </a:rPr>
              <a:t>Comportamental</a:t>
            </a:r>
          </a:p>
          <a:p>
            <a:pPr algn="l" marL="279400" indent="-279400">
              <a:lnSpc>
                <a:spcPct val="123000"/>
              </a:lnSpc>
              <a:buChar char="•"/>
            </a:pPr>
            <a:r>
              <a:rPr sz="2000" b="0" i="0">
                <a:solidFill>
                  <a:srgbClr val="2E3A4A"/>
                </a:solidFill>
                <a:latin typeface="Montserrat"/>
              </a:rPr>
              <a:t>Analítica</a:t>
            </a:r>
          </a:p>
          <a:p>
            <a:pPr algn="l" marL="279400" indent="-279400">
              <a:lnSpc>
                <a:spcPct val="123000"/>
              </a:lnSpc>
              <a:buChar char="•"/>
            </a:pPr>
            <a:r>
              <a:rPr sz="2000" b="0" i="0">
                <a:solidFill>
                  <a:srgbClr val="2E3A4A"/>
                </a:solidFill>
                <a:latin typeface="Montserrat"/>
              </a:rPr>
              <a:t>Tecnológica</a:t>
            </a:r>
          </a:p>
        </p:txBody>
      </p:sp>
      <p:sp>
        <p:nvSpPr>
          <p:cNvPr id="6" name="TextBox 5"/>
          <p:cNvSpPr txBox="1"/>
          <p:nvPr/>
        </p:nvSpPr>
        <p:spPr>
          <a:xfrm>
            <a:off x="4230985" y="3485455"/>
            <a:ext cx="4095477" cy="1524000"/>
          </a:xfrm>
          <a:prstGeom prst="rect">
            <a:avLst/>
          </a:prstGeom>
          <a:noFill/>
        </p:spPr>
        <p:txBody>
          <a:bodyPr wrap="square" lIns="0" rIns="0" tIns="0" bIns="0" anchor="t">
            <a:noAutofit/>
          </a:bodyPr>
          <a:lstStyle/>
          <a:p>
            <a:pPr algn="l" marL="279400" indent="-279400">
              <a:lnSpc>
                <a:spcPct val="123000"/>
              </a:lnSpc>
              <a:buChar char="•"/>
            </a:pPr>
            <a:r>
              <a:rPr sz="2000" b="0" i="0">
                <a:solidFill>
                  <a:srgbClr val="2E3A4A"/>
                </a:solidFill>
                <a:latin typeface="Montserrat"/>
              </a:rPr>
              <a:t>Conceitualmente sistemática</a:t>
            </a:r>
          </a:p>
          <a:p>
            <a:pPr algn="l" marL="279400" indent="-279400">
              <a:lnSpc>
                <a:spcPct val="123000"/>
              </a:lnSpc>
              <a:buChar char="•"/>
            </a:pPr>
            <a:r>
              <a:rPr sz="2000" b="0" i="0">
                <a:solidFill>
                  <a:srgbClr val="2E3A4A"/>
                </a:solidFill>
                <a:latin typeface="Montserrat"/>
              </a:rPr>
              <a:t>Efetiva</a:t>
            </a:r>
          </a:p>
          <a:p>
            <a:pPr algn="l" marL="279400" indent="-279400">
              <a:lnSpc>
                <a:spcPct val="123000"/>
              </a:lnSpc>
              <a:buChar char="•"/>
            </a:pPr>
            <a:r>
              <a:rPr sz="2000" b="0" i="0">
                <a:solidFill>
                  <a:srgbClr val="2E3A4A"/>
                </a:solidFill>
                <a:latin typeface="Montserrat"/>
              </a:rPr>
              <a:t>Generalidade</a:t>
            </a:r>
          </a:p>
        </p:txBody>
      </p:sp>
      <p:sp>
        <p:nvSpPr>
          <p:cNvPr id="7" name="TextBox 6"/>
          <p:cNvSpPr txBox="1"/>
          <p:nvPr/>
        </p:nvSpPr>
        <p:spPr>
          <a:xfrm>
            <a:off x="1168400" y="6343650"/>
            <a:ext cx="9156700" cy="184150"/>
          </a:xfrm>
          <a:prstGeom prst="rect">
            <a:avLst/>
          </a:prstGeom>
          <a:noFill/>
        </p:spPr>
        <p:txBody>
          <a:bodyPr wrap="square" lIns="0" rIns="0" tIns="0" bIns="0" anchor="t">
            <a:noAutofit/>
          </a:bodyPr>
          <a:lstStyle/>
          <a:p>
            <a:pPr algn="l">
              <a:lnSpc>
                <a:spcPct val="98000"/>
              </a:lnSpc>
            </a:pPr>
            <a:r>
              <a:rPr sz="1200" b="0" i="0">
                <a:solidFill>
                  <a:srgbClr val="66717F"/>
                </a:solidFill>
                <a:latin typeface="Montserrat"/>
              </a:rPr>
              <a:t>Baer, Wolf &amp; Risley (1968)</a:t>
            </a:r>
          </a:p>
        </p:txBody>
      </p:sp>
      <p:sp>
        <p:nvSpPr>
          <p:cNvPr id="8" name="TextBox 7"/>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66717F"/>
                </a:solidFill>
                <a:latin typeface="Montserrat"/>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77800" cy="6858000"/>
          </a:xfrm>
          <a:prstGeom prst="rect">
            <a:avLst/>
          </a:prstGeom>
          <a:solidFill>
            <a:srgbClr val="0F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1684536"/>
            <a:ext cx="10307828" cy="481905"/>
          </a:xfrm>
          <a:prstGeom prst="rect">
            <a:avLst/>
          </a:prstGeom>
          <a:noFill/>
        </p:spPr>
        <p:txBody>
          <a:bodyPr wrap="square" lIns="0" rIns="0" tIns="0" bIns="0" anchor="t">
            <a:noAutofit/>
          </a:bodyPr>
          <a:lstStyle/>
          <a:p>
            <a:pPr algn="l">
              <a:lnSpc>
                <a:spcPct val="94000"/>
              </a:lnSpc>
            </a:pPr>
            <a:r>
              <a:rPr sz="3300" b="1" i="0">
                <a:solidFill>
                  <a:srgbClr val="1B2F4B"/>
                </a:solidFill>
                <a:latin typeface="Montserrat"/>
              </a:rPr>
              <a:t>Topografia descreve. Função explica.</a:t>
            </a:r>
          </a:p>
        </p:txBody>
      </p:sp>
      <p:sp>
        <p:nvSpPr>
          <p:cNvPr id="4" name="TextBox 3"/>
          <p:cNvSpPr txBox="1"/>
          <p:nvPr/>
        </p:nvSpPr>
        <p:spPr>
          <a:xfrm>
            <a:off x="1168400" y="2445841"/>
            <a:ext cx="4839970" cy="319980"/>
          </a:xfrm>
          <a:prstGeom prst="rect">
            <a:avLst/>
          </a:prstGeom>
          <a:noFill/>
        </p:spPr>
        <p:txBody>
          <a:bodyPr wrap="square" lIns="0" rIns="0" tIns="0" bIns="0" anchor="t">
            <a:noAutofit/>
          </a:bodyPr>
          <a:lstStyle/>
          <a:p>
            <a:pPr algn="l">
              <a:lnSpc>
                <a:spcPct val="98000"/>
              </a:lnSpc>
            </a:pPr>
            <a:r>
              <a:rPr sz="2100" b="1" i="0">
                <a:solidFill>
                  <a:srgbClr val="0F7C86"/>
                </a:solidFill>
                <a:latin typeface="Montserrat"/>
              </a:rPr>
              <a:t>Topografia</a:t>
            </a:r>
          </a:p>
        </p:txBody>
      </p:sp>
      <p:sp>
        <p:nvSpPr>
          <p:cNvPr id="5" name="TextBox 4"/>
          <p:cNvSpPr txBox="1"/>
          <p:nvPr/>
        </p:nvSpPr>
        <p:spPr>
          <a:xfrm>
            <a:off x="1168400" y="2854722"/>
            <a:ext cx="4839970" cy="675481"/>
          </a:xfrm>
          <a:prstGeom prst="rect">
            <a:avLst/>
          </a:prstGeom>
          <a:noFill/>
        </p:spPr>
        <p:txBody>
          <a:bodyPr wrap="square" lIns="0" rIns="0" tIns="0" bIns="0" anchor="t">
            <a:noAutofit/>
          </a:bodyPr>
          <a:lstStyle/>
          <a:p>
            <a:pPr algn="l">
              <a:lnSpc>
                <a:spcPct val="115000"/>
              </a:lnSpc>
            </a:pPr>
            <a:r>
              <a:rPr sz="1900" b="0" i="0">
                <a:solidFill>
                  <a:srgbClr val="2E3A4A"/>
                </a:solidFill>
                <a:latin typeface="Montserrat"/>
              </a:rPr>
              <a:t>A forma do comportamento: o que se vê e se ouve.</a:t>
            </a:r>
          </a:p>
        </p:txBody>
      </p:sp>
      <p:sp>
        <p:nvSpPr>
          <p:cNvPr id="6" name="TextBox 5"/>
          <p:cNvSpPr txBox="1"/>
          <p:nvPr/>
        </p:nvSpPr>
        <p:spPr>
          <a:xfrm>
            <a:off x="6477000" y="2445841"/>
            <a:ext cx="4839970" cy="319980"/>
          </a:xfrm>
          <a:prstGeom prst="rect">
            <a:avLst/>
          </a:prstGeom>
          <a:noFill/>
        </p:spPr>
        <p:txBody>
          <a:bodyPr wrap="square" lIns="0" rIns="0" tIns="0" bIns="0" anchor="t">
            <a:noAutofit/>
          </a:bodyPr>
          <a:lstStyle/>
          <a:p>
            <a:pPr algn="l">
              <a:lnSpc>
                <a:spcPct val="98000"/>
              </a:lnSpc>
            </a:pPr>
            <a:r>
              <a:rPr sz="2100" b="1" i="0">
                <a:solidFill>
                  <a:srgbClr val="0F7C86"/>
                </a:solidFill>
                <a:latin typeface="Montserrat"/>
              </a:rPr>
              <a:t>Função</a:t>
            </a:r>
          </a:p>
        </p:txBody>
      </p:sp>
      <p:sp>
        <p:nvSpPr>
          <p:cNvPr id="7" name="TextBox 6"/>
          <p:cNvSpPr txBox="1"/>
          <p:nvPr/>
        </p:nvSpPr>
        <p:spPr>
          <a:xfrm>
            <a:off x="6477000" y="2854722"/>
            <a:ext cx="4839970" cy="675481"/>
          </a:xfrm>
          <a:prstGeom prst="rect">
            <a:avLst/>
          </a:prstGeom>
          <a:noFill/>
        </p:spPr>
        <p:txBody>
          <a:bodyPr wrap="square" lIns="0" rIns="0" tIns="0" bIns="0" anchor="t">
            <a:noAutofit/>
          </a:bodyPr>
          <a:lstStyle/>
          <a:p>
            <a:pPr algn="l">
              <a:lnSpc>
                <a:spcPct val="115000"/>
              </a:lnSpc>
            </a:pPr>
            <a:r>
              <a:rPr sz="1900" b="0" i="0">
                <a:solidFill>
                  <a:srgbClr val="2E3A4A"/>
                </a:solidFill>
                <a:latin typeface="Montserrat"/>
              </a:rPr>
              <a:t>A relação com as consequências que mantêm o comportamento.</a:t>
            </a:r>
          </a:p>
        </p:txBody>
      </p:sp>
      <p:sp>
        <p:nvSpPr>
          <p:cNvPr id="8" name="TextBox 7"/>
          <p:cNvSpPr txBox="1"/>
          <p:nvPr/>
        </p:nvSpPr>
        <p:spPr>
          <a:xfrm>
            <a:off x="1168400" y="3809603"/>
            <a:ext cx="10307828" cy="627261"/>
          </a:xfrm>
          <a:prstGeom prst="rect">
            <a:avLst/>
          </a:prstGeom>
          <a:noFill/>
        </p:spPr>
        <p:txBody>
          <a:bodyPr wrap="square" lIns="0" rIns="0" tIns="0" bIns="0" anchor="t">
            <a:noAutofit/>
          </a:bodyPr>
          <a:lstStyle/>
          <a:p>
            <a:pPr algn="l">
              <a:lnSpc>
                <a:spcPct val="107000"/>
              </a:lnSpc>
            </a:pPr>
            <a:r>
              <a:rPr sz="1900" b="1" i="0">
                <a:solidFill>
                  <a:srgbClr val="0F7C86"/>
                </a:solidFill>
                <a:latin typeface="Montserrat"/>
              </a:rPr>
              <a:t>A mesma forma pode ter funções diferentes, e formas diferentes podem ter a mesma função.</a:t>
            </a:r>
          </a:p>
        </p:txBody>
      </p:sp>
      <p:sp>
        <p:nvSpPr>
          <p:cNvPr id="9" name="TextBox 8"/>
          <p:cNvSpPr txBox="1"/>
          <p:nvPr/>
        </p:nvSpPr>
        <p:spPr>
          <a:xfrm>
            <a:off x="1168400" y="4716264"/>
            <a:ext cx="10307828" cy="266700"/>
          </a:xfrm>
          <a:prstGeom prst="rect">
            <a:avLst/>
          </a:prstGeom>
          <a:noFill/>
        </p:spPr>
        <p:txBody>
          <a:bodyPr wrap="square" lIns="0" rIns="0" tIns="0" bIns="0" anchor="t">
            <a:noAutofit/>
          </a:bodyPr>
          <a:lstStyle/>
          <a:p>
            <a:pPr algn="l">
              <a:lnSpc>
                <a:spcPct val="115000"/>
              </a:lnSpc>
            </a:pPr>
            <a:r>
              <a:rPr sz="1500" b="0" i="1">
                <a:solidFill>
                  <a:srgbClr val="66717F"/>
                </a:solidFill>
                <a:latin typeface="Montserrat"/>
              </a:rPr>
              <a:t>Exemplo fictício: bater na mesa pode produzir atenção para uma criança e a retirada da tarefa para outra.</a:t>
            </a:r>
          </a:p>
        </p:txBody>
      </p:sp>
      <p:sp>
        <p:nvSpPr>
          <p:cNvPr id="10" name="TextBox 9"/>
          <p:cNvSpPr txBox="1"/>
          <p:nvPr/>
        </p:nvSpPr>
        <p:spPr>
          <a:xfrm>
            <a:off x="1168400" y="6343650"/>
            <a:ext cx="9156700" cy="184150"/>
          </a:xfrm>
          <a:prstGeom prst="rect">
            <a:avLst/>
          </a:prstGeom>
          <a:noFill/>
        </p:spPr>
        <p:txBody>
          <a:bodyPr wrap="square" lIns="0" rIns="0" tIns="0" bIns="0" anchor="t">
            <a:noAutofit/>
          </a:bodyPr>
          <a:lstStyle/>
          <a:p>
            <a:pPr algn="l">
              <a:lnSpc>
                <a:spcPct val="98000"/>
              </a:lnSpc>
            </a:pPr>
            <a:r>
              <a:rPr sz="1200" b="0" i="0">
                <a:solidFill>
                  <a:srgbClr val="66717F"/>
                </a:solidFill>
                <a:latin typeface="Montserrat"/>
              </a:rPr>
              <a:t>Cooper, Heron &amp; Heward (2020); Iwata et al. (1982/1994)</a:t>
            </a:r>
          </a:p>
        </p:txBody>
      </p:sp>
      <p:sp>
        <p:nvSpPr>
          <p:cNvPr id="11" name="TextBox 10"/>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66717F"/>
                </a:solidFill>
                <a:latin typeface="Montserrat"/>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77800" cy="6858000"/>
          </a:xfrm>
          <a:prstGeom prst="rect">
            <a:avLst/>
          </a:prstGeom>
          <a:solidFill>
            <a:srgbClr val="0F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1763514"/>
            <a:ext cx="10307828" cy="963811"/>
          </a:xfrm>
          <a:prstGeom prst="rect">
            <a:avLst/>
          </a:prstGeom>
          <a:noFill/>
        </p:spPr>
        <p:txBody>
          <a:bodyPr wrap="square" lIns="0" rIns="0" tIns="0" bIns="0" anchor="t">
            <a:noAutofit/>
          </a:bodyPr>
          <a:lstStyle/>
          <a:p>
            <a:pPr algn="l">
              <a:lnSpc>
                <a:spcPct val="94000"/>
              </a:lnSpc>
            </a:pPr>
            <a:r>
              <a:rPr sz="3300" b="1" i="0">
                <a:solidFill>
                  <a:srgbClr val="1B2F4B"/>
                </a:solidFill>
                <a:latin typeface="Montserrat"/>
              </a:rPr>
              <a:t>O comportamento acontece entre um antes e um depois</a:t>
            </a:r>
          </a:p>
        </p:txBody>
      </p:sp>
      <p:sp>
        <p:nvSpPr>
          <p:cNvPr id="4" name="TextBox 3"/>
          <p:cNvSpPr txBox="1"/>
          <p:nvPr/>
        </p:nvSpPr>
        <p:spPr>
          <a:xfrm>
            <a:off x="1168400" y="3057525"/>
            <a:ext cx="3156915" cy="289520"/>
          </a:xfrm>
          <a:prstGeom prst="rect">
            <a:avLst/>
          </a:prstGeom>
          <a:noFill/>
        </p:spPr>
        <p:txBody>
          <a:bodyPr wrap="square" lIns="0" rIns="0" tIns="0" bIns="0" anchor="t">
            <a:noAutofit/>
          </a:bodyPr>
          <a:lstStyle/>
          <a:p>
            <a:pPr algn="l">
              <a:lnSpc>
                <a:spcPct val="98000"/>
              </a:lnSpc>
            </a:pPr>
            <a:r>
              <a:rPr sz="1900" b="1" i="0">
                <a:solidFill>
                  <a:srgbClr val="0F7C86"/>
                </a:solidFill>
                <a:latin typeface="Montserrat"/>
              </a:rPr>
              <a:t>A. Antecedente</a:t>
            </a:r>
          </a:p>
        </p:txBody>
      </p:sp>
      <p:sp>
        <p:nvSpPr>
          <p:cNvPr id="5" name="TextBox 4"/>
          <p:cNvSpPr txBox="1"/>
          <p:nvPr/>
        </p:nvSpPr>
        <p:spPr>
          <a:xfrm>
            <a:off x="1168400" y="3435945"/>
            <a:ext cx="3156915" cy="604441"/>
          </a:xfrm>
          <a:prstGeom prst="rect">
            <a:avLst/>
          </a:prstGeom>
          <a:noFill/>
        </p:spPr>
        <p:txBody>
          <a:bodyPr wrap="square" lIns="0" rIns="0" tIns="0" bIns="0" anchor="t">
            <a:noAutofit/>
          </a:bodyPr>
          <a:lstStyle/>
          <a:p>
            <a:pPr algn="l">
              <a:lnSpc>
                <a:spcPct val="115000"/>
              </a:lnSpc>
            </a:pPr>
            <a:r>
              <a:rPr sz="1700" b="0" i="0">
                <a:solidFill>
                  <a:srgbClr val="2E3A4A"/>
                </a:solidFill>
                <a:latin typeface="Montserrat"/>
              </a:rPr>
              <a:t>O que acontece imediatamente antes</a:t>
            </a:r>
          </a:p>
        </p:txBody>
      </p:sp>
      <p:sp>
        <p:nvSpPr>
          <p:cNvPr id="6" name="TextBox 5"/>
          <p:cNvSpPr txBox="1"/>
          <p:nvPr/>
        </p:nvSpPr>
        <p:spPr>
          <a:xfrm>
            <a:off x="4639766" y="3057525"/>
            <a:ext cx="3156915" cy="289520"/>
          </a:xfrm>
          <a:prstGeom prst="rect">
            <a:avLst/>
          </a:prstGeom>
          <a:noFill/>
        </p:spPr>
        <p:txBody>
          <a:bodyPr wrap="square" lIns="0" rIns="0" tIns="0" bIns="0" anchor="t">
            <a:noAutofit/>
          </a:bodyPr>
          <a:lstStyle/>
          <a:p>
            <a:pPr algn="l">
              <a:lnSpc>
                <a:spcPct val="98000"/>
              </a:lnSpc>
            </a:pPr>
            <a:r>
              <a:rPr sz="1900" b="1" i="0">
                <a:solidFill>
                  <a:srgbClr val="0F7C86"/>
                </a:solidFill>
                <a:latin typeface="Montserrat"/>
              </a:rPr>
              <a:t>B. Comportamento</a:t>
            </a:r>
          </a:p>
        </p:txBody>
      </p:sp>
      <p:sp>
        <p:nvSpPr>
          <p:cNvPr id="7" name="TextBox 6"/>
          <p:cNvSpPr txBox="1"/>
          <p:nvPr/>
        </p:nvSpPr>
        <p:spPr>
          <a:xfrm>
            <a:off x="4639766" y="3435945"/>
            <a:ext cx="3156915" cy="604441"/>
          </a:xfrm>
          <a:prstGeom prst="rect">
            <a:avLst/>
          </a:prstGeom>
          <a:noFill/>
        </p:spPr>
        <p:txBody>
          <a:bodyPr wrap="square" lIns="0" rIns="0" tIns="0" bIns="0" anchor="t">
            <a:noAutofit/>
          </a:bodyPr>
          <a:lstStyle/>
          <a:p>
            <a:pPr algn="l">
              <a:lnSpc>
                <a:spcPct val="115000"/>
              </a:lnSpc>
            </a:pPr>
            <a:r>
              <a:rPr sz="1700" b="0" i="0">
                <a:solidFill>
                  <a:srgbClr val="2E3A4A"/>
                </a:solidFill>
                <a:latin typeface="Montserrat"/>
              </a:rPr>
              <a:t>O que a pessoa faz, descrito de forma observável</a:t>
            </a:r>
          </a:p>
        </p:txBody>
      </p:sp>
      <p:sp>
        <p:nvSpPr>
          <p:cNvPr id="8" name="TextBox 7"/>
          <p:cNvSpPr txBox="1"/>
          <p:nvPr/>
        </p:nvSpPr>
        <p:spPr>
          <a:xfrm>
            <a:off x="8111133" y="3057525"/>
            <a:ext cx="3156915" cy="289520"/>
          </a:xfrm>
          <a:prstGeom prst="rect">
            <a:avLst/>
          </a:prstGeom>
          <a:noFill/>
        </p:spPr>
        <p:txBody>
          <a:bodyPr wrap="square" lIns="0" rIns="0" tIns="0" bIns="0" anchor="t">
            <a:noAutofit/>
          </a:bodyPr>
          <a:lstStyle/>
          <a:p>
            <a:pPr algn="l">
              <a:lnSpc>
                <a:spcPct val="98000"/>
              </a:lnSpc>
            </a:pPr>
            <a:r>
              <a:rPr sz="1900" b="1" i="0">
                <a:solidFill>
                  <a:srgbClr val="0F7C86"/>
                </a:solidFill>
                <a:latin typeface="Montserrat"/>
              </a:rPr>
              <a:t>C. Consequência</a:t>
            </a:r>
          </a:p>
        </p:txBody>
      </p:sp>
      <p:sp>
        <p:nvSpPr>
          <p:cNvPr id="9" name="TextBox 8"/>
          <p:cNvSpPr txBox="1"/>
          <p:nvPr/>
        </p:nvSpPr>
        <p:spPr>
          <a:xfrm>
            <a:off x="8111133" y="3435945"/>
            <a:ext cx="3156915" cy="604441"/>
          </a:xfrm>
          <a:prstGeom prst="rect">
            <a:avLst/>
          </a:prstGeom>
          <a:noFill/>
        </p:spPr>
        <p:txBody>
          <a:bodyPr wrap="square" lIns="0" rIns="0" tIns="0" bIns="0" anchor="t">
            <a:noAutofit/>
          </a:bodyPr>
          <a:lstStyle/>
          <a:p>
            <a:pPr algn="l">
              <a:lnSpc>
                <a:spcPct val="115000"/>
              </a:lnSpc>
            </a:pPr>
            <a:r>
              <a:rPr sz="1700" b="0" i="0">
                <a:solidFill>
                  <a:srgbClr val="2E3A4A"/>
                </a:solidFill>
                <a:latin typeface="Montserrat"/>
              </a:rPr>
              <a:t>O que acontece imediatamente depois</a:t>
            </a:r>
          </a:p>
        </p:txBody>
      </p:sp>
      <p:sp>
        <p:nvSpPr>
          <p:cNvPr id="10" name="TextBox 9"/>
          <p:cNvSpPr txBox="1"/>
          <p:nvPr/>
        </p:nvSpPr>
        <p:spPr>
          <a:xfrm>
            <a:off x="1168400" y="4370586"/>
            <a:ext cx="10307828" cy="533400"/>
          </a:xfrm>
          <a:prstGeom prst="rect">
            <a:avLst/>
          </a:prstGeom>
          <a:noFill/>
        </p:spPr>
        <p:txBody>
          <a:bodyPr wrap="square" lIns="0" rIns="0" tIns="0" bIns="0" anchor="t">
            <a:noAutofit/>
          </a:bodyPr>
          <a:lstStyle/>
          <a:p>
            <a:pPr algn="l">
              <a:lnSpc>
                <a:spcPct val="115000"/>
              </a:lnSpc>
            </a:pPr>
            <a:r>
              <a:rPr sz="1500" b="0" i="1">
                <a:solidFill>
                  <a:srgbClr val="66717F"/>
                </a:solidFill>
                <a:latin typeface="Montserrat"/>
              </a:rPr>
              <a:t>Exemplo fictício: a terapeuta guarda o tablet (A), a criança grita e joga o copo no chão (B), o tablet é devolvido (C).</a:t>
            </a:r>
          </a:p>
        </p:txBody>
      </p:sp>
      <p:sp>
        <p:nvSpPr>
          <p:cNvPr id="11" name="TextBox 10"/>
          <p:cNvSpPr txBox="1"/>
          <p:nvPr/>
        </p:nvSpPr>
        <p:spPr>
          <a:xfrm>
            <a:off x="1168400" y="6343650"/>
            <a:ext cx="9156700" cy="184150"/>
          </a:xfrm>
          <a:prstGeom prst="rect">
            <a:avLst/>
          </a:prstGeom>
          <a:noFill/>
        </p:spPr>
        <p:txBody>
          <a:bodyPr wrap="square" lIns="0" rIns="0" tIns="0" bIns="0" anchor="t">
            <a:noAutofit/>
          </a:bodyPr>
          <a:lstStyle/>
          <a:p>
            <a:pPr algn="l">
              <a:lnSpc>
                <a:spcPct val="98000"/>
              </a:lnSpc>
            </a:pPr>
            <a:r>
              <a:rPr sz="1200" b="0" i="0">
                <a:solidFill>
                  <a:srgbClr val="66717F"/>
                </a:solidFill>
                <a:latin typeface="Montserrat"/>
              </a:rPr>
              <a:t>Cooper, Heron &amp; Heward (2020)</a:t>
            </a:r>
          </a:p>
        </p:txBody>
      </p:sp>
      <p:sp>
        <p:nvSpPr>
          <p:cNvPr id="12" name="TextBox 11"/>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66717F"/>
                </a:solidFill>
                <a:latin typeface="Montserrat"/>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77800" cy="6858000"/>
          </a:xfrm>
          <a:prstGeom prst="rect">
            <a:avLst/>
          </a:prstGeom>
          <a:solidFill>
            <a:srgbClr val="0F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1784846"/>
            <a:ext cx="10307828" cy="481905"/>
          </a:xfrm>
          <a:prstGeom prst="rect">
            <a:avLst/>
          </a:prstGeom>
          <a:noFill/>
        </p:spPr>
        <p:txBody>
          <a:bodyPr wrap="square" lIns="0" rIns="0" tIns="0" bIns="0" anchor="t">
            <a:noAutofit/>
          </a:bodyPr>
          <a:lstStyle/>
          <a:p>
            <a:pPr algn="l">
              <a:lnSpc>
                <a:spcPct val="94000"/>
              </a:lnSpc>
            </a:pPr>
            <a:r>
              <a:rPr sz="3300" b="1" i="0">
                <a:solidFill>
                  <a:srgbClr val="1B2F4B"/>
                </a:solidFill>
                <a:latin typeface="Montserrat"/>
              </a:rPr>
              <a:t>O contexto muda o valor das consequências</a:t>
            </a:r>
          </a:p>
        </p:txBody>
      </p:sp>
      <p:sp>
        <p:nvSpPr>
          <p:cNvPr id="4" name="TextBox 3"/>
          <p:cNvSpPr txBox="1"/>
          <p:nvPr/>
        </p:nvSpPr>
        <p:spPr>
          <a:xfrm>
            <a:off x="1168400" y="2596952"/>
            <a:ext cx="4839970" cy="319980"/>
          </a:xfrm>
          <a:prstGeom prst="rect">
            <a:avLst/>
          </a:prstGeom>
          <a:noFill/>
        </p:spPr>
        <p:txBody>
          <a:bodyPr wrap="square" lIns="0" rIns="0" tIns="0" bIns="0" anchor="t">
            <a:noAutofit/>
          </a:bodyPr>
          <a:lstStyle/>
          <a:p>
            <a:pPr algn="l">
              <a:lnSpc>
                <a:spcPct val="98000"/>
              </a:lnSpc>
            </a:pPr>
            <a:r>
              <a:rPr sz="2100" b="1" i="0">
                <a:solidFill>
                  <a:srgbClr val="0F7C86"/>
                </a:solidFill>
                <a:latin typeface="Montserrat"/>
              </a:rPr>
              <a:t>Variáveis contextuais</a:t>
            </a:r>
          </a:p>
        </p:txBody>
      </p:sp>
      <p:sp>
        <p:nvSpPr>
          <p:cNvPr id="5" name="TextBox 4"/>
          <p:cNvSpPr txBox="1"/>
          <p:nvPr/>
        </p:nvSpPr>
        <p:spPr>
          <a:xfrm>
            <a:off x="1168400" y="3005832"/>
            <a:ext cx="4839970" cy="675481"/>
          </a:xfrm>
          <a:prstGeom prst="rect">
            <a:avLst/>
          </a:prstGeom>
          <a:noFill/>
        </p:spPr>
        <p:txBody>
          <a:bodyPr wrap="square" lIns="0" rIns="0" tIns="0" bIns="0" anchor="t">
            <a:noAutofit/>
          </a:bodyPr>
          <a:lstStyle/>
          <a:p>
            <a:pPr algn="l">
              <a:lnSpc>
                <a:spcPct val="115000"/>
              </a:lnSpc>
            </a:pPr>
            <a:r>
              <a:rPr sz="1900" b="0" i="0">
                <a:solidFill>
                  <a:srgbClr val="2E3A4A"/>
                </a:solidFill>
                <a:latin typeface="Montserrat"/>
              </a:rPr>
              <a:t>Sono, dor, fome, rotina, ambiente sensorial.</a:t>
            </a:r>
          </a:p>
        </p:txBody>
      </p:sp>
      <p:sp>
        <p:nvSpPr>
          <p:cNvPr id="6" name="TextBox 5"/>
          <p:cNvSpPr txBox="1"/>
          <p:nvPr/>
        </p:nvSpPr>
        <p:spPr>
          <a:xfrm>
            <a:off x="6477000" y="2596952"/>
            <a:ext cx="4839970" cy="319980"/>
          </a:xfrm>
          <a:prstGeom prst="rect">
            <a:avLst/>
          </a:prstGeom>
          <a:noFill/>
        </p:spPr>
        <p:txBody>
          <a:bodyPr wrap="square" lIns="0" rIns="0" tIns="0" bIns="0" anchor="t">
            <a:noAutofit/>
          </a:bodyPr>
          <a:lstStyle/>
          <a:p>
            <a:pPr algn="l">
              <a:lnSpc>
                <a:spcPct val="98000"/>
              </a:lnSpc>
            </a:pPr>
            <a:r>
              <a:rPr sz="2100" b="1" i="0">
                <a:solidFill>
                  <a:srgbClr val="0F7C86"/>
                </a:solidFill>
                <a:latin typeface="Montserrat"/>
              </a:rPr>
              <a:t>Operação motivadora</a:t>
            </a:r>
          </a:p>
        </p:txBody>
      </p:sp>
      <p:sp>
        <p:nvSpPr>
          <p:cNvPr id="7" name="TextBox 6"/>
          <p:cNvSpPr txBox="1"/>
          <p:nvPr/>
        </p:nvSpPr>
        <p:spPr>
          <a:xfrm>
            <a:off x="6477000" y="3005832"/>
            <a:ext cx="4839970" cy="1013222"/>
          </a:xfrm>
          <a:prstGeom prst="rect">
            <a:avLst/>
          </a:prstGeom>
          <a:noFill/>
        </p:spPr>
        <p:txBody>
          <a:bodyPr wrap="square" lIns="0" rIns="0" tIns="0" bIns="0" anchor="t">
            <a:noAutofit/>
          </a:bodyPr>
          <a:lstStyle/>
          <a:p>
            <a:pPr algn="l">
              <a:lnSpc>
                <a:spcPct val="115000"/>
              </a:lnSpc>
            </a:pPr>
            <a:r>
              <a:rPr sz="1900" b="0" i="0">
                <a:solidFill>
                  <a:srgbClr val="2E3A4A"/>
                </a:solidFill>
                <a:latin typeface="Montserrat"/>
              </a:rPr>
              <a:t>Altera por um tempo o valor de uma consequência e a frequência dos comportamentos ligados a ela.</a:t>
            </a:r>
          </a:p>
        </p:txBody>
      </p:sp>
      <p:sp>
        <p:nvSpPr>
          <p:cNvPr id="8" name="TextBox 7"/>
          <p:cNvSpPr txBox="1"/>
          <p:nvPr/>
        </p:nvSpPr>
        <p:spPr>
          <a:xfrm>
            <a:off x="1168400" y="4349254"/>
            <a:ext cx="10307828" cy="533400"/>
          </a:xfrm>
          <a:prstGeom prst="rect">
            <a:avLst/>
          </a:prstGeom>
          <a:noFill/>
        </p:spPr>
        <p:txBody>
          <a:bodyPr wrap="square" lIns="0" rIns="0" tIns="0" bIns="0" anchor="t">
            <a:noAutofit/>
          </a:bodyPr>
          <a:lstStyle/>
          <a:p>
            <a:pPr algn="l">
              <a:lnSpc>
                <a:spcPct val="115000"/>
              </a:lnSpc>
            </a:pPr>
            <a:r>
              <a:rPr sz="1500" b="0" i="1">
                <a:solidFill>
                  <a:srgbClr val="66717F"/>
                </a:solidFill>
                <a:latin typeface="Montserrat"/>
              </a:rPr>
              <a:t>Exemplo fictício: depois de uma noite mal dormida, uma tarefa difícil fica mais aversiva, e escapar dela passa a “valer mais”.</a:t>
            </a:r>
          </a:p>
        </p:txBody>
      </p:sp>
      <p:sp>
        <p:nvSpPr>
          <p:cNvPr id="9" name="TextBox 8"/>
          <p:cNvSpPr txBox="1"/>
          <p:nvPr/>
        </p:nvSpPr>
        <p:spPr>
          <a:xfrm>
            <a:off x="1168400" y="6343650"/>
            <a:ext cx="9156700" cy="184150"/>
          </a:xfrm>
          <a:prstGeom prst="rect">
            <a:avLst/>
          </a:prstGeom>
          <a:noFill/>
        </p:spPr>
        <p:txBody>
          <a:bodyPr wrap="square" lIns="0" rIns="0" tIns="0" bIns="0" anchor="t">
            <a:noAutofit/>
          </a:bodyPr>
          <a:lstStyle/>
          <a:p>
            <a:pPr algn="l">
              <a:lnSpc>
                <a:spcPct val="98000"/>
              </a:lnSpc>
            </a:pPr>
            <a:r>
              <a:rPr sz="1200" b="0" i="0">
                <a:solidFill>
                  <a:srgbClr val="66717F"/>
                </a:solidFill>
                <a:latin typeface="Montserrat"/>
              </a:rPr>
              <a:t>Laraway et al. (2003)</a:t>
            </a:r>
          </a:p>
        </p:txBody>
      </p:sp>
      <p:sp>
        <p:nvSpPr>
          <p:cNvPr id="10" name="TextBox 9"/>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66717F"/>
                </a:solidFill>
                <a:latin typeface="Montserrat"/>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77800" cy="6858000"/>
          </a:xfrm>
          <a:prstGeom prst="rect">
            <a:avLst/>
          </a:prstGeom>
          <a:solidFill>
            <a:srgbClr val="0F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1361579"/>
            <a:ext cx="10307828" cy="963811"/>
          </a:xfrm>
          <a:prstGeom prst="rect">
            <a:avLst/>
          </a:prstGeom>
          <a:noFill/>
        </p:spPr>
        <p:txBody>
          <a:bodyPr wrap="square" lIns="0" rIns="0" tIns="0" bIns="0" anchor="t">
            <a:noAutofit/>
          </a:bodyPr>
          <a:lstStyle/>
          <a:p>
            <a:pPr algn="l">
              <a:lnSpc>
                <a:spcPct val="94000"/>
              </a:lnSpc>
            </a:pPr>
            <a:r>
              <a:rPr sz="3300" b="1" i="0">
                <a:solidFill>
                  <a:srgbClr val="1B2F4B"/>
                </a:solidFill>
                <a:latin typeface="Montserrat"/>
              </a:rPr>
              <a:t>Reforçamento se define pelo efeito, não pela intenção</a:t>
            </a:r>
          </a:p>
        </p:txBody>
      </p:sp>
      <p:sp>
        <p:nvSpPr>
          <p:cNvPr id="4" name="TextBox 3"/>
          <p:cNvSpPr txBox="1"/>
          <p:nvPr/>
        </p:nvSpPr>
        <p:spPr>
          <a:xfrm>
            <a:off x="1168400" y="2604790"/>
            <a:ext cx="10307828" cy="711200"/>
          </a:xfrm>
          <a:prstGeom prst="rect">
            <a:avLst/>
          </a:prstGeom>
          <a:noFill/>
        </p:spPr>
        <p:txBody>
          <a:bodyPr wrap="square" lIns="0" rIns="0" tIns="0" bIns="0" anchor="t">
            <a:noAutofit/>
          </a:bodyPr>
          <a:lstStyle/>
          <a:p>
            <a:pPr algn="l">
              <a:lnSpc>
                <a:spcPct val="115000"/>
              </a:lnSpc>
            </a:pPr>
            <a:r>
              <a:rPr sz="2000" b="0" i="0">
                <a:solidFill>
                  <a:srgbClr val="2E3A4A"/>
                </a:solidFill>
                <a:latin typeface="Montserrat"/>
              </a:rPr>
              <a:t>Reforçamento é quando a consequência aumenta a chance de o comportamento voltar a acontecer.</a:t>
            </a:r>
          </a:p>
        </p:txBody>
      </p:sp>
      <p:sp>
        <p:nvSpPr>
          <p:cNvPr id="5" name="TextBox 4"/>
          <p:cNvSpPr txBox="1"/>
          <p:nvPr/>
        </p:nvSpPr>
        <p:spPr>
          <a:xfrm>
            <a:off x="1168400" y="3595390"/>
            <a:ext cx="4839970" cy="319980"/>
          </a:xfrm>
          <a:prstGeom prst="rect">
            <a:avLst/>
          </a:prstGeom>
          <a:noFill/>
        </p:spPr>
        <p:txBody>
          <a:bodyPr wrap="square" lIns="0" rIns="0" tIns="0" bIns="0" anchor="t">
            <a:noAutofit/>
          </a:bodyPr>
          <a:lstStyle/>
          <a:p>
            <a:pPr algn="l">
              <a:lnSpc>
                <a:spcPct val="98000"/>
              </a:lnSpc>
            </a:pPr>
            <a:r>
              <a:rPr sz="2100" b="1" i="0">
                <a:solidFill>
                  <a:srgbClr val="0F7C86"/>
                </a:solidFill>
                <a:latin typeface="Montserrat"/>
              </a:rPr>
              <a:t>Positivo</a:t>
            </a:r>
          </a:p>
        </p:txBody>
      </p:sp>
      <p:sp>
        <p:nvSpPr>
          <p:cNvPr id="6" name="TextBox 5"/>
          <p:cNvSpPr txBox="1"/>
          <p:nvPr/>
        </p:nvSpPr>
        <p:spPr>
          <a:xfrm>
            <a:off x="1168400" y="4004270"/>
            <a:ext cx="4839970" cy="675481"/>
          </a:xfrm>
          <a:prstGeom prst="rect">
            <a:avLst/>
          </a:prstGeom>
          <a:noFill/>
        </p:spPr>
        <p:txBody>
          <a:bodyPr wrap="square" lIns="0" rIns="0" tIns="0" bIns="0" anchor="t">
            <a:noAutofit/>
          </a:bodyPr>
          <a:lstStyle/>
          <a:p>
            <a:pPr algn="l">
              <a:lnSpc>
                <a:spcPct val="115000"/>
              </a:lnSpc>
            </a:pPr>
            <a:r>
              <a:rPr sz="1900" b="0" i="0">
                <a:solidFill>
                  <a:srgbClr val="2E3A4A"/>
                </a:solidFill>
                <a:latin typeface="Montserrat"/>
              </a:rPr>
              <a:t>Algo é acrescentado. Ex.: a criança recebe atenção.</a:t>
            </a:r>
          </a:p>
        </p:txBody>
      </p:sp>
      <p:sp>
        <p:nvSpPr>
          <p:cNvPr id="7" name="TextBox 6"/>
          <p:cNvSpPr txBox="1"/>
          <p:nvPr/>
        </p:nvSpPr>
        <p:spPr>
          <a:xfrm>
            <a:off x="6477000" y="3595390"/>
            <a:ext cx="4839970" cy="319980"/>
          </a:xfrm>
          <a:prstGeom prst="rect">
            <a:avLst/>
          </a:prstGeom>
          <a:noFill/>
        </p:spPr>
        <p:txBody>
          <a:bodyPr wrap="square" lIns="0" rIns="0" tIns="0" bIns="0" anchor="t">
            <a:noAutofit/>
          </a:bodyPr>
          <a:lstStyle/>
          <a:p>
            <a:pPr algn="l">
              <a:lnSpc>
                <a:spcPct val="98000"/>
              </a:lnSpc>
            </a:pPr>
            <a:r>
              <a:rPr sz="2100" b="1" i="0">
                <a:solidFill>
                  <a:srgbClr val="0F7C86"/>
                </a:solidFill>
                <a:latin typeface="Montserrat"/>
              </a:rPr>
              <a:t>Negativo</a:t>
            </a:r>
          </a:p>
        </p:txBody>
      </p:sp>
      <p:sp>
        <p:nvSpPr>
          <p:cNvPr id="8" name="TextBox 7"/>
          <p:cNvSpPr txBox="1"/>
          <p:nvPr/>
        </p:nvSpPr>
        <p:spPr>
          <a:xfrm>
            <a:off x="6477000" y="4004270"/>
            <a:ext cx="4839970" cy="675481"/>
          </a:xfrm>
          <a:prstGeom prst="rect">
            <a:avLst/>
          </a:prstGeom>
          <a:noFill/>
        </p:spPr>
        <p:txBody>
          <a:bodyPr wrap="square" lIns="0" rIns="0" tIns="0" bIns="0" anchor="t">
            <a:noAutofit/>
          </a:bodyPr>
          <a:lstStyle/>
          <a:p>
            <a:pPr algn="l">
              <a:lnSpc>
                <a:spcPct val="115000"/>
              </a:lnSpc>
            </a:pPr>
            <a:r>
              <a:rPr sz="1900" b="0" i="0">
                <a:solidFill>
                  <a:srgbClr val="2E3A4A"/>
                </a:solidFill>
                <a:latin typeface="Montserrat"/>
              </a:rPr>
              <a:t>Algo é retirado ou adiado. Ex.: a tarefa sai.</a:t>
            </a:r>
          </a:p>
        </p:txBody>
      </p:sp>
      <p:sp>
        <p:nvSpPr>
          <p:cNvPr id="9" name="TextBox 8"/>
          <p:cNvSpPr txBox="1"/>
          <p:nvPr/>
        </p:nvSpPr>
        <p:spPr>
          <a:xfrm>
            <a:off x="1168400" y="4959152"/>
            <a:ext cx="10307828" cy="346670"/>
          </a:xfrm>
          <a:prstGeom prst="rect">
            <a:avLst/>
          </a:prstGeom>
          <a:noFill/>
        </p:spPr>
        <p:txBody>
          <a:bodyPr wrap="square" lIns="0" rIns="0" tIns="0" bIns="0" anchor="t">
            <a:noAutofit/>
          </a:bodyPr>
          <a:lstStyle/>
          <a:p>
            <a:pPr algn="l">
              <a:lnSpc>
                <a:spcPct val="107000"/>
              </a:lnSpc>
            </a:pPr>
            <a:r>
              <a:rPr sz="2100" b="1" i="0">
                <a:solidFill>
                  <a:srgbClr val="0F7C86"/>
                </a:solidFill>
                <a:latin typeface="Montserrat"/>
              </a:rPr>
              <a:t>“Negativo” não é punição.</a:t>
            </a:r>
          </a:p>
        </p:txBody>
      </p:sp>
      <p:sp>
        <p:nvSpPr>
          <p:cNvPr id="10" name="TextBox 9"/>
          <p:cNvSpPr txBox="1"/>
          <p:nvPr/>
        </p:nvSpPr>
        <p:spPr>
          <a:xfrm>
            <a:off x="1168400" y="6343650"/>
            <a:ext cx="9156700" cy="184150"/>
          </a:xfrm>
          <a:prstGeom prst="rect">
            <a:avLst/>
          </a:prstGeom>
          <a:noFill/>
        </p:spPr>
        <p:txBody>
          <a:bodyPr wrap="square" lIns="0" rIns="0" tIns="0" bIns="0" anchor="t">
            <a:noAutofit/>
          </a:bodyPr>
          <a:lstStyle/>
          <a:p>
            <a:pPr algn="l">
              <a:lnSpc>
                <a:spcPct val="98000"/>
              </a:lnSpc>
            </a:pPr>
            <a:r>
              <a:rPr sz="1200" b="0" i="0">
                <a:solidFill>
                  <a:srgbClr val="66717F"/>
                </a:solidFill>
                <a:latin typeface="Montserrat"/>
              </a:rPr>
              <a:t>Cooper, Heron &amp; Heward (2020)</a:t>
            </a:r>
          </a:p>
        </p:txBody>
      </p:sp>
      <p:sp>
        <p:nvSpPr>
          <p:cNvPr id="11" name="TextBox 10"/>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66717F"/>
                </a:solidFill>
                <a:latin typeface="Montserrat"/>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77800" cy="6858000"/>
          </a:xfrm>
          <a:prstGeom prst="rect">
            <a:avLst/>
          </a:prstGeom>
          <a:solidFill>
            <a:srgbClr val="0F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1653282"/>
            <a:ext cx="10307828" cy="481905"/>
          </a:xfrm>
          <a:prstGeom prst="rect">
            <a:avLst/>
          </a:prstGeom>
          <a:noFill/>
        </p:spPr>
        <p:txBody>
          <a:bodyPr wrap="square" lIns="0" rIns="0" tIns="0" bIns="0" anchor="t">
            <a:noAutofit/>
          </a:bodyPr>
          <a:lstStyle/>
          <a:p>
            <a:pPr algn="l">
              <a:lnSpc>
                <a:spcPct val="94000"/>
              </a:lnSpc>
            </a:pPr>
            <a:r>
              <a:rPr sz="3300" b="1" i="0">
                <a:solidFill>
                  <a:srgbClr val="1B2F4B"/>
                </a:solidFill>
                <a:latin typeface="Montserrat"/>
              </a:rPr>
              <a:t>Quatro hipóteses funcionais frequentes</a:t>
            </a:r>
          </a:p>
        </p:txBody>
      </p:sp>
      <p:sp>
        <p:nvSpPr>
          <p:cNvPr id="4" name="TextBox 3"/>
          <p:cNvSpPr txBox="1"/>
          <p:nvPr/>
        </p:nvSpPr>
        <p:spPr>
          <a:xfrm>
            <a:off x="1168400" y="2465388"/>
            <a:ext cx="10307828" cy="1905000"/>
          </a:xfrm>
          <a:prstGeom prst="rect">
            <a:avLst/>
          </a:prstGeom>
          <a:noFill/>
        </p:spPr>
        <p:txBody>
          <a:bodyPr wrap="square" lIns="0" rIns="0" tIns="0" bIns="0" anchor="t">
            <a:noAutofit/>
          </a:bodyPr>
          <a:lstStyle/>
          <a:p>
            <a:pPr algn="l" marL="279400" indent="-279400">
              <a:lnSpc>
                <a:spcPct val="123000"/>
              </a:lnSpc>
              <a:buAutoNum type="arabicPeriod" startAt="1"/>
            </a:pPr>
            <a:r>
              <a:rPr sz="2000" b="0" i="0">
                <a:solidFill>
                  <a:srgbClr val="2E3A4A"/>
                </a:solidFill>
                <a:latin typeface="Montserrat"/>
              </a:rPr>
              <a:t>Acesso a atenção</a:t>
            </a:r>
          </a:p>
          <a:p>
            <a:pPr algn="l" marL="279400" indent="-279400">
              <a:lnSpc>
                <a:spcPct val="123000"/>
              </a:lnSpc>
              <a:buAutoNum type="arabicPeriod" startAt="1"/>
            </a:pPr>
            <a:r>
              <a:rPr sz="2000" b="0" i="0">
                <a:solidFill>
                  <a:srgbClr val="2E3A4A"/>
                </a:solidFill>
                <a:latin typeface="Montserrat"/>
              </a:rPr>
              <a:t>Acesso a itens ou atividades</a:t>
            </a:r>
          </a:p>
          <a:p>
            <a:pPr algn="l" marL="279400" indent="-279400">
              <a:lnSpc>
                <a:spcPct val="123000"/>
              </a:lnSpc>
              <a:buAutoNum type="arabicPeriod" startAt="1"/>
            </a:pPr>
            <a:r>
              <a:rPr sz="2000" b="0" i="0">
                <a:solidFill>
                  <a:srgbClr val="2E3A4A"/>
                </a:solidFill>
                <a:latin typeface="Montserrat"/>
              </a:rPr>
              <a:t>Fuga ou esquiva de demandas ou estímulos</a:t>
            </a:r>
          </a:p>
          <a:p>
            <a:pPr algn="l" marL="279400" indent="-279400">
              <a:lnSpc>
                <a:spcPct val="123000"/>
              </a:lnSpc>
              <a:buAutoNum type="arabicPeriod" startAt="1"/>
            </a:pPr>
            <a:r>
              <a:rPr sz="2000" b="0" i="0">
                <a:solidFill>
                  <a:srgbClr val="2E3A4A"/>
                </a:solidFill>
                <a:latin typeface="Montserrat"/>
              </a:rPr>
              <a:t>Reforçamento automático: o próprio comportamento produz a consequência</a:t>
            </a:r>
          </a:p>
        </p:txBody>
      </p:sp>
      <p:sp>
        <p:nvSpPr>
          <p:cNvPr id="5" name="TextBox 4"/>
          <p:cNvSpPr txBox="1"/>
          <p:nvPr/>
        </p:nvSpPr>
        <p:spPr>
          <a:xfrm>
            <a:off x="1168400" y="4700588"/>
            <a:ext cx="10307828" cy="313630"/>
          </a:xfrm>
          <a:prstGeom prst="rect">
            <a:avLst/>
          </a:prstGeom>
          <a:noFill/>
        </p:spPr>
        <p:txBody>
          <a:bodyPr wrap="square" lIns="0" rIns="0" tIns="0" bIns="0" anchor="t">
            <a:noAutofit/>
          </a:bodyPr>
          <a:lstStyle/>
          <a:p>
            <a:pPr algn="l">
              <a:lnSpc>
                <a:spcPct val="107000"/>
              </a:lnSpc>
            </a:pPr>
            <a:r>
              <a:rPr sz="1900" b="1" i="0">
                <a:solidFill>
                  <a:srgbClr val="0F7C86"/>
                </a:solidFill>
                <a:latin typeface="Montserrat"/>
              </a:rPr>
              <a:t>São hipóteses a testar, não rótulos. Podem ser múltiplas ou combinadas.</a:t>
            </a:r>
          </a:p>
        </p:txBody>
      </p:sp>
      <p:sp>
        <p:nvSpPr>
          <p:cNvPr id="6" name="TextBox 5"/>
          <p:cNvSpPr txBox="1"/>
          <p:nvPr/>
        </p:nvSpPr>
        <p:spPr>
          <a:xfrm>
            <a:off x="1168400" y="6343650"/>
            <a:ext cx="9156700" cy="184150"/>
          </a:xfrm>
          <a:prstGeom prst="rect">
            <a:avLst/>
          </a:prstGeom>
          <a:noFill/>
        </p:spPr>
        <p:txBody>
          <a:bodyPr wrap="square" lIns="0" rIns="0" tIns="0" bIns="0" anchor="t">
            <a:noAutofit/>
          </a:bodyPr>
          <a:lstStyle/>
          <a:p>
            <a:pPr algn="l">
              <a:lnSpc>
                <a:spcPct val="98000"/>
              </a:lnSpc>
            </a:pPr>
            <a:r>
              <a:rPr sz="1200" b="0" i="0">
                <a:solidFill>
                  <a:srgbClr val="66717F"/>
                </a:solidFill>
                <a:latin typeface="Montserrat"/>
              </a:rPr>
              <a:t>Iwata et al. (1982/1994); Hanley, Iwata &amp; McCord (2003); Hanley et al. (2014)</a:t>
            </a:r>
          </a:p>
        </p:txBody>
      </p:sp>
      <p:sp>
        <p:nvSpPr>
          <p:cNvPr id="7" name="TextBox 6"/>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66717F"/>
                </a:solidFill>
                <a:latin typeface="Montserrat"/>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EEF4F5"/>
        </a:solidFill>
        <a:effectLst/>
      </p:bgPr>
    </p:bg>
    <p:spTree>
      <p:nvGrpSpPr>
        <p:cNvPr id="1" name=""/>
        <p:cNvGrpSpPr/>
        <p:nvPr/>
      </p:nvGrpSpPr>
      <p:grpSpPr/>
      <p:sp>
        <p:nvSpPr>
          <p:cNvPr id="2" name="Rectangle 1"/>
          <p:cNvSpPr/>
          <p:nvPr/>
        </p:nvSpPr>
        <p:spPr>
          <a:xfrm>
            <a:off x="0" y="0"/>
            <a:ext cx="177800" cy="6858000"/>
          </a:xfrm>
          <a:prstGeom prst="rect">
            <a:avLst/>
          </a:prstGeom>
          <a:solidFill>
            <a:srgbClr val="0F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1464667"/>
            <a:ext cx="10307828" cy="481905"/>
          </a:xfrm>
          <a:prstGeom prst="rect">
            <a:avLst/>
          </a:prstGeom>
          <a:noFill/>
        </p:spPr>
        <p:txBody>
          <a:bodyPr wrap="square" lIns="0" rIns="0" tIns="0" bIns="0" anchor="t">
            <a:noAutofit/>
          </a:bodyPr>
          <a:lstStyle/>
          <a:p>
            <a:pPr algn="l">
              <a:lnSpc>
                <a:spcPct val="94000"/>
              </a:lnSpc>
            </a:pPr>
            <a:r>
              <a:rPr sz="3300" b="1" i="0">
                <a:solidFill>
                  <a:srgbClr val="1B2F4B"/>
                </a:solidFill>
                <a:latin typeface="Montserrat"/>
              </a:rPr>
              <a:t>Mini-exercício em duplas (5 min)</a:t>
            </a:r>
          </a:p>
        </p:txBody>
      </p:sp>
      <p:sp>
        <p:nvSpPr>
          <p:cNvPr id="4" name="TextBox 3"/>
          <p:cNvSpPr txBox="1"/>
          <p:nvPr/>
        </p:nvSpPr>
        <p:spPr>
          <a:xfrm>
            <a:off x="1168400" y="2200573"/>
            <a:ext cx="10307828" cy="711200"/>
          </a:xfrm>
          <a:prstGeom prst="rect">
            <a:avLst/>
          </a:prstGeom>
          <a:noFill/>
        </p:spPr>
        <p:txBody>
          <a:bodyPr wrap="square" lIns="0" rIns="0" tIns="0" bIns="0" anchor="t">
            <a:noAutofit/>
          </a:bodyPr>
          <a:lstStyle/>
          <a:p>
            <a:pPr algn="l">
              <a:lnSpc>
                <a:spcPct val="115000"/>
              </a:lnSpc>
            </a:pPr>
            <a:r>
              <a:rPr sz="2000" b="0" i="0">
                <a:solidFill>
                  <a:srgbClr val="2E3A4A"/>
                </a:solidFill>
                <a:latin typeface="Montserrat"/>
              </a:rPr>
              <a:t>Nas três situações a seguir, o comportamento é o mesmo: </a:t>
            </a:r>
            <a:r>
              <a:rPr sz="2000" b="1" i="0">
                <a:solidFill>
                  <a:srgbClr val="2E3A4A"/>
                </a:solidFill>
                <a:latin typeface="Montserrat"/>
              </a:rPr>
              <a:t>a criança joga os materiais no chão e chora.</a:t>
            </a:r>
          </a:p>
        </p:txBody>
      </p:sp>
      <p:sp>
        <p:nvSpPr>
          <p:cNvPr id="5" name="TextBox 4"/>
          <p:cNvSpPr txBox="1"/>
          <p:nvPr/>
        </p:nvSpPr>
        <p:spPr>
          <a:xfrm>
            <a:off x="1168400" y="3165773"/>
            <a:ext cx="10307828" cy="1143000"/>
          </a:xfrm>
          <a:prstGeom prst="rect">
            <a:avLst/>
          </a:prstGeom>
          <a:noFill/>
        </p:spPr>
        <p:txBody>
          <a:bodyPr wrap="square" lIns="0" rIns="0" tIns="0" bIns="0" anchor="t">
            <a:noAutofit/>
          </a:bodyPr>
          <a:lstStyle/>
          <a:p>
            <a:pPr algn="l" marL="279400" indent="-279400">
              <a:lnSpc>
                <a:spcPct val="123000"/>
              </a:lnSpc>
              <a:buAutoNum type="arabicPeriod" startAt="1"/>
            </a:pPr>
            <a:r>
              <a:rPr sz="2000" b="0" i="0">
                <a:solidFill>
                  <a:srgbClr val="2E3A4A"/>
                </a:solidFill>
                <a:latin typeface="Montserrat"/>
              </a:rPr>
              <a:t>O que acontece logo depois?</a:t>
            </a:r>
          </a:p>
          <a:p>
            <a:pPr algn="l" marL="279400" indent="-279400">
              <a:lnSpc>
                <a:spcPct val="123000"/>
              </a:lnSpc>
              <a:buAutoNum type="arabicPeriod" startAt="1"/>
            </a:pPr>
            <a:r>
              <a:rPr sz="2000" b="0" i="0">
                <a:solidFill>
                  <a:srgbClr val="2E3A4A"/>
                </a:solidFill>
                <a:latin typeface="Montserrat"/>
              </a:rPr>
              <a:t>Que hipótese funcional isso sugere?</a:t>
            </a:r>
          </a:p>
          <a:p>
            <a:pPr algn="l" marL="279400" indent="-279400">
              <a:lnSpc>
                <a:spcPct val="123000"/>
              </a:lnSpc>
              <a:buAutoNum type="arabicPeriod" startAt="1"/>
            </a:pPr>
            <a:r>
              <a:rPr sz="2000" b="0" i="0">
                <a:solidFill>
                  <a:srgbClr val="2E3A4A"/>
                </a:solidFill>
                <a:latin typeface="Montserrat"/>
              </a:rPr>
              <a:t>O que vocês precisariam observar mais?</a:t>
            </a:r>
          </a:p>
        </p:txBody>
      </p:sp>
      <p:sp>
        <p:nvSpPr>
          <p:cNvPr id="6" name="TextBox 5"/>
          <p:cNvSpPr txBox="1"/>
          <p:nvPr/>
        </p:nvSpPr>
        <p:spPr>
          <a:xfrm>
            <a:off x="1168400" y="4562773"/>
            <a:ext cx="10307828" cy="639961"/>
          </a:xfrm>
          <a:prstGeom prst="rect">
            <a:avLst/>
          </a:prstGeom>
          <a:noFill/>
        </p:spPr>
        <p:txBody>
          <a:bodyPr wrap="square" lIns="0" rIns="0" tIns="0" bIns="0" anchor="t">
            <a:noAutofit/>
          </a:bodyPr>
          <a:lstStyle/>
          <a:p>
            <a:pPr algn="l">
              <a:lnSpc>
                <a:spcPct val="115000"/>
              </a:lnSpc>
            </a:pPr>
            <a:r>
              <a:rPr sz="1800" b="1" i="0">
                <a:solidFill>
                  <a:srgbClr val="0F7C86"/>
                </a:solidFill>
                <a:latin typeface="Montserrat"/>
              </a:rPr>
              <a:t>Desafio:</a:t>
            </a:r>
            <a:r>
              <a:rPr sz="1800" b="0" i="0">
                <a:solidFill>
                  <a:srgbClr val="0F7C86"/>
                </a:solidFill>
                <a:latin typeface="Montserrat"/>
              </a:rPr>
              <a:t> pensem em uma estratégia que ajudaria em uma situação e pioraria outra. Por quê?</a:t>
            </a:r>
          </a:p>
        </p:txBody>
      </p:sp>
      <p:sp>
        <p:nvSpPr>
          <p:cNvPr id="7" name="TextBox 6"/>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66717F"/>
                </a:solidFill>
                <a:latin typeface="Montserrat"/>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EEF4F5"/>
        </a:solidFill>
        <a:effectLst/>
      </p:bgPr>
    </p:bg>
    <p:spTree>
      <p:nvGrpSpPr>
        <p:cNvPr id="1" name=""/>
        <p:cNvGrpSpPr/>
        <p:nvPr/>
      </p:nvGrpSpPr>
      <p:grpSpPr/>
      <p:sp>
        <p:nvSpPr>
          <p:cNvPr id="2" name="Rectangle 1"/>
          <p:cNvSpPr/>
          <p:nvPr/>
        </p:nvSpPr>
        <p:spPr>
          <a:xfrm>
            <a:off x="0" y="0"/>
            <a:ext cx="177800" cy="6858000"/>
          </a:xfrm>
          <a:prstGeom prst="rect">
            <a:avLst/>
          </a:prstGeom>
          <a:solidFill>
            <a:srgbClr val="0F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1733848"/>
            <a:ext cx="10307828" cy="481905"/>
          </a:xfrm>
          <a:prstGeom prst="rect">
            <a:avLst/>
          </a:prstGeom>
          <a:noFill/>
        </p:spPr>
        <p:txBody>
          <a:bodyPr wrap="square" lIns="0" rIns="0" tIns="0" bIns="0" anchor="t">
            <a:noAutofit/>
          </a:bodyPr>
          <a:lstStyle/>
          <a:p>
            <a:pPr algn="l">
              <a:lnSpc>
                <a:spcPct val="94000"/>
              </a:lnSpc>
            </a:pPr>
            <a:r>
              <a:rPr sz="3300" b="1" i="0">
                <a:solidFill>
                  <a:srgbClr val="1B2F4B"/>
                </a:solidFill>
                <a:latin typeface="Montserrat"/>
              </a:rPr>
              <a:t>Três situações</a:t>
            </a:r>
          </a:p>
        </p:txBody>
      </p:sp>
      <p:sp>
        <p:nvSpPr>
          <p:cNvPr id="4" name="TextBox 3"/>
          <p:cNvSpPr txBox="1"/>
          <p:nvPr/>
        </p:nvSpPr>
        <p:spPr>
          <a:xfrm>
            <a:off x="1168400" y="2469753"/>
            <a:ext cx="10307828" cy="1943100"/>
          </a:xfrm>
          <a:prstGeom prst="rect">
            <a:avLst/>
          </a:prstGeom>
          <a:noFill/>
        </p:spPr>
        <p:txBody>
          <a:bodyPr wrap="square" lIns="0" rIns="0" tIns="0" bIns="0" anchor="t">
            <a:noAutofit/>
          </a:bodyPr>
          <a:lstStyle/>
          <a:p>
            <a:pPr algn="l" marL="279400" indent="-279400">
              <a:lnSpc>
                <a:spcPct val="123000"/>
              </a:lnSpc>
              <a:buAutoNum type="arabicPeriod" startAt="1"/>
            </a:pPr>
            <a:r>
              <a:rPr sz="1700" b="0" i="0">
                <a:solidFill>
                  <a:srgbClr val="2E3A4A"/>
                </a:solidFill>
                <a:latin typeface="Montserrat"/>
              </a:rPr>
              <a:t>A terapeuta se levanta para atender a mãe na porta. A criança joga os materiais e chora. A terapeuta volta, senta ao lado e conversa até ela se acalmar.</a:t>
            </a:r>
          </a:p>
          <a:p>
            <a:pPr algn="l" marL="279400" indent="-279400">
              <a:lnSpc>
                <a:spcPct val="123000"/>
              </a:lnSpc>
              <a:buAutoNum type="arabicPeriod" startAt="1"/>
            </a:pPr>
            <a:r>
              <a:rPr sz="1700" b="0" i="0">
                <a:solidFill>
                  <a:srgbClr val="2E3A4A"/>
                </a:solidFill>
                <a:latin typeface="Montserrat"/>
              </a:rPr>
              <a:t>A terapeuta apresenta uma folha de escrita. A criança joga os materiais e chora. A terapeuta guarda a folha: “fazemos depois”.</a:t>
            </a:r>
          </a:p>
          <a:p>
            <a:pPr algn="l" marL="279400" indent="-279400">
              <a:lnSpc>
                <a:spcPct val="123000"/>
              </a:lnSpc>
              <a:buAutoNum type="arabicPeriod" startAt="1"/>
            </a:pPr>
            <a:r>
              <a:rPr sz="1700" b="0" i="0">
                <a:solidFill>
                  <a:srgbClr val="2E3A4A"/>
                </a:solidFill>
                <a:latin typeface="Montserrat"/>
              </a:rPr>
              <a:t>A terapeuta guarda o tablet. A criança joga os materiais e chora. Minutos depois, ela devolve o tablet “só mais um pouquinho”.</a:t>
            </a:r>
          </a:p>
        </p:txBody>
      </p:sp>
      <p:sp>
        <p:nvSpPr>
          <p:cNvPr id="5" name="TextBox 4"/>
          <p:cNvSpPr txBox="1"/>
          <p:nvPr/>
        </p:nvSpPr>
        <p:spPr>
          <a:xfrm>
            <a:off x="1168400" y="4666853"/>
            <a:ext cx="10307828" cy="266700"/>
          </a:xfrm>
          <a:prstGeom prst="rect">
            <a:avLst/>
          </a:prstGeom>
          <a:noFill/>
        </p:spPr>
        <p:txBody>
          <a:bodyPr wrap="square" lIns="0" rIns="0" tIns="0" bIns="0" anchor="t">
            <a:noAutofit/>
          </a:bodyPr>
          <a:lstStyle/>
          <a:p>
            <a:pPr algn="l">
              <a:lnSpc>
                <a:spcPct val="115000"/>
              </a:lnSpc>
            </a:pPr>
            <a:r>
              <a:rPr sz="1500" b="0" i="1">
                <a:solidFill>
                  <a:srgbClr val="66717F"/>
                </a:solidFill>
                <a:latin typeface="Montserrat"/>
              </a:rPr>
              <a:t>Exemplo fictício</a:t>
            </a:r>
          </a:p>
        </p:txBody>
      </p:sp>
      <p:sp>
        <p:nvSpPr>
          <p:cNvPr id="6" name="TextBox 5"/>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66717F"/>
                </a:solidFill>
                <a:latin typeface="Montserrat"/>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77800" cy="6858000"/>
          </a:xfrm>
          <a:prstGeom prst="rect">
            <a:avLst/>
          </a:prstGeom>
          <a:solidFill>
            <a:srgbClr val="0F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1637407"/>
            <a:ext cx="10307828" cy="481905"/>
          </a:xfrm>
          <a:prstGeom prst="rect">
            <a:avLst/>
          </a:prstGeom>
          <a:noFill/>
        </p:spPr>
        <p:txBody>
          <a:bodyPr wrap="square" lIns="0" rIns="0" tIns="0" bIns="0" anchor="t">
            <a:noAutofit/>
          </a:bodyPr>
          <a:lstStyle/>
          <a:p>
            <a:pPr algn="l">
              <a:lnSpc>
                <a:spcPct val="94000"/>
              </a:lnSpc>
            </a:pPr>
            <a:r>
              <a:rPr sz="3300" b="1" i="0">
                <a:solidFill>
                  <a:srgbClr val="1B2F4B"/>
                </a:solidFill>
                <a:latin typeface="Montserrat"/>
              </a:rPr>
              <a:t>Mesma topografia, três hipóteses</a:t>
            </a:r>
          </a:p>
        </p:txBody>
      </p:sp>
      <p:graphicFrame>
        <p:nvGraphicFramePr>
          <p:cNvPr id="4" name="Table 3"/>
          <p:cNvGraphicFramePr>
            <a:graphicFrameLocks noGrp="1"/>
          </p:cNvGraphicFramePr>
          <p:nvPr/>
        </p:nvGraphicFramePr>
        <p:xfrm>
          <a:off x="1168400" y="2398712"/>
          <a:ext cx="10007600" cy="2032000"/>
        </p:xfrm>
        <a:graphic>
          <a:graphicData uri="http://schemas.openxmlformats.org/drawingml/2006/table">
            <a:tbl>
              <a:tblPr firstRow="0" bandRow="0">
                <a:tableStyleId>{2D5ABB26-0587-4C30-8999-92F81FD0307C}</a:tableStyleId>
              </a:tblPr>
              <a:tblGrid>
                <a:gridCol w="1601192"/>
                <a:gridCol w="4203105"/>
                <a:gridCol w="4203303"/>
              </a:tblGrid>
              <a:tr h="508000">
                <a:tc>
                  <a:txBody>
                    <a:bodyPr wrap="square"/>
                    <a:lstStyle/>
                    <a:p>
                      <a:pPr>
                        <a:lnSpc>
                          <a:spcPct val="100000"/>
                        </a:lnSpc>
                      </a:pPr>
                      <a:r>
                        <a:rPr sz="1800" b="1" i="0">
                          <a:solidFill>
                            <a:srgbClr val="FFFFFF"/>
                          </a:solidFill>
                          <a:latin typeface="Montserrat"/>
                        </a:rPr>
                        <a:t>Situação</a:t>
                      </a:r>
                    </a:p>
                  </a:txBody>
                  <a:tcPr marL="114300" marR="114300" marT="68580" marB="68580" anchor="ctr">
                    <a:solidFill>
                      <a:srgbClr val="1B2F4B"/>
                    </a:solidFill>
                  </a:tcPr>
                </a:tc>
                <a:tc>
                  <a:txBody>
                    <a:bodyPr wrap="square"/>
                    <a:lstStyle/>
                    <a:p>
                      <a:pPr>
                        <a:lnSpc>
                          <a:spcPct val="100000"/>
                        </a:lnSpc>
                      </a:pPr>
                      <a:r>
                        <a:rPr sz="1800" b="1" i="0">
                          <a:solidFill>
                            <a:srgbClr val="FFFFFF"/>
                          </a:solidFill>
                          <a:latin typeface="Montserrat"/>
                        </a:rPr>
                        <a:t>O que acontece depois</a:t>
                      </a:r>
                    </a:p>
                  </a:txBody>
                  <a:tcPr marL="114300" marR="114300" marT="68580" marB="68580" anchor="ctr">
                    <a:solidFill>
                      <a:srgbClr val="1B2F4B"/>
                    </a:solidFill>
                  </a:tcPr>
                </a:tc>
                <a:tc>
                  <a:txBody>
                    <a:bodyPr wrap="square"/>
                    <a:lstStyle/>
                    <a:p>
                      <a:pPr>
                        <a:lnSpc>
                          <a:spcPct val="100000"/>
                        </a:lnSpc>
                      </a:pPr>
                      <a:r>
                        <a:rPr sz="1800" b="1" i="0">
                          <a:solidFill>
                            <a:srgbClr val="FFFFFF"/>
                          </a:solidFill>
                          <a:latin typeface="Montserrat"/>
                        </a:rPr>
                        <a:t>Hipótese</a:t>
                      </a:r>
                    </a:p>
                  </a:txBody>
                  <a:tcPr marL="114300" marR="114300" marT="68580" marB="68580" anchor="ctr">
                    <a:solidFill>
                      <a:srgbClr val="1B2F4B"/>
                    </a:solidFill>
                  </a:tcPr>
                </a:tc>
              </a:tr>
              <a:tr h="508000">
                <a:tc>
                  <a:txBody>
                    <a:bodyPr wrap="square"/>
                    <a:lstStyle/>
                    <a:p>
                      <a:pPr>
                        <a:lnSpc>
                          <a:spcPct val="100000"/>
                        </a:lnSpc>
                      </a:pPr>
                      <a:r>
                        <a:rPr sz="1800" b="0" i="0">
                          <a:solidFill>
                            <a:srgbClr val="2E3A4A"/>
                          </a:solidFill>
                          <a:latin typeface="Montserrat"/>
                        </a:rPr>
                        <a:t>1</a:t>
                      </a:r>
                    </a:p>
                  </a:txBody>
                  <a:tcPr marL="114300" marR="114300" marT="68580" marB="68580" anchor="ctr">
                    <a:solidFill>
                      <a:srgbClr val="FFFFFF"/>
                    </a:solidFill>
                  </a:tcPr>
                </a:tc>
                <a:tc>
                  <a:txBody>
                    <a:bodyPr wrap="square"/>
                    <a:lstStyle/>
                    <a:p>
                      <a:pPr>
                        <a:lnSpc>
                          <a:spcPct val="100000"/>
                        </a:lnSpc>
                      </a:pPr>
                      <a:r>
                        <a:rPr sz="1800" b="0" i="0">
                          <a:solidFill>
                            <a:srgbClr val="2E3A4A"/>
                          </a:solidFill>
                          <a:latin typeface="Montserrat"/>
                        </a:rPr>
                        <a:t>A atenção volta</a:t>
                      </a:r>
                    </a:p>
                  </a:txBody>
                  <a:tcPr marL="114300" marR="114300" marT="68580" marB="68580" anchor="ctr">
                    <a:solidFill>
                      <a:srgbClr val="FFFFFF"/>
                    </a:solidFill>
                  </a:tcPr>
                </a:tc>
                <a:tc>
                  <a:txBody>
                    <a:bodyPr wrap="square"/>
                    <a:lstStyle/>
                    <a:p>
                      <a:pPr>
                        <a:lnSpc>
                          <a:spcPct val="100000"/>
                        </a:lnSpc>
                      </a:pPr>
                      <a:r>
                        <a:rPr sz="1800" b="1" i="0">
                          <a:solidFill>
                            <a:srgbClr val="2E3A4A"/>
                          </a:solidFill>
                          <a:latin typeface="Montserrat"/>
                        </a:rPr>
                        <a:t>Acesso a atenção</a:t>
                      </a:r>
                    </a:p>
                  </a:txBody>
                  <a:tcPr marL="114300" marR="114300" marT="68580" marB="68580" anchor="ctr">
                    <a:solidFill>
                      <a:srgbClr val="FFFFFF"/>
                    </a:solidFill>
                  </a:tcPr>
                </a:tc>
              </a:tr>
              <a:tr h="508000">
                <a:tc>
                  <a:txBody>
                    <a:bodyPr wrap="square"/>
                    <a:lstStyle/>
                    <a:p>
                      <a:pPr>
                        <a:lnSpc>
                          <a:spcPct val="100000"/>
                        </a:lnSpc>
                      </a:pPr>
                      <a:r>
                        <a:rPr sz="1800" b="0" i="0">
                          <a:solidFill>
                            <a:srgbClr val="2E3A4A"/>
                          </a:solidFill>
                          <a:latin typeface="Montserrat"/>
                        </a:rPr>
                        <a:t>2</a:t>
                      </a:r>
                    </a:p>
                  </a:txBody>
                  <a:tcPr marL="114300" marR="114300" marT="68580" marB="68580" anchor="ctr">
                    <a:solidFill>
                      <a:srgbClr val="F1F4F6"/>
                    </a:solidFill>
                  </a:tcPr>
                </a:tc>
                <a:tc>
                  <a:txBody>
                    <a:bodyPr wrap="square"/>
                    <a:lstStyle/>
                    <a:p>
                      <a:pPr>
                        <a:lnSpc>
                          <a:spcPct val="100000"/>
                        </a:lnSpc>
                      </a:pPr>
                      <a:r>
                        <a:rPr sz="1800" b="0" i="0">
                          <a:solidFill>
                            <a:srgbClr val="2E3A4A"/>
                          </a:solidFill>
                          <a:latin typeface="Montserrat"/>
                        </a:rPr>
                        <a:t>A tarefa sai</a:t>
                      </a:r>
                    </a:p>
                  </a:txBody>
                  <a:tcPr marL="114300" marR="114300" marT="68580" marB="68580" anchor="ctr">
                    <a:solidFill>
                      <a:srgbClr val="F1F4F6"/>
                    </a:solidFill>
                  </a:tcPr>
                </a:tc>
                <a:tc>
                  <a:txBody>
                    <a:bodyPr wrap="square"/>
                    <a:lstStyle/>
                    <a:p>
                      <a:pPr>
                        <a:lnSpc>
                          <a:spcPct val="100000"/>
                        </a:lnSpc>
                      </a:pPr>
                      <a:r>
                        <a:rPr sz="1800" b="1" i="0">
                          <a:solidFill>
                            <a:srgbClr val="2E3A4A"/>
                          </a:solidFill>
                          <a:latin typeface="Montserrat"/>
                        </a:rPr>
                        <a:t>Fuga da demanda</a:t>
                      </a:r>
                    </a:p>
                  </a:txBody>
                  <a:tcPr marL="114300" marR="114300" marT="68580" marB="68580" anchor="ctr">
                    <a:solidFill>
                      <a:srgbClr val="F1F4F6"/>
                    </a:solidFill>
                  </a:tcPr>
                </a:tc>
              </a:tr>
              <a:tr h="508000">
                <a:tc>
                  <a:txBody>
                    <a:bodyPr wrap="square"/>
                    <a:lstStyle/>
                    <a:p>
                      <a:pPr>
                        <a:lnSpc>
                          <a:spcPct val="100000"/>
                        </a:lnSpc>
                      </a:pPr>
                      <a:r>
                        <a:rPr sz="1800" b="0" i="0">
                          <a:solidFill>
                            <a:srgbClr val="2E3A4A"/>
                          </a:solidFill>
                          <a:latin typeface="Montserrat"/>
                        </a:rPr>
                        <a:t>3</a:t>
                      </a:r>
                    </a:p>
                  </a:txBody>
                  <a:tcPr marL="114300" marR="114300" marT="68580" marB="68580" anchor="ctr">
                    <a:solidFill>
                      <a:srgbClr val="FFFFFF"/>
                    </a:solidFill>
                  </a:tcPr>
                </a:tc>
                <a:tc>
                  <a:txBody>
                    <a:bodyPr wrap="square"/>
                    <a:lstStyle/>
                    <a:p>
                      <a:pPr>
                        <a:lnSpc>
                          <a:spcPct val="100000"/>
                        </a:lnSpc>
                      </a:pPr>
                      <a:r>
                        <a:rPr sz="1800" b="0" i="0">
                          <a:solidFill>
                            <a:srgbClr val="2E3A4A"/>
                          </a:solidFill>
                          <a:latin typeface="Montserrat"/>
                        </a:rPr>
                        <a:t>O tablet volta</a:t>
                      </a:r>
                    </a:p>
                  </a:txBody>
                  <a:tcPr marL="114300" marR="114300" marT="68580" marB="68580" anchor="ctr">
                    <a:solidFill>
                      <a:srgbClr val="FFFFFF"/>
                    </a:solidFill>
                  </a:tcPr>
                </a:tc>
                <a:tc>
                  <a:txBody>
                    <a:bodyPr wrap="square"/>
                    <a:lstStyle/>
                    <a:p>
                      <a:pPr>
                        <a:lnSpc>
                          <a:spcPct val="100000"/>
                        </a:lnSpc>
                      </a:pPr>
                      <a:r>
                        <a:rPr sz="1800" b="1" i="0">
                          <a:solidFill>
                            <a:srgbClr val="2E3A4A"/>
                          </a:solidFill>
                          <a:latin typeface="Montserrat"/>
                        </a:rPr>
                        <a:t>Acesso a item</a:t>
                      </a:r>
                    </a:p>
                  </a:txBody>
                  <a:tcPr marL="114300" marR="114300" marT="68580" marB="68580" anchor="ctr">
                    <a:solidFill>
                      <a:srgbClr val="FFFFFF"/>
                    </a:solidFill>
                  </a:tcPr>
                </a:tc>
              </a:tr>
            </a:tbl>
          </a:graphicData>
        </a:graphic>
      </p:graphicFrame>
      <p:sp>
        <p:nvSpPr>
          <p:cNvPr id="5" name="TextBox 4"/>
          <p:cNvSpPr txBox="1"/>
          <p:nvPr/>
        </p:nvSpPr>
        <p:spPr>
          <a:xfrm>
            <a:off x="1168400" y="4710112"/>
            <a:ext cx="10307828" cy="319980"/>
          </a:xfrm>
          <a:prstGeom prst="rect">
            <a:avLst/>
          </a:prstGeom>
          <a:noFill/>
        </p:spPr>
        <p:txBody>
          <a:bodyPr wrap="square" lIns="0" rIns="0" tIns="0" bIns="0" anchor="t">
            <a:noAutofit/>
          </a:bodyPr>
          <a:lstStyle/>
          <a:p>
            <a:pPr algn="l">
              <a:lnSpc>
                <a:spcPct val="115000"/>
              </a:lnSpc>
            </a:pPr>
            <a:r>
              <a:rPr sz="1800" b="0" i="0">
                <a:solidFill>
                  <a:srgbClr val="2E3A4A"/>
                </a:solidFill>
                <a:latin typeface="Montserrat"/>
              </a:rPr>
              <a:t>Um episódio não basta: hipóteses se sustentam em </a:t>
            </a:r>
            <a:r>
              <a:rPr sz="1800" b="1" i="0">
                <a:solidFill>
                  <a:srgbClr val="2E3A4A"/>
                </a:solidFill>
                <a:latin typeface="Montserrat"/>
              </a:rPr>
              <a:t>padrões que se repetem</a:t>
            </a:r>
            <a:r>
              <a:rPr sz="1800" b="0" i="0">
                <a:solidFill>
                  <a:srgbClr val="2E3A4A"/>
                </a:solidFill>
                <a:latin typeface="Montserrat"/>
              </a:rPr>
              <a:t>.</a:t>
            </a:r>
          </a:p>
        </p:txBody>
      </p:sp>
      <p:sp>
        <p:nvSpPr>
          <p:cNvPr id="6" name="TextBox 5"/>
          <p:cNvSpPr txBox="1"/>
          <p:nvPr/>
        </p:nvSpPr>
        <p:spPr>
          <a:xfrm>
            <a:off x="1168400" y="6343650"/>
            <a:ext cx="9156700" cy="184150"/>
          </a:xfrm>
          <a:prstGeom prst="rect">
            <a:avLst/>
          </a:prstGeom>
          <a:noFill/>
        </p:spPr>
        <p:txBody>
          <a:bodyPr wrap="square" lIns="0" rIns="0" tIns="0" bIns="0" anchor="t">
            <a:noAutofit/>
          </a:bodyPr>
          <a:lstStyle/>
          <a:p>
            <a:pPr algn="l">
              <a:lnSpc>
                <a:spcPct val="98000"/>
              </a:lnSpc>
            </a:pPr>
            <a:r>
              <a:rPr sz="1200" b="0" i="0">
                <a:solidFill>
                  <a:srgbClr val="66717F"/>
                </a:solidFill>
                <a:latin typeface="Montserrat"/>
              </a:rPr>
              <a:t>Hanley (2012)</a:t>
            </a:r>
          </a:p>
        </p:txBody>
      </p:sp>
      <p:sp>
        <p:nvSpPr>
          <p:cNvPr id="7" name="TextBox 6"/>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66717F"/>
                </a:solidFill>
                <a:latin typeface="Montserrat"/>
              </a:rP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77800" cy="6858000"/>
          </a:xfrm>
          <a:prstGeom prst="rect">
            <a:avLst/>
          </a:prstGeom>
          <a:solidFill>
            <a:srgbClr val="0F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1365945"/>
            <a:ext cx="10307828" cy="963811"/>
          </a:xfrm>
          <a:prstGeom prst="rect">
            <a:avLst/>
          </a:prstGeom>
          <a:noFill/>
        </p:spPr>
        <p:txBody>
          <a:bodyPr wrap="square" lIns="0" rIns="0" tIns="0" bIns="0" anchor="t">
            <a:noAutofit/>
          </a:bodyPr>
          <a:lstStyle/>
          <a:p>
            <a:pPr algn="l">
              <a:lnSpc>
                <a:spcPct val="94000"/>
              </a:lnSpc>
            </a:pPr>
            <a:r>
              <a:rPr sz="3300" b="1" i="0">
                <a:solidFill>
                  <a:srgbClr val="1B2F4B"/>
                </a:solidFill>
                <a:latin typeface="Montserrat"/>
              </a:rPr>
              <a:t>Respostas do desafio: a mesma estratégia, efeitos opostos</a:t>
            </a:r>
          </a:p>
        </p:txBody>
      </p:sp>
      <p:graphicFrame>
        <p:nvGraphicFramePr>
          <p:cNvPr id="4" name="Table 3"/>
          <p:cNvGraphicFramePr>
            <a:graphicFrameLocks noGrp="1"/>
          </p:cNvGraphicFramePr>
          <p:nvPr/>
        </p:nvGraphicFramePr>
        <p:xfrm>
          <a:off x="1168400" y="2583755"/>
          <a:ext cx="10007600" cy="2133600"/>
        </p:xfrm>
        <a:graphic>
          <a:graphicData uri="http://schemas.openxmlformats.org/drawingml/2006/table">
            <a:tbl>
              <a:tblPr firstRow="0" bandRow="0">
                <a:tableStyleId>{2D5ABB26-0587-4C30-8999-92F81FD0307C}</a:tableStyleId>
              </a:tblPr>
              <a:tblGrid>
                <a:gridCol w="3002260"/>
                <a:gridCol w="3302496"/>
                <a:gridCol w="3702844"/>
              </a:tblGrid>
              <a:tr h="469900">
                <a:tc>
                  <a:txBody>
                    <a:bodyPr wrap="square"/>
                    <a:lstStyle/>
                    <a:p>
                      <a:pPr>
                        <a:lnSpc>
                          <a:spcPct val="100000"/>
                        </a:lnSpc>
                      </a:pPr>
                      <a:r>
                        <a:rPr sz="1550" b="1" i="0">
                          <a:solidFill>
                            <a:srgbClr val="FFFFFF"/>
                          </a:solidFill>
                          <a:latin typeface="Montserrat"/>
                        </a:rPr>
                        <a:t>Estratégia</a:t>
                      </a:r>
                    </a:p>
                  </a:txBody>
                  <a:tcPr marL="114300" marR="114300" marT="68580" marB="68580" anchor="ctr">
                    <a:solidFill>
                      <a:srgbClr val="1B2F4B"/>
                    </a:solidFill>
                  </a:tcPr>
                </a:tc>
                <a:tc>
                  <a:txBody>
                    <a:bodyPr wrap="square"/>
                    <a:lstStyle/>
                    <a:p>
                      <a:pPr>
                        <a:lnSpc>
                          <a:spcPct val="100000"/>
                        </a:lnSpc>
                      </a:pPr>
                      <a:r>
                        <a:rPr sz="1550" b="1" i="0">
                          <a:solidFill>
                            <a:srgbClr val="FFFFFF"/>
                          </a:solidFill>
                          <a:latin typeface="Montserrat"/>
                        </a:rPr>
                        <a:t>Onde pode ajudar</a:t>
                      </a:r>
                    </a:p>
                  </a:txBody>
                  <a:tcPr marL="114300" marR="114300" marT="68580" marB="68580" anchor="ctr">
                    <a:solidFill>
                      <a:srgbClr val="1B2F4B"/>
                    </a:solidFill>
                  </a:tcPr>
                </a:tc>
                <a:tc>
                  <a:txBody>
                    <a:bodyPr wrap="square"/>
                    <a:lstStyle/>
                    <a:p>
                      <a:pPr>
                        <a:lnSpc>
                          <a:spcPct val="100000"/>
                        </a:lnSpc>
                      </a:pPr>
                      <a:r>
                        <a:rPr sz="1550" b="1" i="0">
                          <a:solidFill>
                            <a:srgbClr val="FFFFFF"/>
                          </a:solidFill>
                          <a:latin typeface="Montserrat"/>
                        </a:rPr>
                        <a:t>Onde pode piorar</a:t>
                      </a:r>
                    </a:p>
                  </a:txBody>
                  <a:tcPr marL="114300" marR="114300" marT="68580" marB="68580" anchor="ctr">
                    <a:solidFill>
                      <a:srgbClr val="1B2F4B"/>
                    </a:solidFill>
                  </a:tcPr>
                </a:tc>
              </a:tr>
              <a:tr h="952500">
                <a:tc>
                  <a:txBody>
                    <a:bodyPr wrap="square"/>
                    <a:lstStyle/>
                    <a:p>
                      <a:pPr>
                        <a:lnSpc>
                          <a:spcPct val="100000"/>
                        </a:lnSpc>
                      </a:pPr>
                      <a:r>
                        <a:rPr sz="1550" b="0" i="0">
                          <a:solidFill>
                            <a:srgbClr val="2E3A4A"/>
                          </a:solidFill>
                          <a:latin typeface="Montserrat"/>
                        </a:rPr>
                        <a:t>Dar um tempo fora da atividade, </a:t>
                      </a:r>
                      <a:r>
                        <a:rPr sz="1550" b="1" i="0">
                          <a:solidFill>
                            <a:srgbClr val="2E3A4A"/>
                          </a:solidFill>
                          <a:latin typeface="Montserrat"/>
                        </a:rPr>
                        <a:t>sem atenção</a:t>
                      </a:r>
                    </a:p>
                  </a:txBody>
                  <a:tcPr marL="114300" marR="114300" marT="68580" marB="68580" anchor="ctr">
                    <a:solidFill>
                      <a:srgbClr val="FFFFFF"/>
                    </a:solidFill>
                  </a:tcPr>
                </a:tc>
                <a:tc>
                  <a:txBody>
                    <a:bodyPr wrap="square"/>
                    <a:lstStyle/>
                    <a:p>
                      <a:pPr>
                        <a:lnSpc>
                          <a:spcPct val="100000"/>
                        </a:lnSpc>
                      </a:pPr>
                      <a:r>
                        <a:rPr sz="1550" b="0" i="0">
                          <a:solidFill>
                            <a:srgbClr val="2E3A4A"/>
                          </a:solidFill>
                          <a:latin typeface="Montserrat"/>
                        </a:rPr>
                        <a:t>Situação 1: o comportamento deixa de produzir atenção</a:t>
                      </a:r>
                    </a:p>
                  </a:txBody>
                  <a:tcPr marL="114300" marR="114300" marT="68580" marB="68580" anchor="ctr">
                    <a:solidFill>
                      <a:srgbClr val="FFFFFF"/>
                    </a:solidFill>
                  </a:tcPr>
                </a:tc>
                <a:tc>
                  <a:txBody>
                    <a:bodyPr wrap="square"/>
                    <a:lstStyle/>
                    <a:p>
                      <a:pPr>
                        <a:lnSpc>
                          <a:spcPct val="100000"/>
                        </a:lnSpc>
                      </a:pPr>
                      <a:r>
                        <a:rPr sz="1550" b="0" i="0">
                          <a:solidFill>
                            <a:srgbClr val="2E3A4A"/>
                          </a:solidFill>
                          <a:latin typeface="Montserrat"/>
                        </a:rPr>
                        <a:t>Situação 2: a criança escapa da tarefa, que era o que mantinha o comportamento</a:t>
                      </a:r>
                    </a:p>
                  </a:txBody>
                  <a:tcPr marL="114300" marR="114300" marT="68580" marB="68580" anchor="ctr">
                    <a:solidFill>
                      <a:srgbClr val="FFFFFF"/>
                    </a:solidFill>
                  </a:tcPr>
                </a:tc>
              </a:tr>
              <a:tr h="711200">
                <a:tc>
                  <a:txBody>
                    <a:bodyPr wrap="square"/>
                    <a:lstStyle/>
                    <a:p>
                      <a:pPr>
                        <a:lnSpc>
                          <a:spcPct val="100000"/>
                        </a:lnSpc>
                      </a:pPr>
                      <a:r>
                        <a:rPr sz="1550" b="0" i="0">
                          <a:solidFill>
                            <a:srgbClr val="2E3A4A"/>
                          </a:solidFill>
                          <a:latin typeface="Montserrat"/>
                        </a:rPr>
                        <a:t>Devolver o tablet “para acalmar”</a:t>
                      </a:r>
                    </a:p>
                  </a:txBody>
                  <a:tcPr marL="114300" marR="114300" marT="68580" marB="68580" anchor="ctr">
                    <a:solidFill>
                      <a:srgbClr val="F1F4F6"/>
                    </a:solidFill>
                  </a:tcPr>
                </a:tc>
                <a:tc>
                  <a:txBody>
                    <a:bodyPr wrap="square"/>
                    <a:lstStyle/>
                    <a:p>
                      <a:pPr>
                        <a:lnSpc>
                          <a:spcPct val="100000"/>
                        </a:lnSpc>
                      </a:pPr>
                      <a:r>
                        <a:rPr sz="1550" b="0" i="0">
                          <a:solidFill>
                            <a:srgbClr val="2E3A4A"/>
                          </a:solidFill>
                          <a:latin typeface="Montserrat"/>
                        </a:rPr>
                        <a:t>Na hora, o choro para</a:t>
                      </a:r>
                    </a:p>
                  </a:txBody>
                  <a:tcPr marL="114300" marR="114300" marT="68580" marB="68580" anchor="ctr">
                    <a:solidFill>
                      <a:srgbClr val="F1F4F6"/>
                    </a:solidFill>
                  </a:tcPr>
                </a:tc>
                <a:tc>
                  <a:txBody>
                    <a:bodyPr wrap="square"/>
                    <a:lstStyle/>
                    <a:p>
                      <a:pPr>
                        <a:lnSpc>
                          <a:spcPct val="100000"/>
                        </a:lnSpc>
                      </a:pPr>
                      <a:r>
                        <a:rPr sz="1550" b="0" i="0">
                          <a:solidFill>
                            <a:srgbClr val="2E3A4A"/>
                          </a:solidFill>
                          <a:latin typeface="Montserrat"/>
                        </a:rPr>
                        <a:t>Situação 3: o comportamento fica mais forte nas próximas vezes</a:t>
                      </a:r>
                    </a:p>
                  </a:txBody>
                  <a:tcPr marL="114300" marR="114300" marT="68580" marB="68580" anchor="ctr">
                    <a:solidFill>
                      <a:srgbClr val="F1F4F6"/>
                    </a:solidFill>
                  </a:tcPr>
                </a:tc>
              </a:tr>
            </a:tbl>
          </a:graphicData>
        </a:graphic>
      </p:graphicFrame>
      <p:sp>
        <p:nvSpPr>
          <p:cNvPr id="5" name="TextBox 4"/>
          <p:cNvSpPr txBox="1"/>
          <p:nvPr/>
        </p:nvSpPr>
        <p:spPr>
          <a:xfrm>
            <a:off x="1168400" y="4971355"/>
            <a:ext cx="10307828" cy="330200"/>
          </a:xfrm>
          <a:prstGeom prst="rect">
            <a:avLst/>
          </a:prstGeom>
          <a:noFill/>
        </p:spPr>
        <p:txBody>
          <a:bodyPr wrap="square" lIns="0" rIns="0" tIns="0" bIns="0" anchor="t">
            <a:noAutofit/>
          </a:bodyPr>
          <a:lstStyle/>
          <a:p>
            <a:pPr algn="l">
              <a:lnSpc>
                <a:spcPct val="107000"/>
              </a:lnSpc>
            </a:pPr>
            <a:r>
              <a:rPr sz="2000" b="1" i="0">
                <a:solidFill>
                  <a:srgbClr val="0F7C86"/>
                </a:solidFill>
                <a:latin typeface="Montserrat"/>
              </a:rPr>
              <a:t>Por isso, avaliar a função vem antes de escolher a estratégia.</a:t>
            </a:r>
          </a:p>
        </p:txBody>
      </p:sp>
      <p:sp>
        <p:nvSpPr>
          <p:cNvPr id="6" name="TextBox 5"/>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66717F"/>
                </a:solidFill>
                <a:latin typeface="Montserrat"/>
              </a:rPr>
              <a:t>21b</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B2F4B"/>
        </a:solidFill>
        <a:effectLst/>
      </p:bgPr>
    </p:bg>
    <p:spTree>
      <p:nvGrpSpPr>
        <p:cNvPr id="1" name=""/>
        <p:cNvGrpSpPr/>
        <p:nvPr/>
      </p:nvGrpSpPr>
      <p:grpSpPr/>
      <p:sp>
        <p:nvSpPr>
          <p:cNvPr id="2" name="TextBox 1"/>
          <p:cNvSpPr txBox="1"/>
          <p:nvPr/>
        </p:nvSpPr>
        <p:spPr>
          <a:xfrm>
            <a:off x="2221012" y="2487910"/>
            <a:ext cx="7982374" cy="355600"/>
          </a:xfrm>
          <a:prstGeom prst="rect">
            <a:avLst/>
          </a:prstGeom>
          <a:noFill/>
        </p:spPr>
        <p:txBody>
          <a:bodyPr wrap="square" lIns="0" rIns="0" tIns="0" bIns="0" anchor="t">
            <a:noAutofit/>
          </a:bodyPr>
          <a:lstStyle/>
          <a:p>
            <a:pPr algn="ctr">
              <a:lnSpc>
                <a:spcPct val="115000"/>
              </a:lnSpc>
            </a:pPr>
            <a:r>
              <a:rPr sz="2000" b="0" i="0">
                <a:solidFill>
                  <a:srgbClr val="D8E1EA"/>
                </a:solidFill>
                <a:latin typeface="Montserrat"/>
              </a:rPr>
              <a:t>Cada resposta do início era uma hipótese funcional diferente.</a:t>
            </a:r>
          </a:p>
        </p:txBody>
      </p:sp>
      <p:sp>
        <p:nvSpPr>
          <p:cNvPr id="3" name="TextBox 2"/>
          <p:cNvSpPr txBox="1"/>
          <p:nvPr/>
        </p:nvSpPr>
        <p:spPr>
          <a:xfrm>
            <a:off x="1337965" y="3122910"/>
            <a:ext cx="9801450" cy="700980"/>
          </a:xfrm>
          <a:prstGeom prst="rect">
            <a:avLst/>
          </a:prstGeom>
          <a:noFill/>
        </p:spPr>
        <p:txBody>
          <a:bodyPr wrap="square" lIns="0" rIns="0" tIns="0" bIns="0" anchor="t">
            <a:noAutofit/>
          </a:bodyPr>
          <a:lstStyle/>
          <a:p>
            <a:pPr algn="ctr">
              <a:lnSpc>
                <a:spcPct val="94000"/>
              </a:lnSpc>
            </a:pPr>
            <a:r>
              <a:rPr sz="4800" b="1" i="0">
                <a:solidFill>
                  <a:srgbClr val="FFFFFF"/>
                </a:solidFill>
                <a:latin typeface="Montserrat"/>
              </a:rPr>
              <a:t>Avaliar vem antes de intervir.</a:t>
            </a:r>
          </a:p>
        </p:txBody>
      </p:sp>
      <p:sp>
        <p:nvSpPr>
          <p:cNvPr id="4" name="TextBox 3"/>
          <p:cNvSpPr txBox="1"/>
          <p:nvPr/>
        </p:nvSpPr>
        <p:spPr>
          <a:xfrm>
            <a:off x="4090293" y="4103291"/>
            <a:ext cx="4131654" cy="266700"/>
          </a:xfrm>
          <a:prstGeom prst="rect">
            <a:avLst/>
          </a:prstGeom>
          <a:noFill/>
        </p:spPr>
        <p:txBody>
          <a:bodyPr wrap="square" lIns="0" rIns="0" tIns="0" bIns="0" anchor="t">
            <a:noAutofit/>
          </a:bodyPr>
          <a:lstStyle/>
          <a:p>
            <a:pPr algn="ctr">
              <a:lnSpc>
                <a:spcPct val="115000"/>
              </a:lnSpc>
            </a:pPr>
            <a:r>
              <a:rPr sz="1500" b="0" i="1">
                <a:solidFill>
                  <a:srgbClr val="9FD3D8"/>
                </a:solidFill>
                <a:latin typeface="Montserrat"/>
              </a:rPr>
              <a:t>Só a avaliação permite escolher entre elas.</a:t>
            </a:r>
          </a:p>
        </p:txBody>
      </p:sp>
      <p:sp>
        <p:nvSpPr>
          <p:cNvPr id="5" name="TextBox 4"/>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B8C4D2"/>
                </a:solidFill>
                <a:latin typeface="Montserrat"/>
              </a:rPr>
              <a:t>22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77800" cy="6858000"/>
          </a:xfrm>
          <a:prstGeom prst="rect">
            <a:avLst/>
          </a:prstGeom>
          <a:solidFill>
            <a:srgbClr val="0F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1435795"/>
            <a:ext cx="10307828" cy="963811"/>
          </a:xfrm>
          <a:prstGeom prst="rect">
            <a:avLst/>
          </a:prstGeom>
          <a:noFill/>
        </p:spPr>
        <p:txBody>
          <a:bodyPr wrap="square" lIns="0" rIns="0" tIns="0" bIns="0" anchor="t">
            <a:noAutofit/>
          </a:bodyPr>
          <a:lstStyle/>
          <a:p>
            <a:pPr algn="l">
              <a:lnSpc>
                <a:spcPct val="94000"/>
              </a:lnSpc>
            </a:pPr>
            <a:r>
              <a:rPr sz="3300" b="1" i="0">
                <a:solidFill>
                  <a:srgbClr val="1B2F4B"/>
                </a:solidFill>
                <a:latin typeface="Montserrat"/>
              </a:rPr>
              <a:t>ABA e TCC compartilham compromissos empíricos</a:t>
            </a:r>
          </a:p>
        </p:txBody>
      </p:sp>
      <p:sp>
        <p:nvSpPr>
          <p:cNvPr id="4" name="TextBox 3"/>
          <p:cNvSpPr txBox="1"/>
          <p:nvPr/>
        </p:nvSpPr>
        <p:spPr>
          <a:xfrm>
            <a:off x="1168400" y="2729805"/>
            <a:ext cx="10307828" cy="1905000"/>
          </a:xfrm>
          <a:prstGeom prst="rect">
            <a:avLst/>
          </a:prstGeom>
          <a:noFill/>
        </p:spPr>
        <p:txBody>
          <a:bodyPr wrap="square" lIns="0" rIns="0" tIns="0" bIns="0" anchor="t">
            <a:noAutofit/>
          </a:bodyPr>
          <a:lstStyle/>
          <a:p>
            <a:pPr algn="l" marL="279400" indent="-279400">
              <a:lnSpc>
                <a:spcPct val="123000"/>
              </a:lnSpc>
              <a:buChar char="•"/>
            </a:pPr>
            <a:r>
              <a:rPr sz="2000" b="0" i="0">
                <a:solidFill>
                  <a:srgbClr val="2E3A4A"/>
                </a:solidFill>
                <a:latin typeface="Montserrat"/>
              </a:rPr>
              <a:t>Avaliação de resultados com dados</a:t>
            </a:r>
          </a:p>
          <a:p>
            <a:pPr algn="l" marL="279400" indent="-279400">
              <a:lnSpc>
                <a:spcPct val="123000"/>
              </a:lnSpc>
              <a:buChar char="•"/>
            </a:pPr>
            <a:r>
              <a:rPr sz="2000" b="0" i="0">
                <a:solidFill>
                  <a:srgbClr val="2E3A4A"/>
                </a:solidFill>
                <a:latin typeface="Montserrat"/>
              </a:rPr>
              <a:t>Alvos definidos de forma operacional</a:t>
            </a:r>
          </a:p>
          <a:p>
            <a:pPr algn="l" marL="279400" indent="-279400">
              <a:lnSpc>
                <a:spcPct val="123000"/>
              </a:lnSpc>
              <a:buChar char="•"/>
            </a:pPr>
            <a:r>
              <a:rPr sz="2000" b="0" i="0">
                <a:solidFill>
                  <a:srgbClr val="2E3A4A"/>
                </a:solidFill>
                <a:latin typeface="Montserrat"/>
              </a:rPr>
              <a:t>Formulação individualizada do caso</a:t>
            </a:r>
          </a:p>
          <a:p>
            <a:pPr algn="l" marL="279400" indent="-279400">
              <a:lnSpc>
                <a:spcPct val="123000"/>
              </a:lnSpc>
              <a:buChar char="•"/>
            </a:pPr>
            <a:r>
              <a:rPr sz="2000" b="0" i="0">
                <a:solidFill>
                  <a:srgbClr val="2E3A4A"/>
                </a:solidFill>
                <a:latin typeface="Montserrat"/>
              </a:rPr>
              <a:t>Procedimentos baseados em princípios de aprendizagem, como reforçamento, exposição, modelação e treino de habilidades</a:t>
            </a:r>
          </a:p>
        </p:txBody>
      </p:sp>
      <p:sp>
        <p:nvSpPr>
          <p:cNvPr id="5" name="TextBox 4"/>
          <p:cNvSpPr txBox="1"/>
          <p:nvPr/>
        </p:nvSpPr>
        <p:spPr>
          <a:xfrm>
            <a:off x="1168400" y="4965005"/>
            <a:ext cx="10307828" cy="266700"/>
          </a:xfrm>
          <a:prstGeom prst="rect">
            <a:avLst/>
          </a:prstGeom>
          <a:noFill/>
        </p:spPr>
        <p:txBody>
          <a:bodyPr wrap="square" lIns="0" rIns="0" tIns="0" bIns="0" anchor="t">
            <a:noAutofit/>
          </a:bodyPr>
          <a:lstStyle/>
          <a:p>
            <a:pPr algn="l">
              <a:lnSpc>
                <a:spcPct val="115000"/>
              </a:lnSpc>
            </a:pPr>
            <a:r>
              <a:rPr sz="1500" b="0" i="1">
                <a:solidFill>
                  <a:srgbClr val="66717F"/>
                </a:solidFill>
                <a:latin typeface="Montserrat"/>
              </a:rPr>
              <a:t>Aproximação não é equivalência.</a:t>
            </a:r>
          </a:p>
        </p:txBody>
      </p:sp>
      <p:sp>
        <p:nvSpPr>
          <p:cNvPr id="6" name="TextBox 5"/>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66717F"/>
                </a:solidFill>
                <a:latin typeface="Montserrat"/>
              </a:rPr>
              <a:t>23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77800" cy="6858000"/>
          </a:xfrm>
          <a:prstGeom prst="rect">
            <a:avLst/>
          </a:prstGeom>
          <a:solidFill>
            <a:srgbClr val="0F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1248470"/>
            <a:ext cx="10307828" cy="963811"/>
          </a:xfrm>
          <a:prstGeom prst="rect">
            <a:avLst/>
          </a:prstGeom>
          <a:noFill/>
        </p:spPr>
        <p:txBody>
          <a:bodyPr wrap="square" lIns="0" rIns="0" tIns="0" bIns="0" anchor="t">
            <a:noAutofit/>
          </a:bodyPr>
          <a:lstStyle/>
          <a:p>
            <a:pPr algn="l">
              <a:lnSpc>
                <a:spcPct val="94000"/>
              </a:lnSpc>
            </a:pPr>
            <a:r>
              <a:rPr sz="3300" b="1" i="0">
                <a:solidFill>
                  <a:srgbClr val="1B2F4B"/>
                </a:solidFill>
                <a:latin typeface="Montserrat"/>
              </a:rPr>
              <a:t>ABA e TCC partem de pressupostos diferentes</a:t>
            </a:r>
          </a:p>
        </p:txBody>
      </p:sp>
      <p:graphicFrame>
        <p:nvGraphicFramePr>
          <p:cNvPr id="4" name="Table 3"/>
          <p:cNvGraphicFramePr>
            <a:graphicFrameLocks noGrp="1"/>
          </p:cNvGraphicFramePr>
          <p:nvPr/>
        </p:nvGraphicFramePr>
        <p:xfrm>
          <a:off x="1168400" y="2542480"/>
          <a:ext cx="10007600" cy="2876550"/>
        </p:xfrm>
        <a:graphic>
          <a:graphicData uri="http://schemas.openxmlformats.org/drawingml/2006/table">
            <a:tbl>
              <a:tblPr firstRow="0" bandRow="0">
                <a:tableStyleId>{2D5ABB26-0587-4C30-8999-92F81FD0307C}</a:tableStyleId>
              </a:tblPr>
              <a:tblGrid>
                <a:gridCol w="2802037"/>
                <a:gridCol w="3602732"/>
                <a:gridCol w="3602831"/>
              </a:tblGrid>
              <a:tr h="476250">
                <a:tc>
                  <a:txBody>
                    <a:bodyPr wrap="square"/>
                    <a:lstStyle/>
                    <a:p>
                      <a:pPr>
                        <a:lnSpc>
                          <a:spcPct val="100000"/>
                        </a:lnSpc>
                      </a:pPr>
                    </a:p>
                  </a:txBody>
                  <a:tcPr marL="114300" marR="114300" marT="68580" marB="68580" anchor="ctr">
                    <a:solidFill>
                      <a:srgbClr val="1B2F4B"/>
                    </a:solidFill>
                  </a:tcPr>
                </a:tc>
                <a:tc>
                  <a:txBody>
                    <a:bodyPr wrap="square"/>
                    <a:lstStyle/>
                    <a:p>
                      <a:pPr>
                        <a:lnSpc>
                          <a:spcPct val="100000"/>
                        </a:lnSpc>
                      </a:pPr>
                      <a:r>
                        <a:rPr sz="1600" b="1" i="0">
                          <a:solidFill>
                            <a:srgbClr val="FFFFFF"/>
                          </a:solidFill>
                          <a:latin typeface="Montserrat"/>
                        </a:rPr>
                        <a:t>ABA</a:t>
                      </a:r>
                    </a:p>
                  </a:txBody>
                  <a:tcPr marL="114300" marR="114300" marT="68580" marB="68580" anchor="ctr">
                    <a:solidFill>
                      <a:srgbClr val="1B2F4B"/>
                    </a:solidFill>
                  </a:tcPr>
                </a:tc>
                <a:tc>
                  <a:txBody>
                    <a:bodyPr wrap="square"/>
                    <a:lstStyle/>
                    <a:p>
                      <a:pPr>
                        <a:lnSpc>
                          <a:spcPct val="100000"/>
                        </a:lnSpc>
                      </a:pPr>
                      <a:r>
                        <a:rPr sz="1600" b="1" i="0">
                          <a:solidFill>
                            <a:srgbClr val="FFFFFF"/>
                          </a:solidFill>
                          <a:latin typeface="Montserrat"/>
                        </a:rPr>
                        <a:t>TCC (modelo de Beck)</a:t>
                      </a:r>
                    </a:p>
                  </a:txBody>
                  <a:tcPr marL="114300" marR="114300" marT="68580" marB="68580" anchor="ctr">
                    <a:solidFill>
                      <a:srgbClr val="1B2F4B"/>
                    </a:solidFill>
                  </a:tcPr>
                </a:tc>
              </a:tr>
              <a:tr h="476250">
                <a:tc>
                  <a:txBody>
                    <a:bodyPr wrap="square"/>
                    <a:lstStyle/>
                    <a:p>
                      <a:pPr>
                        <a:lnSpc>
                          <a:spcPct val="100000"/>
                        </a:lnSpc>
                      </a:pPr>
                      <a:r>
                        <a:rPr sz="1600" b="1" i="0">
                          <a:solidFill>
                            <a:srgbClr val="2E3A4A"/>
                          </a:solidFill>
                          <a:latin typeface="Montserrat"/>
                        </a:rPr>
                        <a:t>Base</a:t>
                      </a:r>
                    </a:p>
                  </a:txBody>
                  <a:tcPr marL="114300" marR="114300" marT="68580" marB="68580" anchor="ctr">
                    <a:solidFill>
                      <a:srgbClr val="FFFFFF"/>
                    </a:solidFill>
                  </a:tcPr>
                </a:tc>
                <a:tc>
                  <a:txBody>
                    <a:bodyPr wrap="square"/>
                    <a:lstStyle/>
                    <a:p>
                      <a:pPr>
                        <a:lnSpc>
                          <a:spcPct val="100000"/>
                        </a:lnSpc>
                      </a:pPr>
                      <a:r>
                        <a:rPr sz="1600" b="0" i="0">
                          <a:solidFill>
                            <a:srgbClr val="2E3A4A"/>
                          </a:solidFill>
                          <a:latin typeface="Montserrat"/>
                        </a:rPr>
                        <a:t>Behaviorismo radical</a:t>
                      </a:r>
                    </a:p>
                  </a:txBody>
                  <a:tcPr marL="114300" marR="114300" marT="68580" marB="68580" anchor="ctr">
                    <a:solidFill>
                      <a:srgbClr val="FFFFFF"/>
                    </a:solidFill>
                  </a:tcPr>
                </a:tc>
                <a:tc>
                  <a:txBody>
                    <a:bodyPr wrap="square"/>
                    <a:lstStyle/>
                    <a:p>
                      <a:pPr>
                        <a:lnSpc>
                          <a:spcPct val="100000"/>
                        </a:lnSpc>
                      </a:pPr>
                      <a:r>
                        <a:rPr sz="1600" b="0" i="0">
                          <a:solidFill>
                            <a:srgbClr val="2E3A4A"/>
                          </a:solidFill>
                          <a:latin typeface="Montserrat"/>
                        </a:rPr>
                        <a:t>Modelo cognitivo</a:t>
                      </a:r>
                    </a:p>
                  </a:txBody>
                  <a:tcPr marL="114300" marR="114300" marT="68580" marB="68580" anchor="ctr">
                    <a:solidFill>
                      <a:srgbClr val="FFFFFF"/>
                    </a:solidFill>
                  </a:tcPr>
                </a:tc>
              </a:tr>
              <a:tr h="723900">
                <a:tc>
                  <a:txBody>
                    <a:bodyPr wrap="square"/>
                    <a:lstStyle/>
                    <a:p>
                      <a:pPr>
                        <a:lnSpc>
                          <a:spcPct val="100000"/>
                        </a:lnSpc>
                      </a:pPr>
                      <a:r>
                        <a:rPr sz="1600" b="1" i="0">
                          <a:solidFill>
                            <a:srgbClr val="2E3A4A"/>
                          </a:solidFill>
                          <a:latin typeface="Montserrat"/>
                        </a:rPr>
                        <a:t>Pensamentos e sentimentos</a:t>
                      </a:r>
                    </a:p>
                  </a:txBody>
                  <a:tcPr marL="114300" marR="114300" marT="68580" marB="68580" anchor="ctr">
                    <a:solidFill>
                      <a:srgbClr val="F1F4F6"/>
                    </a:solidFill>
                  </a:tcPr>
                </a:tc>
                <a:tc>
                  <a:txBody>
                    <a:bodyPr wrap="square"/>
                    <a:lstStyle/>
                    <a:p>
                      <a:pPr>
                        <a:lnSpc>
                          <a:spcPct val="100000"/>
                        </a:lnSpc>
                      </a:pPr>
                      <a:r>
                        <a:rPr sz="1600" b="0" i="0">
                          <a:solidFill>
                            <a:srgbClr val="2E3A4A"/>
                          </a:solidFill>
                          <a:latin typeface="Montserrat"/>
                        </a:rPr>
                        <a:t>Comportamentos a explicar</a:t>
                      </a:r>
                    </a:p>
                  </a:txBody>
                  <a:tcPr marL="114300" marR="114300" marT="68580" marB="68580" anchor="ctr">
                    <a:solidFill>
                      <a:srgbClr val="F1F4F6"/>
                    </a:solidFill>
                  </a:tcPr>
                </a:tc>
                <a:tc>
                  <a:txBody>
                    <a:bodyPr wrap="square"/>
                    <a:lstStyle/>
                    <a:p>
                      <a:pPr>
                        <a:lnSpc>
                          <a:spcPct val="100000"/>
                        </a:lnSpc>
                      </a:pPr>
                      <a:r>
                        <a:rPr sz="1600" b="0" i="0">
                          <a:solidFill>
                            <a:srgbClr val="2E3A4A"/>
                          </a:solidFill>
                          <a:latin typeface="Montserrat"/>
                        </a:rPr>
                        <a:t>Mediadores e alvo central</a:t>
                      </a:r>
                    </a:p>
                  </a:txBody>
                  <a:tcPr marL="114300" marR="114300" marT="68580" marB="68580" anchor="ctr">
                    <a:solidFill>
                      <a:srgbClr val="F1F4F6"/>
                    </a:solidFill>
                  </a:tcPr>
                </a:tc>
              </a:tr>
              <a:tr h="723900">
                <a:tc>
                  <a:txBody>
                    <a:bodyPr wrap="square"/>
                    <a:lstStyle/>
                    <a:p>
                      <a:pPr>
                        <a:lnSpc>
                          <a:spcPct val="100000"/>
                        </a:lnSpc>
                      </a:pPr>
                      <a:r>
                        <a:rPr sz="1600" b="1" i="0">
                          <a:solidFill>
                            <a:srgbClr val="2E3A4A"/>
                          </a:solidFill>
                          <a:latin typeface="Montserrat"/>
                        </a:rPr>
                        <a:t>Análise</a:t>
                      </a:r>
                    </a:p>
                  </a:txBody>
                  <a:tcPr marL="114300" marR="114300" marT="68580" marB="68580" anchor="ctr">
                    <a:solidFill>
                      <a:srgbClr val="FFFFFF"/>
                    </a:solidFill>
                  </a:tcPr>
                </a:tc>
                <a:tc>
                  <a:txBody>
                    <a:bodyPr wrap="square"/>
                    <a:lstStyle/>
                    <a:p>
                      <a:pPr>
                        <a:lnSpc>
                          <a:spcPct val="100000"/>
                        </a:lnSpc>
                      </a:pPr>
                      <a:r>
                        <a:rPr sz="1600" b="0" i="0">
                          <a:solidFill>
                            <a:srgbClr val="2E3A4A"/>
                          </a:solidFill>
                          <a:latin typeface="Montserrat"/>
                        </a:rPr>
                        <a:t>Relação comportamento–ambiente</a:t>
                      </a:r>
                    </a:p>
                  </a:txBody>
                  <a:tcPr marL="114300" marR="114300" marT="68580" marB="68580" anchor="ctr">
                    <a:solidFill>
                      <a:srgbClr val="FFFFFF"/>
                    </a:solidFill>
                  </a:tcPr>
                </a:tc>
                <a:tc>
                  <a:txBody>
                    <a:bodyPr wrap="square"/>
                    <a:lstStyle/>
                    <a:p>
                      <a:pPr>
                        <a:lnSpc>
                          <a:spcPct val="100000"/>
                        </a:lnSpc>
                      </a:pPr>
                      <a:r>
                        <a:rPr sz="1600" b="0" i="0">
                          <a:solidFill>
                            <a:srgbClr val="2E3A4A"/>
                          </a:solidFill>
                          <a:latin typeface="Montserrat"/>
                        </a:rPr>
                        <a:t>Situação, pensamento, emoção e comportamento</a:t>
                      </a:r>
                    </a:p>
                  </a:txBody>
                  <a:tcPr marL="114300" marR="114300" marT="68580" marB="68580" anchor="ctr">
                    <a:solidFill>
                      <a:srgbClr val="FFFFFF"/>
                    </a:solidFill>
                  </a:tcPr>
                </a:tc>
              </a:tr>
              <a:tr h="476250">
                <a:tc>
                  <a:txBody>
                    <a:bodyPr wrap="square"/>
                    <a:lstStyle/>
                    <a:p>
                      <a:pPr>
                        <a:lnSpc>
                          <a:spcPct val="100000"/>
                        </a:lnSpc>
                      </a:pPr>
                      <a:r>
                        <a:rPr sz="1600" b="1" i="0">
                          <a:solidFill>
                            <a:srgbClr val="2E3A4A"/>
                          </a:solidFill>
                          <a:latin typeface="Montserrat"/>
                        </a:rPr>
                        <a:t>Formulação</a:t>
                      </a:r>
                    </a:p>
                  </a:txBody>
                  <a:tcPr marL="114300" marR="114300" marT="68580" marB="68580" anchor="ctr">
                    <a:solidFill>
                      <a:srgbClr val="F1F4F6"/>
                    </a:solidFill>
                  </a:tcPr>
                </a:tc>
                <a:tc>
                  <a:txBody>
                    <a:bodyPr wrap="square"/>
                    <a:lstStyle/>
                    <a:p>
                      <a:pPr>
                        <a:lnSpc>
                          <a:spcPct val="100000"/>
                        </a:lnSpc>
                      </a:pPr>
                      <a:r>
                        <a:rPr sz="1600" b="0" i="0">
                          <a:solidFill>
                            <a:srgbClr val="2E3A4A"/>
                          </a:solidFill>
                          <a:latin typeface="Montserrat"/>
                        </a:rPr>
                        <a:t>Análise funcional</a:t>
                      </a:r>
                    </a:p>
                  </a:txBody>
                  <a:tcPr marL="114300" marR="114300" marT="68580" marB="68580" anchor="ctr">
                    <a:solidFill>
                      <a:srgbClr val="F1F4F6"/>
                    </a:solidFill>
                  </a:tcPr>
                </a:tc>
                <a:tc>
                  <a:txBody>
                    <a:bodyPr wrap="square"/>
                    <a:lstStyle/>
                    <a:p>
                      <a:pPr>
                        <a:lnSpc>
                          <a:spcPct val="100000"/>
                        </a:lnSpc>
                      </a:pPr>
                      <a:r>
                        <a:rPr sz="1600" b="0" i="0">
                          <a:solidFill>
                            <a:srgbClr val="2E3A4A"/>
                          </a:solidFill>
                          <a:latin typeface="Montserrat"/>
                        </a:rPr>
                        <a:t>Conceituação cognitiva</a:t>
                      </a:r>
                    </a:p>
                  </a:txBody>
                  <a:tcPr marL="114300" marR="114300" marT="68580" marB="68580" anchor="ctr">
                    <a:solidFill>
                      <a:srgbClr val="F1F4F6"/>
                    </a:solidFill>
                  </a:tcPr>
                </a:tc>
              </a:tr>
            </a:tbl>
          </a:graphicData>
        </a:graphic>
      </p:graphicFrame>
      <p:sp>
        <p:nvSpPr>
          <p:cNvPr id="5" name="TextBox 4"/>
          <p:cNvSpPr txBox="1"/>
          <p:nvPr/>
        </p:nvSpPr>
        <p:spPr>
          <a:xfrm>
            <a:off x="1168400" y="6343650"/>
            <a:ext cx="9156700" cy="184150"/>
          </a:xfrm>
          <a:prstGeom prst="rect">
            <a:avLst/>
          </a:prstGeom>
          <a:noFill/>
        </p:spPr>
        <p:txBody>
          <a:bodyPr wrap="square" lIns="0" rIns="0" tIns="0" bIns="0" anchor="t">
            <a:noAutofit/>
          </a:bodyPr>
          <a:lstStyle/>
          <a:p>
            <a:pPr algn="l">
              <a:lnSpc>
                <a:spcPct val="98000"/>
              </a:lnSpc>
            </a:pPr>
            <a:r>
              <a:rPr sz="1200" b="0" i="0">
                <a:solidFill>
                  <a:srgbClr val="66717F"/>
                </a:solidFill>
                <a:latin typeface="Montserrat"/>
              </a:rPr>
              <a:t>Skinner (1953); Beck (2021)</a:t>
            </a:r>
          </a:p>
        </p:txBody>
      </p:sp>
      <p:sp>
        <p:nvSpPr>
          <p:cNvPr id="6" name="TextBox 5"/>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66717F"/>
                </a:solidFill>
                <a:latin typeface="Montserrat"/>
              </a:rPr>
              <a:t>24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77800" cy="6858000"/>
          </a:xfrm>
          <a:prstGeom prst="rect">
            <a:avLst/>
          </a:prstGeom>
          <a:solidFill>
            <a:srgbClr val="0F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1682353"/>
            <a:ext cx="10307828" cy="963811"/>
          </a:xfrm>
          <a:prstGeom prst="rect">
            <a:avLst/>
          </a:prstGeom>
          <a:noFill/>
        </p:spPr>
        <p:txBody>
          <a:bodyPr wrap="square" lIns="0" rIns="0" tIns="0" bIns="0" anchor="t">
            <a:noAutofit/>
          </a:bodyPr>
          <a:lstStyle/>
          <a:p>
            <a:pPr algn="l">
              <a:lnSpc>
                <a:spcPct val="94000"/>
              </a:lnSpc>
            </a:pPr>
            <a:r>
              <a:rPr sz="3300" b="1" i="0">
                <a:solidFill>
                  <a:srgbClr val="1B2F4B"/>
                </a:solidFill>
                <a:latin typeface="Montserrat"/>
              </a:rPr>
              <a:t>No TEA, cada abordagem tem evidências em áreas diferentes</a:t>
            </a:r>
          </a:p>
        </p:txBody>
      </p:sp>
      <p:sp>
        <p:nvSpPr>
          <p:cNvPr id="4" name="TextBox 3"/>
          <p:cNvSpPr txBox="1"/>
          <p:nvPr/>
        </p:nvSpPr>
        <p:spPr>
          <a:xfrm>
            <a:off x="1168400" y="2976364"/>
            <a:ext cx="4839970" cy="639961"/>
          </a:xfrm>
          <a:prstGeom prst="rect">
            <a:avLst/>
          </a:prstGeom>
          <a:noFill/>
        </p:spPr>
        <p:txBody>
          <a:bodyPr wrap="square" lIns="0" rIns="0" tIns="0" bIns="0" anchor="t">
            <a:noAutofit/>
          </a:bodyPr>
          <a:lstStyle/>
          <a:p>
            <a:pPr algn="l">
              <a:lnSpc>
                <a:spcPct val="98000"/>
              </a:lnSpc>
            </a:pPr>
            <a:r>
              <a:rPr sz="2100" b="1" i="0">
                <a:solidFill>
                  <a:srgbClr val="0F7C86"/>
                </a:solidFill>
                <a:latin typeface="Montserrat"/>
              </a:rPr>
              <a:t>Práticas de base comportamental</a:t>
            </a:r>
          </a:p>
        </p:txBody>
      </p:sp>
      <p:sp>
        <p:nvSpPr>
          <p:cNvPr id="5" name="TextBox 4"/>
          <p:cNvSpPr txBox="1"/>
          <p:nvPr/>
        </p:nvSpPr>
        <p:spPr>
          <a:xfrm>
            <a:off x="1168400" y="3705225"/>
            <a:ext cx="4839970" cy="1279922"/>
          </a:xfrm>
          <a:prstGeom prst="rect">
            <a:avLst/>
          </a:prstGeom>
          <a:noFill/>
        </p:spPr>
        <p:txBody>
          <a:bodyPr wrap="square" lIns="0" rIns="0" tIns="0" bIns="0" anchor="t">
            <a:noAutofit/>
          </a:bodyPr>
          <a:lstStyle/>
          <a:p>
            <a:pPr algn="l">
              <a:lnSpc>
                <a:spcPct val="115000"/>
              </a:lnSpc>
            </a:pPr>
            <a:r>
              <a:rPr sz="1800" b="0" i="0">
                <a:solidFill>
                  <a:srgbClr val="2E3A4A"/>
                </a:solidFill>
                <a:latin typeface="Montserrat"/>
              </a:rPr>
              <a:t>Têm critério de evidência: FCT, intervenções antecedentes, reforçamento diferencial, intervenção naturalística, entre outras.</a:t>
            </a:r>
          </a:p>
        </p:txBody>
      </p:sp>
      <p:sp>
        <p:nvSpPr>
          <p:cNvPr id="6" name="TextBox 5"/>
          <p:cNvSpPr txBox="1"/>
          <p:nvPr/>
        </p:nvSpPr>
        <p:spPr>
          <a:xfrm>
            <a:off x="6477000" y="2976364"/>
            <a:ext cx="4839970" cy="319980"/>
          </a:xfrm>
          <a:prstGeom prst="rect">
            <a:avLst/>
          </a:prstGeom>
          <a:noFill/>
        </p:spPr>
        <p:txBody>
          <a:bodyPr wrap="square" lIns="0" rIns="0" tIns="0" bIns="0" anchor="t">
            <a:noAutofit/>
          </a:bodyPr>
          <a:lstStyle/>
          <a:p>
            <a:pPr algn="l">
              <a:lnSpc>
                <a:spcPct val="98000"/>
              </a:lnSpc>
            </a:pPr>
            <a:r>
              <a:rPr sz="2100" b="1" i="0">
                <a:solidFill>
                  <a:srgbClr val="0F7C86"/>
                </a:solidFill>
                <a:latin typeface="Montserrat"/>
              </a:rPr>
              <a:t>TCC adaptada para autismo</a:t>
            </a:r>
          </a:p>
        </p:txBody>
      </p:sp>
      <p:sp>
        <p:nvSpPr>
          <p:cNvPr id="7" name="TextBox 6"/>
          <p:cNvSpPr txBox="1"/>
          <p:nvPr/>
        </p:nvSpPr>
        <p:spPr>
          <a:xfrm>
            <a:off x="6477000" y="3385245"/>
            <a:ext cx="4839970" cy="959941"/>
          </a:xfrm>
          <a:prstGeom prst="rect">
            <a:avLst/>
          </a:prstGeom>
          <a:noFill/>
        </p:spPr>
        <p:txBody>
          <a:bodyPr wrap="square" lIns="0" rIns="0" tIns="0" bIns="0" anchor="t">
            <a:noAutofit/>
          </a:bodyPr>
          <a:lstStyle/>
          <a:p>
            <a:pPr algn="l">
              <a:lnSpc>
                <a:spcPct val="115000"/>
              </a:lnSpc>
            </a:pPr>
            <a:r>
              <a:rPr sz="1800" b="0" i="0">
                <a:solidFill>
                  <a:srgbClr val="2E3A4A"/>
                </a:solidFill>
                <a:latin typeface="Montserrat"/>
              </a:rPr>
              <a:t>Tem evidência de ensaio clínico para ansiedade em crianças autistas de 7 a 13 anos.</a:t>
            </a:r>
          </a:p>
        </p:txBody>
      </p:sp>
      <p:sp>
        <p:nvSpPr>
          <p:cNvPr id="8" name="TextBox 7"/>
          <p:cNvSpPr txBox="1"/>
          <p:nvPr/>
        </p:nvSpPr>
        <p:spPr>
          <a:xfrm>
            <a:off x="1168400" y="6343650"/>
            <a:ext cx="9156700" cy="184150"/>
          </a:xfrm>
          <a:prstGeom prst="rect">
            <a:avLst/>
          </a:prstGeom>
          <a:noFill/>
        </p:spPr>
        <p:txBody>
          <a:bodyPr wrap="square" lIns="0" rIns="0" tIns="0" bIns="0" anchor="t">
            <a:noAutofit/>
          </a:bodyPr>
          <a:lstStyle/>
          <a:p>
            <a:pPr algn="l">
              <a:lnSpc>
                <a:spcPct val="98000"/>
              </a:lnSpc>
            </a:pPr>
            <a:r>
              <a:rPr sz="1200" b="0" i="0">
                <a:solidFill>
                  <a:srgbClr val="66717F"/>
                </a:solidFill>
                <a:latin typeface="Montserrat"/>
              </a:rPr>
              <a:t>Hume et al. (2021); Wood et al. (2020)</a:t>
            </a:r>
          </a:p>
        </p:txBody>
      </p:sp>
      <p:sp>
        <p:nvSpPr>
          <p:cNvPr id="9" name="TextBox 8"/>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66717F"/>
                </a:solidFill>
                <a:latin typeface="Montserrat"/>
              </a:rPr>
              <a:t>25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B2F4B"/>
        </a:solidFill>
        <a:effectLst/>
      </p:bgPr>
    </p:bg>
    <p:spTree>
      <p:nvGrpSpPr>
        <p:cNvPr id="1" name=""/>
        <p:cNvGrpSpPr/>
        <p:nvPr/>
      </p:nvGrpSpPr>
      <p:grpSpPr/>
      <p:sp>
        <p:nvSpPr>
          <p:cNvPr id="2" name="TextBox 1"/>
          <p:cNvSpPr txBox="1"/>
          <p:nvPr/>
        </p:nvSpPr>
        <p:spPr>
          <a:xfrm>
            <a:off x="1270000" y="1959670"/>
            <a:ext cx="9941560" cy="711200"/>
          </a:xfrm>
          <a:prstGeom prst="rect">
            <a:avLst/>
          </a:prstGeom>
          <a:noFill/>
        </p:spPr>
        <p:txBody>
          <a:bodyPr wrap="square" lIns="0" rIns="0" tIns="0" bIns="0" anchor="t">
            <a:noAutofit/>
          </a:bodyPr>
          <a:lstStyle/>
          <a:p>
            <a:pPr algn="ctr">
              <a:lnSpc>
                <a:spcPct val="115000"/>
              </a:lnSpc>
            </a:pPr>
            <a:r>
              <a:rPr sz="2000" b="0" i="0">
                <a:solidFill>
                  <a:srgbClr val="D8E1EA"/>
                </a:solidFill>
                <a:latin typeface="Montserrat"/>
              </a:rPr>
              <a:t>Uma adolescente autista, com boa linguagem, evita trabalhos em grupo e diz ter medo de “falar algo errado”.</a:t>
            </a:r>
          </a:p>
        </p:txBody>
      </p:sp>
      <p:sp>
        <p:nvSpPr>
          <p:cNvPr id="3" name="TextBox 2"/>
          <p:cNvSpPr txBox="1"/>
          <p:nvPr/>
        </p:nvSpPr>
        <p:spPr>
          <a:xfrm>
            <a:off x="1270000" y="2950270"/>
            <a:ext cx="9941560" cy="1401961"/>
          </a:xfrm>
          <a:prstGeom prst="rect">
            <a:avLst/>
          </a:prstGeom>
          <a:noFill/>
        </p:spPr>
        <p:txBody>
          <a:bodyPr wrap="square" lIns="0" rIns="0" tIns="0" bIns="0" anchor="t">
            <a:noAutofit/>
          </a:bodyPr>
          <a:lstStyle/>
          <a:p>
            <a:pPr algn="ctr">
              <a:lnSpc>
                <a:spcPct val="94000"/>
              </a:lnSpc>
            </a:pPr>
            <a:r>
              <a:rPr sz="3200" b="1" i="0">
                <a:solidFill>
                  <a:srgbClr val="FFFFFF"/>
                </a:solidFill>
                <a:latin typeface="Montserrat"/>
              </a:rPr>
              <a:t>O que um analista do comportamento perguntaria primeiro? E um terapeuta cognitivo-comportamental?</a:t>
            </a:r>
          </a:p>
        </p:txBody>
      </p:sp>
      <p:sp>
        <p:nvSpPr>
          <p:cNvPr id="4" name="TextBox 3"/>
          <p:cNvSpPr txBox="1"/>
          <p:nvPr/>
        </p:nvSpPr>
        <p:spPr>
          <a:xfrm>
            <a:off x="5336183" y="4631630"/>
            <a:ext cx="1565121" cy="266700"/>
          </a:xfrm>
          <a:prstGeom prst="rect">
            <a:avLst/>
          </a:prstGeom>
          <a:noFill/>
        </p:spPr>
        <p:txBody>
          <a:bodyPr wrap="square" lIns="0" rIns="0" tIns="0" bIns="0" anchor="t">
            <a:noAutofit/>
          </a:bodyPr>
          <a:lstStyle/>
          <a:p>
            <a:pPr algn="ctr">
              <a:lnSpc>
                <a:spcPct val="115000"/>
              </a:lnSpc>
            </a:pPr>
            <a:r>
              <a:rPr sz="1500" b="0" i="1">
                <a:solidFill>
                  <a:srgbClr val="9FD3D8"/>
                </a:solidFill>
                <a:latin typeface="Montserrat"/>
              </a:rPr>
              <a:t>Exemplo fictício</a:t>
            </a:r>
          </a:p>
        </p:txBody>
      </p:sp>
      <p:sp>
        <p:nvSpPr>
          <p:cNvPr id="5" name="TextBox 4"/>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B8C4D2"/>
                </a:solidFill>
                <a:latin typeface="Montserrat"/>
              </a:rPr>
              <a:t>26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77800" cy="6858000"/>
          </a:xfrm>
          <a:prstGeom prst="rect">
            <a:avLst/>
          </a:prstGeom>
          <a:solidFill>
            <a:srgbClr val="0F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1596628"/>
            <a:ext cx="10307828" cy="963811"/>
          </a:xfrm>
          <a:prstGeom prst="rect">
            <a:avLst/>
          </a:prstGeom>
          <a:noFill/>
        </p:spPr>
        <p:txBody>
          <a:bodyPr wrap="square" lIns="0" rIns="0" tIns="0" bIns="0" anchor="t">
            <a:noAutofit/>
          </a:bodyPr>
          <a:lstStyle/>
          <a:p>
            <a:pPr algn="l">
              <a:lnSpc>
                <a:spcPct val="94000"/>
              </a:lnSpc>
            </a:pPr>
            <a:r>
              <a:rPr sz="3300" b="1" i="0">
                <a:solidFill>
                  <a:srgbClr val="1B2F4B"/>
                </a:solidFill>
                <a:latin typeface="Montserrat"/>
              </a:rPr>
              <a:t>Respostas: o que cada abordagem perguntaria primeiro</a:t>
            </a:r>
          </a:p>
        </p:txBody>
      </p:sp>
      <p:sp>
        <p:nvSpPr>
          <p:cNvPr id="4" name="TextBox 3"/>
          <p:cNvSpPr txBox="1"/>
          <p:nvPr/>
        </p:nvSpPr>
        <p:spPr>
          <a:xfrm>
            <a:off x="1168400" y="2814439"/>
            <a:ext cx="4839970" cy="319980"/>
          </a:xfrm>
          <a:prstGeom prst="rect">
            <a:avLst/>
          </a:prstGeom>
          <a:noFill/>
        </p:spPr>
        <p:txBody>
          <a:bodyPr wrap="square" lIns="0" rIns="0" tIns="0" bIns="0" anchor="t">
            <a:noAutofit/>
          </a:bodyPr>
          <a:lstStyle/>
          <a:p>
            <a:pPr algn="l">
              <a:lnSpc>
                <a:spcPct val="98000"/>
              </a:lnSpc>
            </a:pPr>
            <a:r>
              <a:rPr sz="2100" b="1" i="0">
                <a:solidFill>
                  <a:srgbClr val="0F7C86"/>
                </a:solidFill>
                <a:latin typeface="Montserrat"/>
              </a:rPr>
              <a:t>Análise do comportamento</a:t>
            </a:r>
          </a:p>
        </p:txBody>
      </p:sp>
      <p:sp>
        <p:nvSpPr>
          <p:cNvPr id="5" name="TextBox 4"/>
          <p:cNvSpPr txBox="1"/>
          <p:nvPr/>
        </p:nvSpPr>
        <p:spPr>
          <a:xfrm>
            <a:off x="1168400" y="3223320"/>
            <a:ext cx="4839970" cy="959941"/>
          </a:xfrm>
          <a:prstGeom prst="rect">
            <a:avLst/>
          </a:prstGeom>
          <a:noFill/>
        </p:spPr>
        <p:txBody>
          <a:bodyPr wrap="square" lIns="0" rIns="0" tIns="0" bIns="0" anchor="t">
            <a:noAutofit/>
          </a:bodyPr>
          <a:lstStyle/>
          <a:p>
            <a:pPr algn="l">
              <a:lnSpc>
                <a:spcPct val="115000"/>
              </a:lnSpc>
            </a:pPr>
            <a:r>
              <a:rPr sz="1800" b="0" i="0">
                <a:solidFill>
                  <a:srgbClr val="2E3A4A"/>
                </a:solidFill>
                <a:latin typeface="Montserrat"/>
              </a:rPr>
              <a:t>Em que situações ela evita o grupo? O que acontece logo depois? O que mantém esse comportamento?</a:t>
            </a:r>
          </a:p>
        </p:txBody>
      </p:sp>
      <p:sp>
        <p:nvSpPr>
          <p:cNvPr id="6" name="TextBox 5"/>
          <p:cNvSpPr txBox="1"/>
          <p:nvPr/>
        </p:nvSpPr>
        <p:spPr>
          <a:xfrm>
            <a:off x="6477000" y="2814439"/>
            <a:ext cx="4839970" cy="319980"/>
          </a:xfrm>
          <a:prstGeom prst="rect">
            <a:avLst/>
          </a:prstGeom>
          <a:noFill/>
        </p:spPr>
        <p:txBody>
          <a:bodyPr wrap="square" lIns="0" rIns="0" tIns="0" bIns="0" anchor="t">
            <a:noAutofit/>
          </a:bodyPr>
          <a:lstStyle/>
          <a:p>
            <a:pPr algn="l">
              <a:lnSpc>
                <a:spcPct val="98000"/>
              </a:lnSpc>
            </a:pPr>
            <a:r>
              <a:rPr sz="2100" b="1" i="0">
                <a:solidFill>
                  <a:srgbClr val="0F7C86"/>
                </a:solidFill>
                <a:latin typeface="Montserrat"/>
              </a:rPr>
              <a:t>TCC</a:t>
            </a:r>
          </a:p>
        </p:txBody>
      </p:sp>
      <p:sp>
        <p:nvSpPr>
          <p:cNvPr id="7" name="TextBox 6"/>
          <p:cNvSpPr txBox="1"/>
          <p:nvPr/>
        </p:nvSpPr>
        <p:spPr>
          <a:xfrm>
            <a:off x="6477000" y="3223320"/>
            <a:ext cx="4839970" cy="1279922"/>
          </a:xfrm>
          <a:prstGeom prst="rect">
            <a:avLst/>
          </a:prstGeom>
          <a:noFill/>
        </p:spPr>
        <p:txBody>
          <a:bodyPr wrap="square" lIns="0" rIns="0" tIns="0" bIns="0" anchor="t">
            <a:noAutofit/>
          </a:bodyPr>
          <a:lstStyle/>
          <a:p>
            <a:pPr algn="l">
              <a:lnSpc>
                <a:spcPct val="115000"/>
              </a:lnSpc>
            </a:pPr>
            <a:r>
              <a:rPr sz="1800" b="0" i="0">
                <a:solidFill>
                  <a:srgbClr val="2E3A4A"/>
                </a:solidFill>
                <a:latin typeface="Montserrat"/>
              </a:rPr>
              <a:t>Que pensamentos e crenças ela tem sobre falar em grupo (“vou falar algo errado”)? Como eles influenciam a ansiedade e a esquiva?</a:t>
            </a:r>
          </a:p>
        </p:txBody>
      </p:sp>
      <p:sp>
        <p:nvSpPr>
          <p:cNvPr id="8" name="TextBox 7"/>
          <p:cNvSpPr txBox="1"/>
          <p:nvPr/>
        </p:nvSpPr>
        <p:spPr>
          <a:xfrm>
            <a:off x="1168400" y="4757241"/>
            <a:ext cx="10307828" cy="313630"/>
          </a:xfrm>
          <a:prstGeom prst="rect">
            <a:avLst/>
          </a:prstGeom>
          <a:noFill/>
        </p:spPr>
        <p:txBody>
          <a:bodyPr wrap="square" lIns="0" rIns="0" tIns="0" bIns="0" anchor="t">
            <a:noAutofit/>
          </a:bodyPr>
          <a:lstStyle/>
          <a:p>
            <a:pPr algn="l">
              <a:lnSpc>
                <a:spcPct val="107000"/>
              </a:lnSpc>
            </a:pPr>
            <a:r>
              <a:rPr sz="1900" b="1" i="0">
                <a:solidFill>
                  <a:srgbClr val="0F7C86"/>
                </a:solidFill>
                <a:latin typeface="Montserrat"/>
              </a:rPr>
              <a:t>As duas leituras ajudam a entender o caso, mas não são equivalentes.</a:t>
            </a:r>
          </a:p>
        </p:txBody>
      </p:sp>
      <p:sp>
        <p:nvSpPr>
          <p:cNvPr id="9" name="TextBox 8"/>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66717F"/>
                </a:solidFill>
                <a:latin typeface="Montserrat"/>
              </a:rPr>
              <a:t>26b</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F7C86"/>
        </a:solidFill>
        <a:effectLst/>
      </p:bgPr>
    </p:bg>
    <p:spTree>
      <p:nvGrpSpPr>
        <p:cNvPr id="1" name=""/>
        <p:cNvGrpSpPr/>
        <p:nvPr/>
      </p:nvGrpSpPr>
      <p:grpSpPr/>
      <p:sp>
        <p:nvSpPr>
          <p:cNvPr id="2" name="TextBox 1"/>
          <p:cNvSpPr txBox="1"/>
          <p:nvPr/>
        </p:nvSpPr>
        <p:spPr>
          <a:xfrm>
            <a:off x="4899620" y="2327275"/>
            <a:ext cx="2464542" cy="355600"/>
          </a:xfrm>
          <a:prstGeom prst="rect">
            <a:avLst/>
          </a:prstGeom>
          <a:noFill/>
        </p:spPr>
        <p:txBody>
          <a:bodyPr wrap="square" lIns="0" rIns="0" tIns="0" bIns="0" anchor="t">
            <a:noAutofit/>
          </a:bodyPr>
          <a:lstStyle/>
          <a:p>
            <a:pPr algn="ctr">
              <a:lnSpc>
                <a:spcPct val="115000"/>
              </a:lnSpc>
            </a:pPr>
            <a:r>
              <a:rPr sz="2000" b="0" i="0">
                <a:solidFill>
                  <a:srgbClr val="D8E1EA"/>
                </a:solidFill>
                <a:latin typeface="Montserrat"/>
              </a:rPr>
              <a:t>Voltamos às 10h45.</a:t>
            </a:r>
          </a:p>
        </p:txBody>
      </p:sp>
      <p:sp>
        <p:nvSpPr>
          <p:cNvPr id="3" name="TextBox 2"/>
          <p:cNvSpPr txBox="1"/>
          <p:nvPr/>
        </p:nvSpPr>
        <p:spPr>
          <a:xfrm>
            <a:off x="3974703" y="2962275"/>
            <a:ext cx="4369769" cy="1022350"/>
          </a:xfrm>
          <a:prstGeom prst="rect">
            <a:avLst/>
          </a:prstGeom>
          <a:noFill/>
        </p:spPr>
        <p:txBody>
          <a:bodyPr wrap="square" lIns="0" rIns="0" tIns="0" bIns="0" anchor="t">
            <a:noAutofit/>
          </a:bodyPr>
          <a:lstStyle/>
          <a:p>
            <a:pPr algn="ctr">
              <a:lnSpc>
                <a:spcPct val="94000"/>
              </a:lnSpc>
            </a:pPr>
            <a:r>
              <a:rPr sz="7000" b="1" i="0">
                <a:solidFill>
                  <a:srgbClr val="FFFFFF"/>
                </a:solidFill>
                <a:latin typeface="Montserrat"/>
              </a:rPr>
              <a:t>Intervalo</a:t>
            </a:r>
          </a:p>
        </p:txBody>
      </p:sp>
      <p:sp>
        <p:nvSpPr>
          <p:cNvPr id="4" name="TextBox 3"/>
          <p:cNvSpPr txBox="1"/>
          <p:nvPr/>
        </p:nvSpPr>
        <p:spPr>
          <a:xfrm>
            <a:off x="4060527" y="4264025"/>
            <a:ext cx="4193074" cy="266700"/>
          </a:xfrm>
          <a:prstGeom prst="rect">
            <a:avLst/>
          </a:prstGeom>
          <a:noFill/>
        </p:spPr>
        <p:txBody>
          <a:bodyPr wrap="square" lIns="0" rIns="0" tIns="0" bIns="0" anchor="t">
            <a:noAutofit/>
          </a:bodyPr>
          <a:lstStyle/>
          <a:p>
            <a:pPr algn="ctr">
              <a:lnSpc>
                <a:spcPct val="115000"/>
              </a:lnSpc>
            </a:pPr>
            <a:r>
              <a:rPr sz="1500" b="0" i="1">
                <a:solidFill>
                  <a:srgbClr val="E6F4F5"/>
                </a:solidFill>
                <a:latin typeface="Montserrat"/>
              </a:rPr>
              <a:t>Ao voltar, formem grupos de 4 a 6 pessoas.</a:t>
            </a:r>
          </a:p>
        </p:txBody>
      </p:sp>
      <p:sp>
        <p:nvSpPr>
          <p:cNvPr id="5" name="TextBox 4"/>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B8C4D2"/>
                </a:solidFill>
                <a:latin typeface="Montserrat"/>
              </a:rPr>
              <a:t>27</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77800" cy="6858000"/>
          </a:xfrm>
          <a:prstGeom prst="rect">
            <a:avLst/>
          </a:prstGeom>
          <a:solidFill>
            <a:srgbClr val="0F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1610420"/>
            <a:ext cx="10307828" cy="963811"/>
          </a:xfrm>
          <a:prstGeom prst="rect">
            <a:avLst/>
          </a:prstGeom>
          <a:noFill/>
        </p:spPr>
        <p:txBody>
          <a:bodyPr wrap="square" lIns="0" rIns="0" tIns="0" bIns="0" anchor="t">
            <a:noAutofit/>
          </a:bodyPr>
          <a:lstStyle/>
          <a:p>
            <a:pPr algn="l">
              <a:lnSpc>
                <a:spcPct val="94000"/>
              </a:lnSpc>
            </a:pPr>
            <a:r>
              <a:rPr sz="3300" b="1" i="0">
                <a:solidFill>
                  <a:srgbClr val="1B2F4B"/>
                </a:solidFill>
                <a:latin typeface="Montserrat"/>
              </a:rPr>
              <a:t>Três formas de avaliar a função, com limites diferentes</a:t>
            </a:r>
          </a:p>
        </p:txBody>
      </p:sp>
      <p:graphicFrame>
        <p:nvGraphicFramePr>
          <p:cNvPr id="4" name="Table 3"/>
          <p:cNvGraphicFramePr>
            <a:graphicFrameLocks noGrp="1"/>
          </p:cNvGraphicFramePr>
          <p:nvPr/>
        </p:nvGraphicFramePr>
        <p:xfrm>
          <a:off x="1168400" y="2904430"/>
          <a:ext cx="10007600" cy="2152650"/>
        </p:xfrm>
        <a:graphic>
          <a:graphicData uri="http://schemas.openxmlformats.org/drawingml/2006/table">
            <a:tbl>
              <a:tblPr firstRow="0" bandRow="0">
                <a:tableStyleId>{2D5ABB26-0587-4C30-8999-92F81FD0307C}</a:tableStyleId>
              </a:tblPr>
              <a:tblGrid>
                <a:gridCol w="2401788"/>
                <a:gridCol w="3402509"/>
                <a:gridCol w="4203303"/>
              </a:tblGrid>
              <a:tr h="476250">
                <a:tc>
                  <a:txBody>
                    <a:bodyPr wrap="square"/>
                    <a:lstStyle/>
                    <a:p>
                      <a:pPr>
                        <a:lnSpc>
                          <a:spcPct val="100000"/>
                        </a:lnSpc>
                      </a:pPr>
                      <a:r>
                        <a:rPr sz="1600" b="1" i="0">
                          <a:solidFill>
                            <a:srgbClr val="FFFFFF"/>
                          </a:solidFill>
                          <a:latin typeface="Montserrat"/>
                        </a:rPr>
                        <a:t>Avaliação</a:t>
                      </a:r>
                    </a:p>
                  </a:txBody>
                  <a:tcPr marL="114300" marR="114300" marT="68580" marB="68580" anchor="ctr">
                    <a:solidFill>
                      <a:srgbClr val="1B2F4B"/>
                    </a:solidFill>
                  </a:tcPr>
                </a:tc>
                <a:tc>
                  <a:txBody>
                    <a:bodyPr wrap="square"/>
                    <a:lstStyle/>
                    <a:p>
                      <a:pPr>
                        <a:lnSpc>
                          <a:spcPct val="100000"/>
                        </a:lnSpc>
                      </a:pPr>
                      <a:r>
                        <a:rPr sz="1600" b="1" i="0">
                          <a:solidFill>
                            <a:srgbClr val="FFFFFF"/>
                          </a:solidFill>
                          <a:latin typeface="Montserrat"/>
                        </a:rPr>
                        <a:t>Como</a:t>
                      </a:r>
                    </a:p>
                  </a:txBody>
                  <a:tcPr marL="114300" marR="114300" marT="68580" marB="68580" anchor="ctr">
                    <a:solidFill>
                      <a:srgbClr val="1B2F4B"/>
                    </a:solidFill>
                  </a:tcPr>
                </a:tc>
                <a:tc>
                  <a:txBody>
                    <a:bodyPr wrap="square"/>
                    <a:lstStyle/>
                    <a:p>
                      <a:pPr>
                        <a:lnSpc>
                          <a:spcPct val="100000"/>
                        </a:lnSpc>
                      </a:pPr>
                      <a:r>
                        <a:rPr sz="1600" b="1" i="0">
                          <a:solidFill>
                            <a:srgbClr val="FFFFFF"/>
                          </a:solidFill>
                          <a:latin typeface="Montserrat"/>
                        </a:rPr>
                        <a:t>Limite</a:t>
                      </a:r>
                    </a:p>
                  </a:txBody>
                  <a:tcPr marL="114300" marR="114300" marT="68580" marB="68580" anchor="ctr">
                    <a:solidFill>
                      <a:srgbClr val="1B2F4B"/>
                    </a:solidFill>
                  </a:tcPr>
                </a:tc>
              </a:tr>
              <a:tr h="476250">
                <a:tc>
                  <a:txBody>
                    <a:bodyPr wrap="square"/>
                    <a:lstStyle/>
                    <a:p>
                      <a:pPr>
                        <a:lnSpc>
                          <a:spcPct val="100000"/>
                        </a:lnSpc>
                      </a:pPr>
                      <a:r>
                        <a:rPr sz="1600" b="1" i="0">
                          <a:solidFill>
                            <a:srgbClr val="2E3A4A"/>
                          </a:solidFill>
                          <a:latin typeface="Montserrat"/>
                        </a:rPr>
                        <a:t>Indireta</a:t>
                      </a:r>
                    </a:p>
                  </a:txBody>
                  <a:tcPr marL="114300" marR="114300" marT="68580" marB="68580" anchor="ctr">
                    <a:solidFill>
                      <a:srgbClr val="FFFFFF"/>
                    </a:solidFill>
                  </a:tcPr>
                </a:tc>
                <a:tc>
                  <a:txBody>
                    <a:bodyPr wrap="square"/>
                    <a:lstStyle/>
                    <a:p>
                      <a:pPr>
                        <a:lnSpc>
                          <a:spcPct val="100000"/>
                        </a:lnSpc>
                      </a:pPr>
                      <a:r>
                        <a:rPr sz="1600" b="0" i="0">
                          <a:solidFill>
                            <a:srgbClr val="2E3A4A"/>
                          </a:solidFill>
                          <a:latin typeface="Montserrat"/>
                        </a:rPr>
                        <a:t>Entrevistas, escalas</a:t>
                      </a:r>
                    </a:p>
                  </a:txBody>
                  <a:tcPr marL="114300" marR="114300" marT="68580" marB="68580" anchor="ctr">
                    <a:solidFill>
                      <a:srgbClr val="FFFFFF"/>
                    </a:solidFill>
                  </a:tcPr>
                </a:tc>
                <a:tc>
                  <a:txBody>
                    <a:bodyPr wrap="square"/>
                    <a:lstStyle/>
                    <a:p>
                      <a:pPr>
                        <a:lnSpc>
                          <a:spcPct val="100000"/>
                        </a:lnSpc>
                      </a:pPr>
                      <a:r>
                        <a:rPr sz="1600" b="0" i="0">
                          <a:solidFill>
                            <a:srgbClr val="2E3A4A"/>
                          </a:solidFill>
                          <a:latin typeface="Montserrat"/>
                        </a:rPr>
                        <a:t>Depende do relato de outras pessoas</a:t>
                      </a:r>
                    </a:p>
                  </a:txBody>
                  <a:tcPr marL="114300" marR="114300" marT="68580" marB="68580" anchor="ctr">
                    <a:solidFill>
                      <a:srgbClr val="FFFFFF"/>
                    </a:solidFill>
                  </a:tcPr>
                </a:tc>
              </a:tr>
              <a:tr h="476250">
                <a:tc>
                  <a:txBody>
                    <a:bodyPr wrap="square"/>
                    <a:lstStyle/>
                    <a:p>
                      <a:pPr>
                        <a:lnSpc>
                          <a:spcPct val="100000"/>
                        </a:lnSpc>
                      </a:pPr>
                      <a:r>
                        <a:rPr sz="1600" b="1" i="0">
                          <a:solidFill>
                            <a:srgbClr val="2E3A4A"/>
                          </a:solidFill>
                          <a:latin typeface="Montserrat"/>
                        </a:rPr>
                        <a:t>Descritiva</a:t>
                      </a:r>
                    </a:p>
                  </a:txBody>
                  <a:tcPr marL="114300" marR="114300" marT="68580" marB="68580" anchor="ctr">
                    <a:solidFill>
                      <a:srgbClr val="F1F4F6"/>
                    </a:solidFill>
                  </a:tcPr>
                </a:tc>
                <a:tc>
                  <a:txBody>
                    <a:bodyPr wrap="square"/>
                    <a:lstStyle/>
                    <a:p>
                      <a:pPr>
                        <a:lnSpc>
                          <a:spcPct val="100000"/>
                        </a:lnSpc>
                      </a:pPr>
                      <a:r>
                        <a:rPr sz="1600" b="0" i="0">
                          <a:solidFill>
                            <a:srgbClr val="2E3A4A"/>
                          </a:solidFill>
                          <a:latin typeface="Montserrat"/>
                        </a:rPr>
                        <a:t>Observação direta A–B–C</a:t>
                      </a:r>
                    </a:p>
                  </a:txBody>
                  <a:tcPr marL="114300" marR="114300" marT="68580" marB="68580" anchor="ctr">
                    <a:solidFill>
                      <a:srgbClr val="F1F4F6"/>
                    </a:solidFill>
                  </a:tcPr>
                </a:tc>
                <a:tc>
                  <a:txBody>
                    <a:bodyPr wrap="square"/>
                    <a:lstStyle/>
                    <a:p>
                      <a:pPr>
                        <a:lnSpc>
                          <a:spcPct val="100000"/>
                        </a:lnSpc>
                      </a:pPr>
                      <a:r>
                        <a:rPr sz="1600" b="0" i="0">
                          <a:solidFill>
                            <a:srgbClr val="2E3A4A"/>
                          </a:solidFill>
                          <a:latin typeface="Montserrat"/>
                        </a:rPr>
                        <a:t>Mostra associação, não causa</a:t>
                      </a:r>
                    </a:p>
                  </a:txBody>
                  <a:tcPr marL="114300" marR="114300" marT="68580" marB="68580" anchor="ctr">
                    <a:solidFill>
                      <a:srgbClr val="F1F4F6"/>
                    </a:solidFill>
                  </a:tcPr>
                </a:tc>
              </a:tr>
              <a:tr h="723900">
                <a:tc>
                  <a:txBody>
                    <a:bodyPr wrap="square"/>
                    <a:lstStyle/>
                    <a:p>
                      <a:pPr>
                        <a:lnSpc>
                          <a:spcPct val="100000"/>
                        </a:lnSpc>
                      </a:pPr>
                      <a:r>
                        <a:rPr sz="1600" b="1" i="0">
                          <a:solidFill>
                            <a:srgbClr val="2E3A4A"/>
                          </a:solidFill>
                          <a:latin typeface="Montserrat"/>
                        </a:rPr>
                        <a:t>Análise funcional</a:t>
                      </a:r>
                    </a:p>
                  </a:txBody>
                  <a:tcPr marL="114300" marR="114300" marT="68580" marB="68580" anchor="ctr">
                    <a:solidFill>
                      <a:srgbClr val="FFFFFF"/>
                    </a:solidFill>
                  </a:tcPr>
                </a:tc>
                <a:tc>
                  <a:txBody>
                    <a:bodyPr wrap="square"/>
                    <a:lstStyle/>
                    <a:p>
                      <a:pPr>
                        <a:lnSpc>
                          <a:spcPct val="100000"/>
                        </a:lnSpc>
                      </a:pPr>
                      <a:r>
                        <a:rPr sz="1600" b="0" i="0">
                          <a:solidFill>
                            <a:srgbClr val="2E3A4A"/>
                          </a:solidFill>
                          <a:latin typeface="Montserrat"/>
                        </a:rPr>
                        <a:t>Teste sistemático de condições</a:t>
                      </a:r>
                    </a:p>
                  </a:txBody>
                  <a:tcPr marL="114300" marR="114300" marT="68580" marB="68580" anchor="ctr">
                    <a:solidFill>
                      <a:srgbClr val="FFFFFF"/>
                    </a:solidFill>
                  </a:tcPr>
                </a:tc>
                <a:tc>
                  <a:txBody>
                    <a:bodyPr wrap="square"/>
                    <a:lstStyle/>
                    <a:p>
                      <a:pPr>
                        <a:lnSpc>
                          <a:spcPct val="100000"/>
                        </a:lnSpc>
                      </a:pPr>
                      <a:r>
                        <a:rPr sz="1600" b="0" i="0">
                          <a:solidFill>
                            <a:srgbClr val="2E3A4A"/>
                          </a:solidFill>
                          <a:latin typeface="Montserrat"/>
                        </a:rPr>
                        <a:t>Exige profissional qualificado, supervisão e segurança</a:t>
                      </a:r>
                    </a:p>
                  </a:txBody>
                  <a:tcPr marL="114300" marR="114300" marT="68580" marB="68580" anchor="ctr">
                    <a:solidFill>
                      <a:srgbClr val="FFFFFF"/>
                    </a:solidFill>
                  </a:tcPr>
                </a:tc>
              </a:tr>
            </a:tbl>
          </a:graphicData>
        </a:graphic>
      </p:graphicFrame>
      <p:sp>
        <p:nvSpPr>
          <p:cNvPr id="5" name="TextBox 4"/>
          <p:cNvSpPr txBox="1"/>
          <p:nvPr/>
        </p:nvSpPr>
        <p:spPr>
          <a:xfrm>
            <a:off x="1168400" y="6343650"/>
            <a:ext cx="9156700" cy="184150"/>
          </a:xfrm>
          <a:prstGeom prst="rect">
            <a:avLst/>
          </a:prstGeom>
          <a:noFill/>
        </p:spPr>
        <p:txBody>
          <a:bodyPr wrap="square" lIns="0" rIns="0" tIns="0" bIns="0" anchor="t">
            <a:noAutofit/>
          </a:bodyPr>
          <a:lstStyle/>
          <a:p>
            <a:pPr algn="l">
              <a:lnSpc>
                <a:spcPct val="98000"/>
              </a:lnSpc>
            </a:pPr>
            <a:r>
              <a:rPr sz="1200" b="0" i="0">
                <a:solidFill>
                  <a:srgbClr val="66717F"/>
                </a:solidFill>
                <a:latin typeface="Montserrat"/>
              </a:rPr>
              <a:t>Hanley, Iwata &amp; McCord (2003); Hanley (2012); BACB (2020)</a:t>
            </a:r>
          </a:p>
        </p:txBody>
      </p:sp>
      <p:sp>
        <p:nvSpPr>
          <p:cNvPr id="6" name="TextBox 5"/>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66717F"/>
                </a:solidFill>
                <a:latin typeface="Montserrat"/>
              </a:rPr>
              <a:t>28</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77800" cy="6858000"/>
          </a:xfrm>
          <a:prstGeom prst="rect">
            <a:avLst/>
          </a:prstGeom>
          <a:solidFill>
            <a:srgbClr val="0F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1898948"/>
            <a:ext cx="10307828" cy="481905"/>
          </a:xfrm>
          <a:prstGeom prst="rect">
            <a:avLst/>
          </a:prstGeom>
          <a:noFill/>
        </p:spPr>
        <p:txBody>
          <a:bodyPr wrap="square" lIns="0" rIns="0" tIns="0" bIns="0" anchor="t">
            <a:noAutofit/>
          </a:bodyPr>
          <a:lstStyle/>
          <a:p>
            <a:pPr algn="l">
              <a:lnSpc>
                <a:spcPct val="94000"/>
              </a:lnSpc>
            </a:pPr>
            <a:r>
              <a:rPr sz="3300" b="1" i="0">
                <a:solidFill>
                  <a:srgbClr val="1B2F4B"/>
                </a:solidFill>
                <a:latin typeface="Montserrat"/>
              </a:rPr>
              <a:t>Prevenir é mudar o contexto, não só reagir</a:t>
            </a:r>
          </a:p>
        </p:txBody>
      </p:sp>
      <p:sp>
        <p:nvSpPr>
          <p:cNvPr id="4" name="TextBox 3"/>
          <p:cNvSpPr txBox="1"/>
          <p:nvPr/>
        </p:nvSpPr>
        <p:spPr>
          <a:xfrm>
            <a:off x="1168400" y="2634853"/>
            <a:ext cx="10307828" cy="355600"/>
          </a:xfrm>
          <a:prstGeom prst="rect">
            <a:avLst/>
          </a:prstGeom>
          <a:noFill/>
        </p:spPr>
        <p:txBody>
          <a:bodyPr wrap="square" lIns="0" rIns="0" tIns="0" bIns="0" anchor="t">
            <a:noAutofit/>
          </a:bodyPr>
          <a:lstStyle/>
          <a:p>
            <a:pPr algn="l">
              <a:lnSpc>
                <a:spcPct val="115000"/>
              </a:lnSpc>
            </a:pPr>
            <a:r>
              <a:rPr sz="2000" b="0" i="0">
                <a:solidFill>
                  <a:srgbClr val="2E3A4A"/>
                </a:solidFill>
                <a:latin typeface="Montserrat"/>
              </a:rPr>
              <a:t>Estratégias antecedentes, escolhidas a partir da hipótese:</a:t>
            </a:r>
          </a:p>
        </p:txBody>
      </p:sp>
      <p:sp>
        <p:nvSpPr>
          <p:cNvPr id="5" name="TextBox 4"/>
          <p:cNvSpPr txBox="1"/>
          <p:nvPr/>
        </p:nvSpPr>
        <p:spPr>
          <a:xfrm>
            <a:off x="1168400" y="3244453"/>
            <a:ext cx="10307828" cy="1524000"/>
          </a:xfrm>
          <a:prstGeom prst="rect">
            <a:avLst/>
          </a:prstGeom>
          <a:noFill/>
        </p:spPr>
        <p:txBody>
          <a:bodyPr wrap="square" lIns="0" rIns="0" tIns="0" bIns="0" anchor="t">
            <a:noAutofit/>
          </a:bodyPr>
          <a:lstStyle/>
          <a:p>
            <a:pPr algn="l" marL="279400" indent="-279400">
              <a:lnSpc>
                <a:spcPct val="123000"/>
              </a:lnSpc>
              <a:buChar char="•"/>
            </a:pPr>
            <a:r>
              <a:rPr sz="2000" b="1" i="0">
                <a:solidFill>
                  <a:srgbClr val="2E3A4A"/>
                </a:solidFill>
                <a:latin typeface="Montserrat"/>
              </a:rPr>
              <a:t>Previsibilidade:</a:t>
            </a:r>
            <a:r>
              <a:rPr sz="2000" b="0" i="0">
                <a:solidFill>
                  <a:srgbClr val="2E3A4A"/>
                </a:solidFill>
                <a:latin typeface="Montserrat"/>
              </a:rPr>
              <a:t> aviso de transição, apoio visual</a:t>
            </a:r>
          </a:p>
          <a:p>
            <a:pPr algn="l" marL="279400" indent="-279400">
              <a:lnSpc>
                <a:spcPct val="123000"/>
              </a:lnSpc>
              <a:buChar char="•"/>
            </a:pPr>
            <a:r>
              <a:rPr sz="2000" b="1" i="0">
                <a:solidFill>
                  <a:srgbClr val="2E3A4A"/>
                </a:solidFill>
                <a:latin typeface="Montserrat"/>
              </a:rPr>
              <a:t>Ajuste da demanda:</a:t>
            </a:r>
            <a:r>
              <a:rPr sz="2000" b="0" i="0">
                <a:solidFill>
                  <a:srgbClr val="2E3A4A"/>
                </a:solidFill>
                <a:latin typeface="Montserrat"/>
              </a:rPr>
              <a:t> duração, dificuldade, interesse</a:t>
            </a:r>
          </a:p>
          <a:p>
            <a:pPr algn="l" marL="279400" indent="-279400">
              <a:lnSpc>
                <a:spcPct val="123000"/>
              </a:lnSpc>
              <a:buChar char="•"/>
            </a:pPr>
            <a:r>
              <a:rPr sz="2000" b="1" i="0">
                <a:solidFill>
                  <a:srgbClr val="2E3A4A"/>
                </a:solidFill>
                <a:latin typeface="Montserrat"/>
              </a:rPr>
              <a:t>Escolhas</a:t>
            </a:r>
            <a:r>
              <a:rPr sz="2000" b="0" i="0">
                <a:solidFill>
                  <a:srgbClr val="2E3A4A"/>
                </a:solidFill>
                <a:latin typeface="Montserrat"/>
              </a:rPr>
              <a:t> reais</a:t>
            </a:r>
          </a:p>
          <a:p>
            <a:pPr algn="l" marL="279400" indent="-279400">
              <a:lnSpc>
                <a:spcPct val="123000"/>
              </a:lnSpc>
              <a:buChar char="•"/>
            </a:pPr>
            <a:r>
              <a:rPr sz="2000" b="1" i="0">
                <a:solidFill>
                  <a:srgbClr val="2E3A4A"/>
                </a:solidFill>
                <a:latin typeface="Montserrat"/>
              </a:rPr>
              <a:t>Acesso planejado</a:t>
            </a:r>
            <a:r>
              <a:rPr sz="2000" b="0" i="0">
                <a:solidFill>
                  <a:srgbClr val="2E3A4A"/>
                </a:solidFill>
                <a:latin typeface="Montserrat"/>
              </a:rPr>
              <a:t> a pausas e itens preferidos</a:t>
            </a:r>
          </a:p>
        </p:txBody>
      </p:sp>
      <p:sp>
        <p:nvSpPr>
          <p:cNvPr id="6" name="TextBox 5"/>
          <p:cNvSpPr txBox="1"/>
          <p:nvPr/>
        </p:nvSpPr>
        <p:spPr>
          <a:xfrm>
            <a:off x="1168400" y="6343650"/>
            <a:ext cx="9156700" cy="184150"/>
          </a:xfrm>
          <a:prstGeom prst="rect">
            <a:avLst/>
          </a:prstGeom>
          <a:noFill/>
        </p:spPr>
        <p:txBody>
          <a:bodyPr wrap="square" lIns="0" rIns="0" tIns="0" bIns="0" anchor="t">
            <a:noAutofit/>
          </a:bodyPr>
          <a:lstStyle/>
          <a:p>
            <a:pPr algn="l">
              <a:lnSpc>
                <a:spcPct val="98000"/>
              </a:lnSpc>
            </a:pPr>
            <a:r>
              <a:rPr sz="1200" b="0" i="0">
                <a:solidFill>
                  <a:srgbClr val="66717F"/>
                </a:solidFill>
                <a:latin typeface="Montserrat"/>
              </a:rPr>
              <a:t>Cooper, Heron &amp; Heward (2020); Laraway et al. (2003); Hume et al. (2021)</a:t>
            </a:r>
          </a:p>
        </p:txBody>
      </p:sp>
      <p:sp>
        <p:nvSpPr>
          <p:cNvPr id="7" name="TextBox 6"/>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66717F"/>
                </a:solidFill>
                <a:latin typeface="Montserrat"/>
              </a:rPr>
              <a:t>29</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77800" cy="6858000"/>
          </a:xfrm>
          <a:prstGeom prst="rect">
            <a:avLst/>
          </a:prstGeom>
          <a:solidFill>
            <a:srgbClr val="0F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1491754"/>
            <a:ext cx="10307828" cy="963811"/>
          </a:xfrm>
          <a:prstGeom prst="rect">
            <a:avLst/>
          </a:prstGeom>
          <a:noFill/>
        </p:spPr>
        <p:txBody>
          <a:bodyPr wrap="square" lIns="0" rIns="0" tIns="0" bIns="0" anchor="t">
            <a:noAutofit/>
          </a:bodyPr>
          <a:lstStyle/>
          <a:p>
            <a:pPr algn="l">
              <a:lnSpc>
                <a:spcPct val="94000"/>
              </a:lnSpc>
            </a:pPr>
            <a:r>
              <a:rPr sz="3300" b="1" i="0">
                <a:solidFill>
                  <a:srgbClr val="1B2F4B"/>
                </a:solidFill>
                <a:latin typeface="Montserrat"/>
              </a:rPr>
              <a:t>FCT: ensinar a pedir o que o comportamento conseguia</a:t>
            </a:r>
          </a:p>
        </p:txBody>
      </p:sp>
      <p:sp>
        <p:nvSpPr>
          <p:cNvPr id="4" name="TextBox 3"/>
          <p:cNvSpPr txBox="1"/>
          <p:nvPr/>
        </p:nvSpPr>
        <p:spPr>
          <a:xfrm>
            <a:off x="1168400" y="2709565"/>
            <a:ext cx="10307828" cy="1714500"/>
          </a:xfrm>
          <a:prstGeom prst="rect">
            <a:avLst/>
          </a:prstGeom>
          <a:noFill/>
        </p:spPr>
        <p:txBody>
          <a:bodyPr wrap="square" lIns="0" rIns="0" tIns="0" bIns="0" anchor="t">
            <a:noAutofit/>
          </a:bodyPr>
          <a:lstStyle/>
          <a:p>
            <a:pPr algn="l" marL="279400" indent="-279400">
              <a:lnSpc>
                <a:spcPct val="123000"/>
              </a:lnSpc>
              <a:buAutoNum type="arabicPeriod" startAt="1"/>
            </a:pPr>
            <a:r>
              <a:rPr sz="1800" b="0" i="0">
                <a:solidFill>
                  <a:srgbClr val="2E3A4A"/>
                </a:solidFill>
                <a:latin typeface="Montserrat"/>
              </a:rPr>
              <a:t>Identificar a função</a:t>
            </a:r>
          </a:p>
          <a:p>
            <a:pPr algn="l" marL="279400" indent="-279400">
              <a:lnSpc>
                <a:spcPct val="123000"/>
              </a:lnSpc>
              <a:buAutoNum type="arabicPeriod" startAt="1"/>
            </a:pPr>
            <a:r>
              <a:rPr sz="1800" b="0" i="0">
                <a:solidFill>
                  <a:srgbClr val="2E3A4A"/>
                </a:solidFill>
                <a:latin typeface="Montserrat"/>
              </a:rPr>
              <a:t>Ensinar uma forma de comunicação que produza a mesma consequência (“pausa”, “ajuda”, “mais”)</a:t>
            </a:r>
          </a:p>
          <a:p>
            <a:pPr algn="l" marL="279400" indent="-279400">
              <a:lnSpc>
                <a:spcPct val="123000"/>
              </a:lnSpc>
              <a:buAutoNum type="arabicPeriod" startAt="1"/>
            </a:pPr>
            <a:r>
              <a:rPr sz="1800" b="0" i="0">
                <a:solidFill>
                  <a:srgbClr val="2E3A4A"/>
                </a:solidFill>
                <a:latin typeface="Montserrat"/>
              </a:rPr>
              <a:t>Responder a essa comunicação de forma consistente</a:t>
            </a:r>
          </a:p>
          <a:p>
            <a:pPr algn="l" marL="279400" indent="-279400">
              <a:lnSpc>
                <a:spcPct val="123000"/>
              </a:lnSpc>
              <a:buAutoNum type="arabicPeriod" startAt="1"/>
            </a:pPr>
            <a:r>
              <a:rPr sz="1800" b="0" i="0">
                <a:solidFill>
                  <a:srgbClr val="2E3A4A"/>
                </a:solidFill>
                <a:latin typeface="Montserrat"/>
              </a:rPr>
              <a:t>Ensinar, aos poucos, a esperar e a tolerar um “agora não”</a:t>
            </a:r>
          </a:p>
        </p:txBody>
      </p:sp>
      <p:sp>
        <p:nvSpPr>
          <p:cNvPr id="5" name="TextBox 4"/>
          <p:cNvSpPr txBox="1"/>
          <p:nvPr/>
        </p:nvSpPr>
        <p:spPr>
          <a:xfrm>
            <a:off x="1168400" y="4678065"/>
            <a:ext cx="10307828" cy="497681"/>
          </a:xfrm>
          <a:prstGeom prst="rect">
            <a:avLst/>
          </a:prstGeom>
          <a:noFill/>
        </p:spPr>
        <p:txBody>
          <a:bodyPr wrap="square" lIns="0" rIns="0" tIns="0" bIns="0" anchor="t">
            <a:noAutofit/>
          </a:bodyPr>
          <a:lstStyle/>
          <a:p>
            <a:pPr algn="l">
              <a:lnSpc>
                <a:spcPct val="115000"/>
              </a:lnSpc>
            </a:pPr>
            <a:r>
              <a:rPr sz="1400" b="0" i="1">
                <a:solidFill>
                  <a:srgbClr val="66717F"/>
                </a:solidFill>
                <a:latin typeface="Montserrat"/>
              </a:rPr>
              <a:t>Exemplo fictício: se a hipótese é fuga da tarefa, ensinar a pedir “pausa”, por palavra, gesto, figura ou outro sistema de comunicação.</a:t>
            </a:r>
          </a:p>
        </p:txBody>
      </p:sp>
      <p:sp>
        <p:nvSpPr>
          <p:cNvPr id="6" name="TextBox 5"/>
          <p:cNvSpPr txBox="1"/>
          <p:nvPr/>
        </p:nvSpPr>
        <p:spPr>
          <a:xfrm>
            <a:off x="1168400" y="6343650"/>
            <a:ext cx="9156700" cy="184150"/>
          </a:xfrm>
          <a:prstGeom prst="rect">
            <a:avLst/>
          </a:prstGeom>
          <a:noFill/>
        </p:spPr>
        <p:txBody>
          <a:bodyPr wrap="square" lIns="0" rIns="0" tIns="0" bIns="0" anchor="t">
            <a:noAutofit/>
          </a:bodyPr>
          <a:lstStyle/>
          <a:p>
            <a:pPr algn="l">
              <a:lnSpc>
                <a:spcPct val="98000"/>
              </a:lnSpc>
            </a:pPr>
            <a:r>
              <a:rPr sz="1200" b="0" i="0">
                <a:solidFill>
                  <a:srgbClr val="66717F"/>
                </a:solidFill>
                <a:latin typeface="Montserrat"/>
              </a:rPr>
              <a:t>Carr &amp; Durand (1985); Tiger, Hanley &amp; Bruzek (2008); Hanley et al. (2014)</a:t>
            </a:r>
          </a:p>
        </p:txBody>
      </p:sp>
      <p:sp>
        <p:nvSpPr>
          <p:cNvPr id="7" name="TextBox 6"/>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66717F"/>
                </a:solidFill>
                <a:latin typeface="Montserrat"/>
              </a:rPr>
              <a:t>30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77800" cy="6858000"/>
          </a:xfrm>
          <a:prstGeom prst="rect">
            <a:avLst/>
          </a:prstGeom>
          <a:solidFill>
            <a:srgbClr val="0F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1752005"/>
            <a:ext cx="10307828" cy="963811"/>
          </a:xfrm>
          <a:prstGeom prst="rect">
            <a:avLst/>
          </a:prstGeom>
          <a:noFill/>
        </p:spPr>
        <p:txBody>
          <a:bodyPr wrap="square" lIns="0" rIns="0" tIns="0" bIns="0" anchor="t">
            <a:noAutofit/>
          </a:bodyPr>
          <a:lstStyle/>
          <a:p>
            <a:pPr algn="l">
              <a:lnSpc>
                <a:spcPct val="94000"/>
              </a:lnSpc>
            </a:pPr>
            <a:r>
              <a:rPr sz="3300" b="1" i="0">
                <a:solidFill>
                  <a:srgbClr val="1B2F4B"/>
                </a:solidFill>
                <a:latin typeface="Montserrat"/>
              </a:rPr>
              <a:t>Ensinar no contexto natural, a partir do interesse da criança</a:t>
            </a:r>
          </a:p>
        </p:txBody>
      </p:sp>
      <p:sp>
        <p:nvSpPr>
          <p:cNvPr id="4" name="TextBox 3"/>
          <p:cNvSpPr txBox="1"/>
          <p:nvPr/>
        </p:nvSpPr>
        <p:spPr>
          <a:xfrm>
            <a:off x="1168400" y="2969816"/>
            <a:ext cx="10307828" cy="319980"/>
          </a:xfrm>
          <a:prstGeom prst="rect">
            <a:avLst/>
          </a:prstGeom>
          <a:noFill/>
        </p:spPr>
        <p:txBody>
          <a:bodyPr wrap="square" lIns="0" rIns="0" tIns="0" bIns="0" anchor="t">
            <a:noAutofit/>
          </a:bodyPr>
          <a:lstStyle/>
          <a:p>
            <a:pPr algn="l">
              <a:lnSpc>
                <a:spcPct val="115000"/>
              </a:lnSpc>
            </a:pPr>
            <a:r>
              <a:rPr sz="1800" b="0" i="0">
                <a:solidFill>
                  <a:srgbClr val="2E3A4A"/>
                </a:solidFill>
                <a:latin typeface="Montserrat"/>
              </a:rPr>
              <a:t>Intervenções Naturalísticas Desenvolvimentais Comportamentais (NDBI):</a:t>
            </a:r>
          </a:p>
        </p:txBody>
      </p:sp>
      <p:sp>
        <p:nvSpPr>
          <p:cNvPr id="5" name="TextBox 4"/>
          <p:cNvSpPr txBox="1"/>
          <p:nvPr/>
        </p:nvSpPr>
        <p:spPr>
          <a:xfrm>
            <a:off x="1168400" y="3543796"/>
            <a:ext cx="10307828" cy="1371600"/>
          </a:xfrm>
          <a:prstGeom prst="rect">
            <a:avLst/>
          </a:prstGeom>
          <a:noFill/>
        </p:spPr>
        <p:txBody>
          <a:bodyPr wrap="square" lIns="0" rIns="0" tIns="0" bIns="0" anchor="t">
            <a:noAutofit/>
          </a:bodyPr>
          <a:lstStyle/>
          <a:p>
            <a:pPr algn="l" marL="279400" indent="-279400">
              <a:lnSpc>
                <a:spcPct val="123000"/>
              </a:lnSpc>
              <a:buChar char="•"/>
            </a:pPr>
            <a:r>
              <a:rPr sz="1800" b="0" i="0">
                <a:solidFill>
                  <a:srgbClr val="2E3A4A"/>
                </a:solidFill>
                <a:latin typeface="Montserrat"/>
              </a:rPr>
              <a:t>Contextos naturais, como o brincar e as rotinas</a:t>
            </a:r>
          </a:p>
          <a:p>
            <a:pPr algn="l" marL="279400" indent="-279400">
              <a:lnSpc>
                <a:spcPct val="123000"/>
              </a:lnSpc>
              <a:buChar char="•"/>
            </a:pPr>
            <a:r>
              <a:rPr sz="1800" b="0" i="0">
                <a:solidFill>
                  <a:srgbClr val="2E3A4A"/>
                </a:solidFill>
                <a:latin typeface="Montserrat"/>
              </a:rPr>
              <a:t>Controle compartilhado entre criança e adulto</a:t>
            </a:r>
          </a:p>
          <a:p>
            <a:pPr algn="l" marL="279400" indent="-279400">
              <a:lnSpc>
                <a:spcPct val="123000"/>
              </a:lnSpc>
              <a:buChar char="•"/>
            </a:pPr>
            <a:r>
              <a:rPr sz="1800" b="0" i="0">
                <a:solidFill>
                  <a:srgbClr val="2E3A4A"/>
                </a:solidFill>
                <a:latin typeface="Montserrat"/>
              </a:rPr>
              <a:t>Consequências naturais</a:t>
            </a:r>
          </a:p>
          <a:p>
            <a:pPr algn="l" marL="279400" indent="-279400">
              <a:lnSpc>
                <a:spcPct val="123000"/>
              </a:lnSpc>
              <a:buChar char="•"/>
            </a:pPr>
            <a:r>
              <a:rPr sz="1800" b="0" i="0">
                <a:solidFill>
                  <a:srgbClr val="2E3A4A"/>
                </a:solidFill>
                <a:latin typeface="Montserrat"/>
              </a:rPr>
              <a:t>Integração entre ciência comportamental e ciência do desenvolvimento</a:t>
            </a:r>
          </a:p>
        </p:txBody>
      </p:sp>
      <p:sp>
        <p:nvSpPr>
          <p:cNvPr id="6" name="TextBox 5"/>
          <p:cNvSpPr txBox="1"/>
          <p:nvPr/>
        </p:nvSpPr>
        <p:spPr>
          <a:xfrm>
            <a:off x="1168400" y="6343650"/>
            <a:ext cx="9156700" cy="184150"/>
          </a:xfrm>
          <a:prstGeom prst="rect">
            <a:avLst/>
          </a:prstGeom>
          <a:noFill/>
        </p:spPr>
        <p:txBody>
          <a:bodyPr wrap="square" lIns="0" rIns="0" tIns="0" bIns="0" anchor="t">
            <a:noAutofit/>
          </a:bodyPr>
          <a:lstStyle/>
          <a:p>
            <a:pPr algn="l">
              <a:lnSpc>
                <a:spcPct val="98000"/>
              </a:lnSpc>
            </a:pPr>
            <a:r>
              <a:rPr sz="1200" b="0" i="0">
                <a:solidFill>
                  <a:srgbClr val="66717F"/>
                </a:solidFill>
                <a:latin typeface="Montserrat"/>
              </a:rPr>
              <a:t>Schreibman et al. (2015); Sandbank et al. (2020)</a:t>
            </a:r>
          </a:p>
        </p:txBody>
      </p:sp>
      <p:sp>
        <p:nvSpPr>
          <p:cNvPr id="7" name="TextBox 6"/>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66717F"/>
                </a:solidFill>
                <a:latin typeface="Montserrat"/>
              </a:rPr>
              <a:t>31</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77800" cy="6858000"/>
          </a:xfrm>
          <a:prstGeom prst="rect">
            <a:avLst/>
          </a:prstGeom>
          <a:solidFill>
            <a:srgbClr val="0F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1721148"/>
            <a:ext cx="10307828" cy="481905"/>
          </a:xfrm>
          <a:prstGeom prst="rect">
            <a:avLst/>
          </a:prstGeom>
          <a:noFill/>
        </p:spPr>
        <p:txBody>
          <a:bodyPr wrap="square" lIns="0" rIns="0" tIns="0" bIns="0" anchor="t">
            <a:noAutofit/>
          </a:bodyPr>
          <a:lstStyle/>
          <a:p>
            <a:pPr algn="l">
              <a:lnSpc>
                <a:spcPct val="94000"/>
              </a:lnSpc>
            </a:pPr>
            <a:r>
              <a:rPr sz="3300" b="1" i="0">
                <a:solidFill>
                  <a:srgbClr val="1B2F4B"/>
                </a:solidFill>
                <a:latin typeface="Montserrat"/>
              </a:rPr>
              <a:t>Generalização precisa ser planejada</a:t>
            </a:r>
          </a:p>
        </p:txBody>
      </p:sp>
      <p:sp>
        <p:nvSpPr>
          <p:cNvPr id="4" name="TextBox 3"/>
          <p:cNvSpPr txBox="1"/>
          <p:nvPr/>
        </p:nvSpPr>
        <p:spPr>
          <a:xfrm>
            <a:off x="1168400" y="2482453"/>
            <a:ext cx="10307828" cy="711200"/>
          </a:xfrm>
          <a:prstGeom prst="rect">
            <a:avLst/>
          </a:prstGeom>
          <a:noFill/>
        </p:spPr>
        <p:txBody>
          <a:bodyPr wrap="square" lIns="0" rIns="0" tIns="0" bIns="0" anchor="t">
            <a:noAutofit/>
          </a:bodyPr>
          <a:lstStyle/>
          <a:p>
            <a:pPr algn="l">
              <a:lnSpc>
                <a:spcPct val="115000"/>
              </a:lnSpc>
            </a:pPr>
            <a:r>
              <a:rPr sz="2000" b="0" i="0">
                <a:solidFill>
                  <a:srgbClr val="2E3A4A"/>
                </a:solidFill>
                <a:latin typeface="Montserrat"/>
              </a:rPr>
              <a:t>Aprender na clínica não garante usar em casa, na escola ou com outras pessoas.</a:t>
            </a:r>
          </a:p>
        </p:txBody>
      </p:sp>
      <p:sp>
        <p:nvSpPr>
          <p:cNvPr id="5" name="TextBox 4"/>
          <p:cNvSpPr txBox="1"/>
          <p:nvPr/>
        </p:nvSpPr>
        <p:spPr>
          <a:xfrm>
            <a:off x="1168400" y="3473053"/>
            <a:ext cx="10307828" cy="660400"/>
          </a:xfrm>
          <a:prstGeom prst="rect">
            <a:avLst/>
          </a:prstGeom>
          <a:noFill/>
        </p:spPr>
        <p:txBody>
          <a:bodyPr wrap="square" lIns="0" rIns="0" tIns="0" bIns="0" anchor="t">
            <a:noAutofit/>
          </a:bodyPr>
          <a:lstStyle/>
          <a:p>
            <a:pPr algn="l">
              <a:lnSpc>
                <a:spcPct val="107000"/>
              </a:lnSpc>
            </a:pPr>
            <a:r>
              <a:rPr sz="2000" b="1" i="0">
                <a:solidFill>
                  <a:srgbClr val="0F7C86"/>
                </a:solidFill>
                <a:latin typeface="Montserrat"/>
              </a:rPr>
              <a:t>Planejar desde o início: várias pessoas, lugares e materiais, com a família envolvida.</a:t>
            </a:r>
          </a:p>
        </p:txBody>
      </p:sp>
      <p:sp>
        <p:nvSpPr>
          <p:cNvPr id="6" name="TextBox 5"/>
          <p:cNvSpPr txBox="1"/>
          <p:nvPr/>
        </p:nvSpPr>
        <p:spPr>
          <a:xfrm>
            <a:off x="1168400" y="4412853"/>
            <a:ext cx="10307828" cy="533400"/>
          </a:xfrm>
          <a:prstGeom prst="rect">
            <a:avLst/>
          </a:prstGeom>
          <a:noFill/>
        </p:spPr>
        <p:txBody>
          <a:bodyPr wrap="square" lIns="0" rIns="0" tIns="0" bIns="0" anchor="t">
            <a:noAutofit/>
          </a:bodyPr>
          <a:lstStyle/>
          <a:p>
            <a:pPr algn="l">
              <a:lnSpc>
                <a:spcPct val="115000"/>
              </a:lnSpc>
            </a:pPr>
            <a:r>
              <a:rPr sz="1500" b="0" i="1">
                <a:solidFill>
                  <a:srgbClr val="66717F"/>
                </a:solidFill>
                <a:latin typeface="Montserrat"/>
              </a:rPr>
              <a:t>Exemplo fictício: a criança aprende a pedir “pausa” com a terapeuta, e o plano inclui ensinar a família a responder ao mesmo pedido em casa.</a:t>
            </a:r>
          </a:p>
        </p:txBody>
      </p:sp>
      <p:sp>
        <p:nvSpPr>
          <p:cNvPr id="7" name="TextBox 6"/>
          <p:cNvSpPr txBox="1"/>
          <p:nvPr/>
        </p:nvSpPr>
        <p:spPr>
          <a:xfrm>
            <a:off x="1168400" y="6343650"/>
            <a:ext cx="9156700" cy="184150"/>
          </a:xfrm>
          <a:prstGeom prst="rect">
            <a:avLst/>
          </a:prstGeom>
          <a:noFill/>
        </p:spPr>
        <p:txBody>
          <a:bodyPr wrap="square" lIns="0" rIns="0" tIns="0" bIns="0" anchor="t">
            <a:noAutofit/>
          </a:bodyPr>
          <a:lstStyle/>
          <a:p>
            <a:pPr algn="l">
              <a:lnSpc>
                <a:spcPct val="98000"/>
              </a:lnSpc>
            </a:pPr>
            <a:r>
              <a:rPr sz="1200" b="0" i="0">
                <a:solidFill>
                  <a:srgbClr val="66717F"/>
                </a:solidFill>
                <a:latin typeface="Montserrat"/>
              </a:rPr>
              <a:t>Stokes &amp; Baer (1977)</a:t>
            </a:r>
          </a:p>
        </p:txBody>
      </p:sp>
      <p:sp>
        <p:nvSpPr>
          <p:cNvPr id="8" name="TextBox 7"/>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66717F"/>
                </a:solidFill>
                <a:latin typeface="Montserrat"/>
              </a:rPr>
              <a:t>32</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77800" cy="6858000"/>
          </a:xfrm>
          <a:prstGeom prst="rect">
            <a:avLst/>
          </a:prstGeom>
          <a:solidFill>
            <a:srgbClr val="0F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2070398"/>
            <a:ext cx="10307828" cy="481905"/>
          </a:xfrm>
          <a:prstGeom prst="rect">
            <a:avLst/>
          </a:prstGeom>
          <a:noFill/>
        </p:spPr>
        <p:txBody>
          <a:bodyPr wrap="square" lIns="0" rIns="0" tIns="0" bIns="0" anchor="t">
            <a:noAutofit/>
          </a:bodyPr>
          <a:lstStyle/>
          <a:p>
            <a:pPr algn="l">
              <a:lnSpc>
                <a:spcPct val="94000"/>
              </a:lnSpc>
            </a:pPr>
            <a:r>
              <a:rPr sz="3300" b="1" i="0">
                <a:solidFill>
                  <a:srgbClr val="1B2F4B"/>
                </a:solidFill>
                <a:latin typeface="Montserrat"/>
              </a:rPr>
              <a:t>Decidir bem é decidir com ética</a:t>
            </a:r>
          </a:p>
        </p:txBody>
      </p:sp>
      <p:sp>
        <p:nvSpPr>
          <p:cNvPr id="4" name="TextBox 3"/>
          <p:cNvSpPr txBox="1"/>
          <p:nvPr/>
        </p:nvSpPr>
        <p:spPr>
          <a:xfrm>
            <a:off x="1168400" y="2882503"/>
            <a:ext cx="10307828" cy="1714500"/>
          </a:xfrm>
          <a:prstGeom prst="rect">
            <a:avLst/>
          </a:prstGeom>
          <a:noFill/>
        </p:spPr>
        <p:txBody>
          <a:bodyPr wrap="square" lIns="0" rIns="0" tIns="0" bIns="0" anchor="t">
            <a:noAutofit/>
          </a:bodyPr>
          <a:lstStyle/>
          <a:p>
            <a:pPr algn="l" marL="279400" indent="-279400">
              <a:lnSpc>
                <a:spcPct val="123000"/>
              </a:lnSpc>
              <a:buChar char="•"/>
            </a:pPr>
            <a:r>
              <a:rPr sz="1800" b="0" i="0">
                <a:solidFill>
                  <a:srgbClr val="2E3A4A"/>
                </a:solidFill>
                <a:latin typeface="Montserrat"/>
              </a:rPr>
              <a:t>Objetivos com sentido para a vida da pessoa, definidos com a família e com a pessoa</a:t>
            </a:r>
          </a:p>
          <a:p>
            <a:pPr algn="l" marL="279400" indent="-279400">
              <a:lnSpc>
                <a:spcPct val="123000"/>
              </a:lnSpc>
              <a:buChar char="•"/>
            </a:pPr>
            <a:r>
              <a:rPr sz="1800" b="1" i="0">
                <a:solidFill>
                  <a:srgbClr val="2E3A4A"/>
                </a:solidFill>
                <a:latin typeface="Montserrat"/>
              </a:rPr>
              <a:t>Assentimento:</a:t>
            </a:r>
            <a:r>
              <a:rPr sz="1800" b="0" i="0">
                <a:solidFill>
                  <a:srgbClr val="2E3A4A"/>
                </a:solidFill>
                <a:latin typeface="Montserrat"/>
              </a:rPr>
              <a:t> observar sinais de concordância e de recusa</a:t>
            </a:r>
          </a:p>
          <a:p>
            <a:pPr algn="l" marL="279400" indent="-279400">
              <a:lnSpc>
                <a:spcPct val="123000"/>
              </a:lnSpc>
              <a:buChar char="•"/>
            </a:pPr>
            <a:r>
              <a:rPr sz="1800" b="0" i="0">
                <a:solidFill>
                  <a:srgbClr val="2E3A4A"/>
                </a:solidFill>
                <a:latin typeface="Montserrat"/>
              </a:rPr>
              <a:t>Não ter como alvo características autistas inofensivas</a:t>
            </a:r>
          </a:p>
          <a:p>
            <a:pPr algn="l" marL="279400" indent="-279400">
              <a:lnSpc>
                <a:spcPct val="123000"/>
              </a:lnSpc>
              <a:buChar char="•"/>
            </a:pPr>
            <a:r>
              <a:rPr sz="1800" b="0" i="0">
                <a:solidFill>
                  <a:srgbClr val="2E3A4A"/>
                </a:solidFill>
                <a:latin typeface="Montserrat"/>
              </a:rPr>
              <a:t>Revisar por dados, incluindo possíveis efeitos adversos</a:t>
            </a:r>
          </a:p>
          <a:p>
            <a:pPr algn="l" marL="279400" indent="-279400">
              <a:lnSpc>
                <a:spcPct val="123000"/>
              </a:lnSpc>
              <a:buChar char="•"/>
            </a:pPr>
            <a:r>
              <a:rPr sz="1800" b="0" i="0">
                <a:solidFill>
                  <a:srgbClr val="2E3A4A"/>
                </a:solidFill>
                <a:latin typeface="Montserrat"/>
              </a:rPr>
              <a:t>Supervisão e limites de atuação</a:t>
            </a:r>
          </a:p>
        </p:txBody>
      </p:sp>
      <p:sp>
        <p:nvSpPr>
          <p:cNvPr id="5" name="TextBox 4"/>
          <p:cNvSpPr txBox="1"/>
          <p:nvPr/>
        </p:nvSpPr>
        <p:spPr>
          <a:xfrm>
            <a:off x="1168400" y="6343650"/>
            <a:ext cx="9156700" cy="184150"/>
          </a:xfrm>
          <a:prstGeom prst="rect">
            <a:avLst/>
          </a:prstGeom>
          <a:noFill/>
        </p:spPr>
        <p:txBody>
          <a:bodyPr wrap="square" lIns="0" rIns="0" tIns="0" bIns="0" anchor="t">
            <a:noAutofit/>
          </a:bodyPr>
          <a:lstStyle/>
          <a:p>
            <a:pPr algn="l">
              <a:lnSpc>
                <a:spcPct val="98000"/>
              </a:lnSpc>
            </a:pPr>
            <a:r>
              <a:rPr sz="1200" b="0" i="0">
                <a:solidFill>
                  <a:srgbClr val="66717F"/>
                </a:solidFill>
                <a:latin typeface="Montserrat"/>
              </a:rPr>
              <a:t>Breaux &amp; Smith (2023); Sandbank et al. (2023); CFP (2005); BACB (2020)</a:t>
            </a:r>
          </a:p>
        </p:txBody>
      </p:sp>
      <p:sp>
        <p:nvSpPr>
          <p:cNvPr id="6" name="TextBox 5"/>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66717F"/>
                </a:solidFill>
                <a:latin typeface="Montserrat"/>
              </a:rPr>
              <a:t>33</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EEF4F5"/>
        </a:solidFill>
        <a:effectLst/>
      </p:bgPr>
    </p:bg>
    <p:spTree>
      <p:nvGrpSpPr>
        <p:cNvPr id="1" name=""/>
        <p:cNvGrpSpPr/>
        <p:nvPr/>
      </p:nvGrpSpPr>
      <p:grpSpPr/>
      <p:sp>
        <p:nvSpPr>
          <p:cNvPr id="2" name="Rectangle 1"/>
          <p:cNvSpPr/>
          <p:nvPr/>
        </p:nvSpPr>
        <p:spPr>
          <a:xfrm>
            <a:off x="0" y="0"/>
            <a:ext cx="177800" cy="6858000"/>
          </a:xfrm>
          <a:prstGeom prst="rect">
            <a:avLst/>
          </a:prstGeom>
          <a:solidFill>
            <a:srgbClr val="0F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1806377"/>
            <a:ext cx="10307828" cy="481905"/>
          </a:xfrm>
          <a:prstGeom prst="rect">
            <a:avLst/>
          </a:prstGeom>
          <a:noFill/>
        </p:spPr>
        <p:txBody>
          <a:bodyPr wrap="square" lIns="0" rIns="0" tIns="0" bIns="0" anchor="t">
            <a:noAutofit/>
          </a:bodyPr>
          <a:lstStyle/>
          <a:p>
            <a:pPr algn="l">
              <a:lnSpc>
                <a:spcPct val="94000"/>
              </a:lnSpc>
            </a:pPr>
            <a:r>
              <a:rPr sz="3300" b="1" i="0">
                <a:solidFill>
                  <a:srgbClr val="1B2F4B"/>
                </a:solidFill>
                <a:latin typeface="Montserrat"/>
              </a:rPr>
              <a:t>Atividade em grupos (10 min)</a:t>
            </a:r>
          </a:p>
        </p:txBody>
      </p:sp>
      <p:sp>
        <p:nvSpPr>
          <p:cNvPr id="4" name="TextBox 3"/>
          <p:cNvSpPr txBox="1"/>
          <p:nvPr/>
        </p:nvSpPr>
        <p:spPr>
          <a:xfrm>
            <a:off x="1168400" y="2567682"/>
            <a:ext cx="4839970" cy="319980"/>
          </a:xfrm>
          <a:prstGeom prst="rect">
            <a:avLst/>
          </a:prstGeom>
          <a:noFill/>
        </p:spPr>
        <p:txBody>
          <a:bodyPr wrap="square" lIns="0" rIns="0" tIns="0" bIns="0" anchor="t">
            <a:noAutofit/>
          </a:bodyPr>
          <a:lstStyle/>
          <a:p>
            <a:pPr algn="l">
              <a:lnSpc>
                <a:spcPct val="98000"/>
              </a:lnSpc>
            </a:pPr>
            <a:r>
              <a:rPr sz="2100" b="1" i="0">
                <a:solidFill>
                  <a:srgbClr val="0F7C86"/>
                </a:solidFill>
                <a:latin typeface="Montserrat"/>
              </a:rPr>
              <a:t>Todos os grupos</a:t>
            </a:r>
          </a:p>
        </p:txBody>
      </p:sp>
      <p:sp>
        <p:nvSpPr>
          <p:cNvPr id="5" name="TextBox 4"/>
          <p:cNvSpPr txBox="1"/>
          <p:nvPr/>
        </p:nvSpPr>
        <p:spPr>
          <a:xfrm>
            <a:off x="1168400" y="2976562"/>
            <a:ext cx="4839970" cy="337741"/>
          </a:xfrm>
          <a:prstGeom prst="rect">
            <a:avLst/>
          </a:prstGeom>
          <a:noFill/>
        </p:spPr>
        <p:txBody>
          <a:bodyPr wrap="square" lIns="0" rIns="0" tIns="0" bIns="0" anchor="t">
            <a:noAutofit/>
          </a:bodyPr>
          <a:lstStyle/>
          <a:p>
            <a:pPr algn="l">
              <a:lnSpc>
                <a:spcPct val="115000"/>
              </a:lnSpc>
            </a:pPr>
            <a:r>
              <a:rPr sz="1900" b="0" i="0">
                <a:solidFill>
                  <a:srgbClr val="2E3A4A"/>
                </a:solidFill>
                <a:latin typeface="Montserrat"/>
              </a:rPr>
              <a:t>Perguntas 1 a 4</a:t>
            </a:r>
          </a:p>
        </p:txBody>
      </p:sp>
      <p:sp>
        <p:nvSpPr>
          <p:cNvPr id="6" name="TextBox 5"/>
          <p:cNvSpPr txBox="1"/>
          <p:nvPr/>
        </p:nvSpPr>
        <p:spPr>
          <a:xfrm>
            <a:off x="6477000" y="2567682"/>
            <a:ext cx="4839970" cy="319980"/>
          </a:xfrm>
          <a:prstGeom prst="rect">
            <a:avLst/>
          </a:prstGeom>
          <a:noFill/>
        </p:spPr>
        <p:txBody>
          <a:bodyPr wrap="square" lIns="0" rIns="0" tIns="0" bIns="0" anchor="t">
            <a:noAutofit/>
          </a:bodyPr>
          <a:lstStyle/>
          <a:p>
            <a:pPr algn="l">
              <a:lnSpc>
                <a:spcPct val="98000"/>
              </a:lnSpc>
            </a:pPr>
            <a:r>
              <a:rPr sz="2100" b="1" i="0">
                <a:solidFill>
                  <a:srgbClr val="0F7C86"/>
                </a:solidFill>
                <a:latin typeface="Montserrat"/>
              </a:rPr>
              <a:t>Cada grupo, mais uma</a:t>
            </a:r>
          </a:p>
        </p:txBody>
      </p:sp>
      <p:sp>
        <p:nvSpPr>
          <p:cNvPr id="7" name="TextBox 6"/>
          <p:cNvSpPr txBox="1"/>
          <p:nvPr/>
        </p:nvSpPr>
        <p:spPr>
          <a:xfrm>
            <a:off x="6477000" y="2976562"/>
            <a:ext cx="4839970" cy="675481"/>
          </a:xfrm>
          <a:prstGeom prst="rect">
            <a:avLst/>
          </a:prstGeom>
          <a:noFill/>
        </p:spPr>
        <p:txBody>
          <a:bodyPr wrap="square" lIns="0" rIns="0" tIns="0" bIns="0" anchor="t">
            <a:noAutofit/>
          </a:bodyPr>
          <a:lstStyle/>
          <a:p>
            <a:pPr algn="l">
              <a:lnSpc>
                <a:spcPct val="115000"/>
              </a:lnSpc>
            </a:pPr>
            <a:r>
              <a:rPr sz="1900" b="0" i="0">
                <a:solidFill>
                  <a:srgbClr val="2E3A4A"/>
                </a:solidFill>
                <a:latin typeface="Montserrat"/>
              </a:rPr>
              <a:t>Grupos 1, 3, 5…: pergunta 5. Grupos 2, 4, 6…: pergunta 6.</a:t>
            </a:r>
          </a:p>
        </p:txBody>
      </p:sp>
      <p:sp>
        <p:nvSpPr>
          <p:cNvPr id="8" name="TextBox 7"/>
          <p:cNvSpPr txBox="1"/>
          <p:nvPr/>
        </p:nvSpPr>
        <p:spPr>
          <a:xfrm>
            <a:off x="1168400" y="3931444"/>
            <a:ext cx="10307828" cy="319980"/>
          </a:xfrm>
          <a:prstGeom prst="rect">
            <a:avLst/>
          </a:prstGeom>
          <a:noFill/>
        </p:spPr>
        <p:txBody>
          <a:bodyPr wrap="square" lIns="0" rIns="0" tIns="0" bIns="0" anchor="t">
            <a:noAutofit/>
          </a:bodyPr>
          <a:lstStyle/>
          <a:p>
            <a:pPr algn="l">
              <a:lnSpc>
                <a:spcPct val="115000"/>
              </a:lnSpc>
            </a:pPr>
            <a:r>
              <a:rPr sz="1800" b="0" i="0">
                <a:solidFill>
                  <a:srgbClr val="2E3A4A"/>
                </a:solidFill>
                <a:latin typeface="Montserrat"/>
              </a:rPr>
              <a:t>Escolham quem anota e quem apresenta.</a:t>
            </a:r>
          </a:p>
        </p:txBody>
      </p:sp>
      <p:sp>
        <p:nvSpPr>
          <p:cNvPr id="9" name="TextBox 8"/>
          <p:cNvSpPr txBox="1"/>
          <p:nvPr/>
        </p:nvSpPr>
        <p:spPr>
          <a:xfrm>
            <a:off x="1168400" y="4530824"/>
            <a:ext cx="10307828" cy="330200"/>
          </a:xfrm>
          <a:prstGeom prst="rect">
            <a:avLst/>
          </a:prstGeom>
          <a:noFill/>
        </p:spPr>
        <p:txBody>
          <a:bodyPr wrap="square" lIns="0" rIns="0" tIns="0" bIns="0" anchor="t">
            <a:noAutofit/>
          </a:bodyPr>
          <a:lstStyle/>
          <a:p>
            <a:pPr algn="l">
              <a:lnSpc>
                <a:spcPct val="107000"/>
              </a:lnSpc>
            </a:pPr>
            <a:r>
              <a:rPr sz="2000" b="1" i="0">
                <a:solidFill>
                  <a:srgbClr val="0F7C86"/>
                </a:solidFill>
                <a:latin typeface="Montserrat"/>
              </a:rPr>
              <a:t>A história permite levantar hipóteses, não concluir a função.</a:t>
            </a:r>
          </a:p>
        </p:txBody>
      </p:sp>
      <p:sp>
        <p:nvSpPr>
          <p:cNvPr id="10" name="TextBox 9"/>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66717F"/>
                </a:solidFill>
                <a:latin typeface="Montserrat"/>
              </a:rPr>
              <a:t>34</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EEF4F5"/>
        </a:solidFill>
        <a:effectLst/>
      </p:bgPr>
    </p:bg>
    <p:spTree>
      <p:nvGrpSpPr>
        <p:cNvPr id="1" name=""/>
        <p:cNvGrpSpPr/>
        <p:nvPr/>
      </p:nvGrpSpPr>
      <p:grpSpPr/>
      <p:sp>
        <p:nvSpPr>
          <p:cNvPr id="2" name="Rectangle 1"/>
          <p:cNvSpPr/>
          <p:nvPr/>
        </p:nvSpPr>
        <p:spPr>
          <a:xfrm>
            <a:off x="0" y="0"/>
            <a:ext cx="177800" cy="6858000"/>
          </a:xfrm>
          <a:prstGeom prst="rect">
            <a:avLst/>
          </a:prstGeom>
          <a:solidFill>
            <a:srgbClr val="0F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1105892"/>
            <a:ext cx="10569448" cy="452735"/>
          </a:xfrm>
          <a:prstGeom prst="rect">
            <a:avLst/>
          </a:prstGeom>
          <a:noFill/>
        </p:spPr>
        <p:txBody>
          <a:bodyPr wrap="square" lIns="0" rIns="0" tIns="0" bIns="0" anchor="t">
            <a:noAutofit/>
          </a:bodyPr>
          <a:lstStyle/>
          <a:p>
            <a:pPr algn="l">
              <a:lnSpc>
                <a:spcPct val="94000"/>
              </a:lnSpc>
            </a:pPr>
            <a:r>
              <a:rPr sz="3100" b="1" i="0">
                <a:solidFill>
                  <a:srgbClr val="1B2F4B"/>
                </a:solidFill>
                <a:latin typeface="Montserrat"/>
              </a:rPr>
              <a:t>Vídeo: Theo, uma sessão</a:t>
            </a:r>
          </a:p>
        </p:txBody>
      </p:sp>
      <p:sp>
        <p:nvSpPr>
          <p:cNvPr id="4" name="TextBox 3"/>
          <p:cNvSpPr txBox="1"/>
          <p:nvPr/>
        </p:nvSpPr>
        <p:spPr>
          <a:xfrm>
            <a:off x="1168400" y="2407642"/>
            <a:ext cx="4133596" cy="302220"/>
          </a:xfrm>
          <a:prstGeom prst="rect">
            <a:avLst/>
          </a:prstGeom>
          <a:noFill/>
        </p:spPr>
        <p:txBody>
          <a:bodyPr wrap="square" lIns="0" rIns="0" tIns="0" bIns="0" anchor="t">
            <a:noAutofit/>
          </a:bodyPr>
          <a:lstStyle/>
          <a:p>
            <a:pPr algn="l">
              <a:lnSpc>
                <a:spcPct val="115000"/>
              </a:lnSpc>
            </a:pPr>
            <a:r>
              <a:rPr sz="1700" b="0" i="0">
                <a:solidFill>
                  <a:srgbClr val="2E3A4A"/>
                </a:solidFill>
                <a:latin typeface="Montserrat"/>
              </a:rPr>
              <a:t>Enquanto assistem, observem:</a:t>
            </a:r>
          </a:p>
        </p:txBody>
      </p:sp>
      <p:sp>
        <p:nvSpPr>
          <p:cNvPr id="5" name="TextBox 4"/>
          <p:cNvSpPr txBox="1"/>
          <p:nvPr/>
        </p:nvSpPr>
        <p:spPr>
          <a:xfrm>
            <a:off x="1168400" y="2862262"/>
            <a:ext cx="4133596" cy="1619250"/>
          </a:xfrm>
          <a:prstGeom prst="rect">
            <a:avLst/>
          </a:prstGeom>
          <a:noFill/>
        </p:spPr>
        <p:txBody>
          <a:bodyPr wrap="square" lIns="0" rIns="0" tIns="0" bIns="0" anchor="t">
            <a:noAutofit/>
          </a:bodyPr>
          <a:lstStyle/>
          <a:p>
            <a:pPr algn="l" marL="279400" indent="-279400">
              <a:lnSpc>
                <a:spcPct val="123000"/>
              </a:lnSpc>
              <a:buAutoNum type="arabicPeriod" startAt="1"/>
            </a:pPr>
            <a:r>
              <a:rPr sz="1700" b="0" i="0">
                <a:solidFill>
                  <a:srgbClr val="2E3A4A"/>
                </a:solidFill>
                <a:latin typeface="Montserrat"/>
              </a:rPr>
              <a:t>O que acontece imediatamente antes?</a:t>
            </a:r>
          </a:p>
          <a:p>
            <a:pPr algn="l" marL="279400" indent="-279400">
              <a:lnSpc>
                <a:spcPct val="123000"/>
              </a:lnSpc>
              <a:buAutoNum type="arabicPeriod" startAt="1"/>
            </a:pPr>
            <a:r>
              <a:rPr sz="1700" b="0" i="0">
                <a:solidFill>
                  <a:srgbClr val="2E3A4A"/>
                </a:solidFill>
                <a:latin typeface="Montserrat"/>
              </a:rPr>
              <a:t>O que exatamente ele faz?</a:t>
            </a:r>
          </a:p>
          <a:p>
            <a:pPr algn="l" marL="279400" indent="-279400">
              <a:lnSpc>
                <a:spcPct val="123000"/>
              </a:lnSpc>
              <a:buAutoNum type="arabicPeriod" startAt="1"/>
            </a:pPr>
            <a:r>
              <a:rPr sz="1700" b="0" i="0">
                <a:solidFill>
                  <a:srgbClr val="2E3A4A"/>
                </a:solidFill>
                <a:latin typeface="Montserrat"/>
              </a:rPr>
              <a:t>O que acontece imediatamente depois?</a:t>
            </a:r>
          </a:p>
        </p:txBody>
      </p:sp>
      <p:pic>
        <p:nvPicPr>
          <p:cNvPr id="6" name="Animação: Theo brinca com trilhos de trem; a terapeuta guarda os trilhos; ele grita e se joga no chão; ela devolve os trilhos">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537200" y="1787227"/>
            <a:ext cx="5892800" cy="3314700"/>
          </a:xfrm>
          <a:prstGeom prst="rect">
            <a:avLst/>
          </a:prstGeom>
        </p:spPr>
      </p:pic>
      <p:sp>
        <p:nvSpPr>
          <p:cNvPr id="7" name="TextBox 6"/>
          <p:cNvSpPr txBox="1"/>
          <p:nvPr/>
        </p:nvSpPr>
        <p:spPr>
          <a:xfrm>
            <a:off x="1168400" y="5330527"/>
            <a:ext cx="10569448" cy="231080"/>
          </a:xfrm>
          <a:prstGeom prst="rect">
            <a:avLst/>
          </a:prstGeom>
          <a:noFill/>
        </p:spPr>
        <p:txBody>
          <a:bodyPr wrap="square" lIns="0" rIns="0" tIns="0" bIns="0" anchor="t">
            <a:noAutofit/>
          </a:bodyPr>
          <a:lstStyle/>
          <a:p>
            <a:pPr algn="l">
              <a:lnSpc>
                <a:spcPct val="115000"/>
              </a:lnSpc>
            </a:pPr>
            <a:r>
              <a:rPr sz="1300" b="0" i="1">
                <a:solidFill>
                  <a:srgbClr val="66717F"/>
                </a:solidFill>
                <a:latin typeface="Montserrat"/>
              </a:rPr>
              <a:t>Animação, exemplo fictício. Não representa uma criança real. O vídeo mostra um episódio; o padrão está na vinheta a seguir.</a:t>
            </a:r>
          </a:p>
        </p:txBody>
      </p:sp>
      <p:sp>
        <p:nvSpPr>
          <p:cNvPr id="8" name="TextBox 7"/>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66717F"/>
                </a:solidFill>
                <a:latin typeface="Montserrat"/>
              </a:rPr>
              <a:t>34a</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6"/>
                </p:tgtEl>
              </p:cMediaNode>
            </p:video>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77800" cy="6858000"/>
          </a:xfrm>
          <a:prstGeom prst="rect">
            <a:avLst/>
          </a:prstGeom>
          <a:solidFill>
            <a:srgbClr val="0F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1474887"/>
            <a:ext cx="10307828" cy="481905"/>
          </a:xfrm>
          <a:prstGeom prst="rect">
            <a:avLst/>
          </a:prstGeom>
          <a:noFill/>
        </p:spPr>
        <p:txBody>
          <a:bodyPr wrap="square" lIns="0" rIns="0" tIns="0" bIns="0" anchor="t">
            <a:noAutofit/>
          </a:bodyPr>
          <a:lstStyle/>
          <a:p>
            <a:pPr algn="l">
              <a:lnSpc>
                <a:spcPct val="94000"/>
              </a:lnSpc>
            </a:pPr>
            <a:r>
              <a:rPr sz="3300" b="1" i="0">
                <a:solidFill>
                  <a:srgbClr val="1B2F4B"/>
                </a:solidFill>
                <a:latin typeface="Montserrat"/>
              </a:rPr>
              <a:t>Respostas do vídeo</a:t>
            </a:r>
          </a:p>
        </p:txBody>
      </p:sp>
      <p:sp>
        <p:nvSpPr>
          <p:cNvPr id="4" name="TextBox 3"/>
          <p:cNvSpPr txBox="1"/>
          <p:nvPr/>
        </p:nvSpPr>
        <p:spPr>
          <a:xfrm>
            <a:off x="1168400" y="2210792"/>
            <a:ext cx="3156915" cy="304800"/>
          </a:xfrm>
          <a:prstGeom prst="rect">
            <a:avLst/>
          </a:prstGeom>
          <a:noFill/>
        </p:spPr>
        <p:txBody>
          <a:bodyPr wrap="square" lIns="0" rIns="0" tIns="0" bIns="0" anchor="t">
            <a:noAutofit/>
          </a:bodyPr>
          <a:lstStyle/>
          <a:p>
            <a:pPr algn="l">
              <a:lnSpc>
                <a:spcPct val="98000"/>
              </a:lnSpc>
            </a:pPr>
            <a:r>
              <a:rPr sz="2000" b="1" i="0">
                <a:solidFill>
                  <a:srgbClr val="0F7C86"/>
                </a:solidFill>
                <a:latin typeface="Montserrat"/>
              </a:rPr>
              <a:t>Antes</a:t>
            </a:r>
          </a:p>
        </p:txBody>
      </p:sp>
      <p:sp>
        <p:nvSpPr>
          <p:cNvPr id="5" name="TextBox 4"/>
          <p:cNvSpPr txBox="1"/>
          <p:nvPr/>
        </p:nvSpPr>
        <p:spPr>
          <a:xfrm>
            <a:off x="1168400" y="2604492"/>
            <a:ext cx="3156915" cy="1208881"/>
          </a:xfrm>
          <a:prstGeom prst="rect">
            <a:avLst/>
          </a:prstGeom>
          <a:noFill/>
        </p:spPr>
        <p:txBody>
          <a:bodyPr wrap="square" lIns="0" rIns="0" tIns="0" bIns="0" anchor="t">
            <a:noAutofit/>
          </a:bodyPr>
          <a:lstStyle/>
          <a:p>
            <a:pPr algn="l">
              <a:lnSpc>
                <a:spcPct val="115000"/>
              </a:lnSpc>
            </a:pPr>
            <a:r>
              <a:rPr sz="1700" b="0" i="0">
                <a:solidFill>
                  <a:srgbClr val="2E3A4A"/>
                </a:solidFill>
                <a:latin typeface="Montserrat"/>
              </a:rPr>
              <a:t>A terapeuta guarda os trilhos e aponta a mesa: “Agora acabou. Vamos para a mesa.”</a:t>
            </a:r>
          </a:p>
        </p:txBody>
      </p:sp>
      <p:sp>
        <p:nvSpPr>
          <p:cNvPr id="6" name="TextBox 5"/>
          <p:cNvSpPr txBox="1"/>
          <p:nvPr/>
        </p:nvSpPr>
        <p:spPr>
          <a:xfrm>
            <a:off x="4639766" y="2210792"/>
            <a:ext cx="3156915" cy="304800"/>
          </a:xfrm>
          <a:prstGeom prst="rect">
            <a:avLst/>
          </a:prstGeom>
          <a:noFill/>
        </p:spPr>
        <p:txBody>
          <a:bodyPr wrap="square" lIns="0" rIns="0" tIns="0" bIns="0" anchor="t">
            <a:noAutofit/>
          </a:bodyPr>
          <a:lstStyle/>
          <a:p>
            <a:pPr algn="l">
              <a:lnSpc>
                <a:spcPct val="98000"/>
              </a:lnSpc>
            </a:pPr>
            <a:r>
              <a:rPr sz="2000" b="1" i="0">
                <a:solidFill>
                  <a:srgbClr val="0F7C86"/>
                </a:solidFill>
                <a:latin typeface="Montserrat"/>
              </a:rPr>
              <a:t>O que ele faz</a:t>
            </a:r>
          </a:p>
        </p:txBody>
      </p:sp>
      <p:sp>
        <p:nvSpPr>
          <p:cNvPr id="7" name="TextBox 6"/>
          <p:cNvSpPr txBox="1"/>
          <p:nvPr/>
        </p:nvSpPr>
        <p:spPr>
          <a:xfrm>
            <a:off x="4639766" y="2604492"/>
            <a:ext cx="3156915" cy="604441"/>
          </a:xfrm>
          <a:prstGeom prst="rect">
            <a:avLst/>
          </a:prstGeom>
          <a:noFill/>
        </p:spPr>
        <p:txBody>
          <a:bodyPr wrap="square" lIns="0" rIns="0" tIns="0" bIns="0" anchor="t">
            <a:noAutofit/>
          </a:bodyPr>
          <a:lstStyle/>
          <a:p>
            <a:pPr algn="l">
              <a:lnSpc>
                <a:spcPct val="115000"/>
              </a:lnSpc>
            </a:pPr>
            <a:r>
              <a:rPr sz="1700" b="0" i="0">
                <a:solidFill>
                  <a:srgbClr val="2E3A4A"/>
                </a:solidFill>
                <a:latin typeface="Montserrat"/>
              </a:rPr>
              <a:t>Grita, se joga no chão e chuta o ar.</a:t>
            </a:r>
          </a:p>
        </p:txBody>
      </p:sp>
      <p:sp>
        <p:nvSpPr>
          <p:cNvPr id="8" name="TextBox 7"/>
          <p:cNvSpPr txBox="1"/>
          <p:nvPr/>
        </p:nvSpPr>
        <p:spPr>
          <a:xfrm>
            <a:off x="8111133" y="2210792"/>
            <a:ext cx="3156915" cy="304800"/>
          </a:xfrm>
          <a:prstGeom prst="rect">
            <a:avLst/>
          </a:prstGeom>
          <a:noFill/>
        </p:spPr>
        <p:txBody>
          <a:bodyPr wrap="square" lIns="0" rIns="0" tIns="0" bIns="0" anchor="t">
            <a:noAutofit/>
          </a:bodyPr>
          <a:lstStyle/>
          <a:p>
            <a:pPr algn="l">
              <a:lnSpc>
                <a:spcPct val="98000"/>
              </a:lnSpc>
            </a:pPr>
            <a:r>
              <a:rPr sz="2000" b="1" i="0">
                <a:solidFill>
                  <a:srgbClr val="0F7C86"/>
                </a:solidFill>
                <a:latin typeface="Montserrat"/>
              </a:rPr>
              <a:t>Depois</a:t>
            </a:r>
          </a:p>
        </p:txBody>
      </p:sp>
      <p:sp>
        <p:nvSpPr>
          <p:cNvPr id="9" name="TextBox 8"/>
          <p:cNvSpPr txBox="1"/>
          <p:nvPr/>
        </p:nvSpPr>
        <p:spPr>
          <a:xfrm>
            <a:off x="8111133" y="2604492"/>
            <a:ext cx="3156915" cy="906661"/>
          </a:xfrm>
          <a:prstGeom prst="rect">
            <a:avLst/>
          </a:prstGeom>
          <a:noFill/>
        </p:spPr>
        <p:txBody>
          <a:bodyPr wrap="square" lIns="0" rIns="0" tIns="0" bIns="0" anchor="t">
            <a:noAutofit/>
          </a:bodyPr>
          <a:lstStyle/>
          <a:p>
            <a:pPr algn="l">
              <a:lnSpc>
                <a:spcPct val="115000"/>
              </a:lnSpc>
            </a:pPr>
            <a:r>
              <a:rPr sz="1700" b="0" i="0">
                <a:solidFill>
                  <a:srgbClr val="2E3A4A"/>
                </a:solidFill>
                <a:latin typeface="Montserrat"/>
              </a:rPr>
              <a:t>A terapeuta não sabe o que fazer e devolve os trilhos. Ele volta a brincar.</a:t>
            </a:r>
          </a:p>
        </p:txBody>
      </p:sp>
      <p:sp>
        <p:nvSpPr>
          <p:cNvPr id="10" name="TextBox 9"/>
          <p:cNvSpPr txBox="1"/>
          <p:nvPr/>
        </p:nvSpPr>
        <p:spPr>
          <a:xfrm>
            <a:off x="1168400" y="4067373"/>
            <a:ext cx="10307828" cy="604441"/>
          </a:xfrm>
          <a:prstGeom prst="rect">
            <a:avLst/>
          </a:prstGeom>
          <a:noFill/>
        </p:spPr>
        <p:txBody>
          <a:bodyPr wrap="square" lIns="0" rIns="0" tIns="0" bIns="0" anchor="t">
            <a:noAutofit/>
          </a:bodyPr>
          <a:lstStyle/>
          <a:p>
            <a:pPr algn="l">
              <a:lnSpc>
                <a:spcPct val="115000"/>
              </a:lnSpc>
            </a:pPr>
            <a:r>
              <a:rPr sz="1700" b="1" i="0">
                <a:solidFill>
                  <a:srgbClr val="2E3A4A"/>
                </a:solidFill>
                <a:latin typeface="Montserrat"/>
              </a:rPr>
              <a:t>E a terapeuta?</a:t>
            </a:r>
            <a:r>
              <a:rPr sz="1700" b="0" i="0">
                <a:solidFill>
                  <a:srgbClr val="2E3A4A"/>
                </a:solidFill>
                <a:latin typeface="Montserrat"/>
              </a:rPr>
              <a:t> Devolver os trilhos faz o grito parar e alivia quem está com ele. Esse alívio também pode reforçar o comportamento do adulto, e o ciclo continua.</a:t>
            </a:r>
          </a:p>
        </p:txBody>
      </p:sp>
      <p:sp>
        <p:nvSpPr>
          <p:cNvPr id="11" name="TextBox 10"/>
          <p:cNvSpPr txBox="1"/>
          <p:nvPr/>
        </p:nvSpPr>
        <p:spPr>
          <a:xfrm>
            <a:off x="1168400" y="4925814"/>
            <a:ext cx="10307828" cy="266700"/>
          </a:xfrm>
          <a:prstGeom prst="rect">
            <a:avLst/>
          </a:prstGeom>
          <a:noFill/>
        </p:spPr>
        <p:txBody>
          <a:bodyPr wrap="square" lIns="0" rIns="0" tIns="0" bIns="0" anchor="t">
            <a:noAutofit/>
          </a:bodyPr>
          <a:lstStyle/>
          <a:p>
            <a:pPr algn="l">
              <a:lnSpc>
                <a:spcPct val="115000"/>
              </a:lnSpc>
            </a:pPr>
            <a:r>
              <a:rPr sz="1500" b="0" i="1">
                <a:solidFill>
                  <a:srgbClr val="66717F"/>
                </a:solidFill>
                <a:latin typeface="Montserrat"/>
              </a:rPr>
              <a:t>Vocês viram um episódio. Os registros de quatro semanas, na vinheta, mudam essa leitura.</a:t>
            </a:r>
          </a:p>
        </p:txBody>
      </p:sp>
      <p:sp>
        <p:nvSpPr>
          <p:cNvPr id="12" name="TextBox 11"/>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66717F"/>
                </a:solidFill>
                <a:latin typeface="Montserrat"/>
              </a:rPr>
              <a:t>34b</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77800" cy="6858000"/>
          </a:xfrm>
          <a:prstGeom prst="rect">
            <a:avLst/>
          </a:prstGeom>
          <a:solidFill>
            <a:srgbClr val="0F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1532037"/>
            <a:ext cx="10307828" cy="423466"/>
          </a:xfrm>
          <a:prstGeom prst="rect">
            <a:avLst/>
          </a:prstGeom>
          <a:noFill/>
        </p:spPr>
        <p:txBody>
          <a:bodyPr wrap="square" lIns="0" rIns="0" tIns="0" bIns="0" anchor="t">
            <a:noAutofit/>
          </a:bodyPr>
          <a:lstStyle/>
          <a:p>
            <a:pPr algn="l">
              <a:lnSpc>
                <a:spcPct val="94000"/>
              </a:lnSpc>
            </a:pPr>
            <a:r>
              <a:rPr sz="2900" b="1" i="0">
                <a:solidFill>
                  <a:srgbClr val="1B2F4B"/>
                </a:solidFill>
                <a:latin typeface="Montserrat"/>
              </a:rPr>
              <a:t>Vinheta: Theo</a:t>
            </a:r>
          </a:p>
        </p:txBody>
      </p:sp>
      <p:sp>
        <p:nvSpPr>
          <p:cNvPr id="4" name="TextBox 3"/>
          <p:cNvSpPr txBox="1"/>
          <p:nvPr/>
        </p:nvSpPr>
        <p:spPr>
          <a:xfrm>
            <a:off x="1168400" y="2146002"/>
            <a:ext cx="10307828" cy="853380"/>
          </a:xfrm>
          <a:prstGeom prst="rect">
            <a:avLst/>
          </a:prstGeom>
          <a:noFill/>
        </p:spPr>
        <p:txBody>
          <a:bodyPr wrap="square" lIns="0" rIns="0" tIns="0" bIns="0" anchor="t">
            <a:noAutofit/>
          </a:bodyPr>
          <a:lstStyle/>
          <a:p>
            <a:pPr algn="l">
              <a:lnSpc>
                <a:spcPct val="115000"/>
              </a:lnSpc>
            </a:pPr>
            <a:r>
              <a:rPr sz="1600" b="0" i="0">
                <a:solidFill>
                  <a:srgbClr val="2E3A4A"/>
                </a:solidFill>
                <a:latin typeface="Montserrat"/>
              </a:rPr>
              <a:t>Theo tem 6 anos e é autista. Comunica-se principalmente por palavras isoladas e por gestos (puxa o adulto pela mão, aponta). Gosta muito de montar trilhos de trem. Frequenta atendimento clínico três vezes por semana. Nas últimas quatro semanas, a equipe registrou:</a:t>
            </a:r>
          </a:p>
        </p:txBody>
      </p:sp>
      <p:sp>
        <p:nvSpPr>
          <p:cNvPr id="5" name="TextBox 4"/>
          <p:cNvSpPr txBox="1"/>
          <p:nvPr/>
        </p:nvSpPr>
        <p:spPr>
          <a:xfrm>
            <a:off x="1168400" y="3189883"/>
            <a:ext cx="10307828" cy="1524000"/>
          </a:xfrm>
          <a:prstGeom prst="rect">
            <a:avLst/>
          </a:prstGeom>
          <a:noFill/>
        </p:spPr>
        <p:txBody>
          <a:bodyPr wrap="square" lIns="0" rIns="0" tIns="0" bIns="0" anchor="t">
            <a:noAutofit/>
          </a:bodyPr>
          <a:lstStyle/>
          <a:p>
            <a:pPr algn="l" marL="279400" indent="-279400">
              <a:lnSpc>
                <a:spcPct val="123000"/>
              </a:lnSpc>
              <a:buChar char="•"/>
            </a:pPr>
            <a:r>
              <a:rPr sz="1600" b="0" i="0">
                <a:solidFill>
                  <a:srgbClr val="2E3A4A"/>
                </a:solidFill>
                <a:latin typeface="Montserrat"/>
              </a:rPr>
              <a:t>Quando a terapeuta diz “agora acabou, vamos para a mesa”, Theo </a:t>
            </a:r>
            <a:r>
              <a:rPr sz="1600" b="1" i="0">
                <a:solidFill>
                  <a:srgbClr val="2E3A4A"/>
                </a:solidFill>
                <a:latin typeface="Montserrat"/>
              </a:rPr>
              <a:t>grita, se joga no chão e chuta o ar</a:t>
            </a:r>
            <a:r>
              <a:rPr sz="1600" b="0" i="0">
                <a:solidFill>
                  <a:srgbClr val="2E3A4A"/>
                </a:solidFill>
                <a:latin typeface="Montserrat"/>
              </a:rPr>
              <a:t>, por cerca de 3 a 8 minutos. Isso aconteceu em </a:t>
            </a:r>
            <a:r>
              <a:rPr sz="1600" b="1" i="0">
                <a:solidFill>
                  <a:srgbClr val="2E3A4A"/>
                </a:solidFill>
                <a:latin typeface="Montserrat"/>
              </a:rPr>
              <a:t>11 de 12 sessões</a:t>
            </a:r>
            <a:r>
              <a:rPr sz="1600" b="0" i="0">
                <a:solidFill>
                  <a:srgbClr val="2E3A4A"/>
                </a:solidFill>
                <a:latin typeface="Montserrat"/>
              </a:rPr>
              <a:t>, quase sempre na passagem dos trilhos para a atividade de mesa (traçar letras e encaixes).</a:t>
            </a:r>
          </a:p>
          <a:p>
            <a:pPr algn="l" marL="279400" indent="-279400">
              <a:lnSpc>
                <a:spcPct val="123000"/>
              </a:lnSpc>
              <a:buChar char="•"/>
            </a:pPr>
            <a:r>
              <a:rPr sz="1600" b="0" i="0">
                <a:solidFill>
                  <a:srgbClr val="2E3A4A"/>
                </a:solidFill>
                <a:latin typeface="Montserrat"/>
              </a:rPr>
              <a:t>Em </a:t>
            </a:r>
            <a:r>
              <a:rPr sz="1600" b="1" i="0">
                <a:solidFill>
                  <a:srgbClr val="2E3A4A"/>
                </a:solidFill>
                <a:latin typeface="Montserrat"/>
              </a:rPr>
              <a:t>duas sessões</a:t>
            </a:r>
            <a:r>
              <a:rPr sz="1600" b="0" i="0">
                <a:solidFill>
                  <a:srgbClr val="2E3A4A"/>
                </a:solidFill>
                <a:latin typeface="Montserrat"/>
              </a:rPr>
              <a:t> em que a terapeuta também guardou os trilhos, mas a atividade seguinte foi o </a:t>
            </a:r>
            <a:r>
              <a:rPr sz="1600" b="1" i="0">
                <a:solidFill>
                  <a:srgbClr val="2E3A4A"/>
                </a:solidFill>
                <a:latin typeface="Montserrat"/>
              </a:rPr>
              <a:t>lanche</a:t>
            </a:r>
            <a:r>
              <a:rPr sz="1600" b="0" i="0">
                <a:solidFill>
                  <a:srgbClr val="2E3A4A"/>
                </a:solidFill>
                <a:latin typeface="Montserrat"/>
              </a:rPr>
              <a:t>, Theo </a:t>
            </a:r>
            <a:r>
              <a:rPr sz="1600" b="1" i="0">
                <a:solidFill>
                  <a:srgbClr val="2E3A4A"/>
                </a:solidFill>
                <a:latin typeface="Montserrat"/>
              </a:rPr>
              <a:t>não</a:t>
            </a:r>
            <a:r>
              <a:rPr sz="1600" b="0" i="0">
                <a:solidFill>
                  <a:srgbClr val="2E3A4A"/>
                </a:solidFill>
                <a:latin typeface="Montserrat"/>
              </a:rPr>
              <a:t> apresentou o comportamento.</a:t>
            </a:r>
          </a:p>
        </p:txBody>
      </p:sp>
      <p:sp>
        <p:nvSpPr>
          <p:cNvPr id="6" name="TextBox 5"/>
          <p:cNvSpPr txBox="1"/>
          <p:nvPr/>
        </p:nvSpPr>
        <p:spPr>
          <a:xfrm>
            <a:off x="1168400" y="4904383"/>
            <a:ext cx="10307828" cy="231080"/>
          </a:xfrm>
          <a:prstGeom prst="rect">
            <a:avLst/>
          </a:prstGeom>
          <a:noFill/>
        </p:spPr>
        <p:txBody>
          <a:bodyPr wrap="square" lIns="0" rIns="0" tIns="0" bIns="0" anchor="t">
            <a:noAutofit/>
          </a:bodyPr>
          <a:lstStyle/>
          <a:p>
            <a:pPr algn="l">
              <a:lnSpc>
                <a:spcPct val="115000"/>
              </a:lnSpc>
            </a:pPr>
            <a:r>
              <a:rPr sz="1300" b="0" i="1">
                <a:solidFill>
                  <a:srgbClr val="66717F"/>
                </a:solidFill>
                <a:latin typeface="Montserrat"/>
              </a:rPr>
              <a:t>Exemplo fictício, parte 1 de 2</a:t>
            </a:r>
          </a:p>
        </p:txBody>
      </p:sp>
      <p:sp>
        <p:nvSpPr>
          <p:cNvPr id="7" name="TextBox 6"/>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66717F"/>
                </a:solidFill>
                <a:latin typeface="Montserrat"/>
              </a:rPr>
              <a:t>35</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77800" cy="6858000"/>
          </a:xfrm>
          <a:prstGeom prst="rect">
            <a:avLst/>
          </a:prstGeom>
          <a:solidFill>
            <a:srgbClr val="0F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1444327"/>
            <a:ext cx="10307828" cy="423466"/>
          </a:xfrm>
          <a:prstGeom prst="rect">
            <a:avLst/>
          </a:prstGeom>
          <a:noFill/>
        </p:spPr>
        <p:txBody>
          <a:bodyPr wrap="square" lIns="0" rIns="0" tIns="0" bIns="0" anchor="t">
            <a:noAutofit/>
          </a:bodyPr>
          <a:lstStyle/>
          <a:p>
            <a:pPr algn="l">
              <a:lnSpc>
                <a:spcPct val="94000"/>
              </a:lnSpc>
            </a:pPr>
            <a:r>
              <a:rPr sz="2900" b="1" i="0">
                <a:solidFill>
                  <a:srgbClr val="1B2F4B"/>
                </a:solidFill>
                <a:latin typeface="Montserrat"/>
              </a:rPr>
              <a:t>Vinheta: Theo (continuação)</a:t>
            </a:r>
          </a:p>
        </p:txBody>
      </p:sp>
      <p:sp>
        <p:nvSpPr>
          <p:cNvPr id="4" name="TextBox 3"/>
          <p:cNvSpPr txBox="1"/>
          <p:nvPr/>
        </p:nvSpPr>
        <p:spPr>
          <a:xfrm>
            <a:off x="1168400" y="2058293"/>
            <a:ext cx="10307828" cy="2743200"/>
          </a:xfrm>
          <a:prstGeom prst="rect">
            <a:avLst/>
          </a:prstGeom>
          <a:noFill/>
        </p:spPr>
        <p:txBody>
          <a:bodyPr wrap="square" lIns="0" rIns="0" tIns="0" bIns="0" anchor="t">
            <a:noAutofit/>
          </a:bodyPr>
          <a:lstStyle/>
          <a:p>
            <a:pPr algn="l" marL="279400" indent="-279400">
              <a:lnSpc>
                <a:spcPct val="123000"/>
              </a:lnSpc>
              <a:buChar char="•"/>
            </a:pPr>
            <a:r>
              <a:rPr sz="1600" b="0" i="0">
                <a:solidFill>
                  <a:srgbClr val="2E3A4A"/>
                </a:solidFill>
                <a:latin typeface="Montserrat"/>
              </a:rPr>
              <a:t>As reações dos adultos variaram: em algumas sessões, a terapeuta esperou e depois </a:t>
            </a:r>
            <a:r>
              <a:rPr sz="1600" b="1" i="0">
                <a:solidFill>
                  <a:srgbClr val="2E3A4A"/>
                </a:solidFill>
                <a:latin typeface="Montserrat"/>
              </a:rPr>
              <a:t>devolveu os trilhos “por mais cinco minutos”</a:t>
            </a:r>
            <a:r>
              <a:rPr sz="1600" b="0" i="0">
                <a:solidFill>
                  <a:srgbClr val="2E3A4A"/>
                </a:solidFill>
                <a:latin typeface="Montserrat"/>
              </a:rPr>
              <a:t>; em outras, </a:t>
            </a:r>
            <a:r>
              <a:rPr sz="1600" b="1" i="0">
                <a:solidFill>
                  <a:srgbClr val="2E3A4A"/>
                </a:solidFill>
                <a:latin typeface="Montserrat"/>
              </a:rPr>
              <a:t>adiou a atividade de mesa</a:t>
            </a:r>
            <a:r>
              <a:rPr sz="1600" b="0" i="0">
                <a:solidFill>
                  <a:srgbClr val="2E3A4A"/>
                </a:solidFill>
                <a:latin typeface="Montserrat"/>
              </a:rPr>
              <a:t> para o fim da sessão; em outras, </a:t>
            </a:r>
            <a:r>
              <a:rPr sz="1600" b="1" i="0">
                <a:solidFill>
                  <a:srgbClr val="2E3A4A"/>
                </a:solidFill>
                <a:latin typeface="Montserrat"/>
              </a:rPr>
              <a:t>manteve a atividade</a:t>
            </a:r>
            <a:r>
              <a:rPr sz="1600" b="0" i="0">
                <a:solidFill>
                  <a:srgbClr val="2E3A4A"/>
                </a:solidFill>
                <a:latin typeface="Montserrat"/>
              </a:rPr>
              <a:t> e conduziu Theo até a mesa.</a:t>
            </a:r>
          </a:p>
          <a:p>
            <a:pPr algn="l" marL="279400" indent="-279400">
              <a:lnSpc>
                <a:spcPct val="123000"/>
              </a:lnSpc>
              <a:buChar char="•"/>
            </a:pPr>
            <a:r>
              <a:rPr sz="1600" b="0" i="0">
                <a:solidFill>
                  <a:srgbClr val="2E3A4A"/>
                </a:solidFill>
                <a:latin typeface="Montserrat"/>
              </a:rPr>
              <a:t>A mãe relata que, em casa, Theo reage de forma parecida quando precisa </a:t>
            </a:r>
            <a:r>
              <a:rPr sz="1600" b="1" i="0">
                <a:solidFill>
                  <a:srgbClr val="2E3A4A"/>
                </a:solidFill>
                <a:latin typeface="Montserrat"/>
              </a:rPr>
              <a:t>desligar a televisão para tomar banho</a:t>
            </a:r>
            <a:r>
              <a:rPr sz="1600" b="0" i="0">
                <a:solidFill>
                  <a:srgbClr val="2E3A4A"/>
                </a:solidFill>
                <a:latin typeface="Montserrat"/>
              </a:rPr>
              <a:t>.</a:t>
            </a:r>
          </a:p>
          <a:p>
            <a:pPr algn="l" marL="279400" indent="-279400">
              <a:lnSpc>
                <a:spcPct val="123000"/>
              </a:lnSpc>
              <a:buChar char="•"/>
            </a:pPr>
            <a:r>
              <a:rPr sz="1600" b="0" i="0">
                <a:solidFill>
                  <a:srgbClr val="2E3A4A"/>
                </a:solidFill>
                <a:latin typeface="Montserrat"/>
              </a:rPr>
              <a:t>A mãe também conta que, nas semanas em que os episódios foram </a:t>
            </a:r>
            <a:r>
              <a:rPr sz="1600" b="1" i="0">
                <a:solidFill>
                  <a:srgbClr val="2E3A4A"/>
                </a:solidFill>
                <a:latin typeface="Montserrat"/>
              </a:rPr>
              <a:t>mais longos</a:t>
            </a:r>
            <a:r>
              <a:rPr sz="1600" b="0" i="0">
                <a:solidFill>
                  <a:srgbClr val="2E3A4A"/>
                </a:solidFill>
                <a:latin typeface="Montserrat"/>
              </a:rPr>
              <a:t>, Theo </a:t>
            </a:r>
            <a:r>
              <a:rPr sz="1600" b="1" i="0">
                <a:solidFill>
                  <a:srgbClr val="2E3A4A"/>
                </a:solidFill>
                <a:latin typeface="Montserrat"/>
              </a:rPr>
              <a:t>dormiu mal</a:t>
            </a:r>
            <a:r>
              <a:rPr sz="1600" b="0" i="0">
                <a:solidFill>
                  <a:srgbClr val="2E3A4A"/>
                </a:solidFill>
                <a:latin typeface="Montserrat"/>
              </a:rPr>
              <a:t> e houve </a:t>
            </a:r>
            <a:r>
              <a:rPr sz="1600" b="1" i="0">
                <a:solidFill>
                  <a:srgbClr val="2E3A4A"/>
                </a:solidFill>
                <a:latin typeface="Montserrat"/>
              </a:rPr>
              <a:t>troca da terapeuta</a:t>
            </a:r>
            <a:r>
              <a:rPr sz="1600" b="0" i="0">
                <a:solidFill>
                  <a:srgbClr val="2E3A4A"/>
                </a:solidFill>
                <a:latin typeface="Montserrat"/>
              </a:rPr>
              <a:t> que o atendia.</a:t>
            </a:r>
          </a:p>
          <a:p>
            <a:pPr algn="l" marL="279400" indent="-279400">
              <a:lnSpc>
                <a:spcPct val="123000"/>
              </a:lnSpc>
              <a:buChar char="•"/>
            </a:pPr>
            <a:r>
              <a:rPr sz="1600" b="0" i="0">
                <a:solidFill>
                  <a:srgbClr val="2E3A4A"/>
                </a:solidFill>
                <a:latin typeface="Montserrat"/>
              </a:rPr>
              <a:t>Nas sessões em que a terapeuta </a:t>
            </a:r>
            <a:r>
              <a:rPr sz="1600" b="1" i="0">
                <a:solidFill>
                  <a:srgbClr val="2E3A4A"/>
                </a:solidFill>
                <a:latin typeface="Montserrat"/>
              </a:rPr>
              <a:t>mostrou um cartão “primeiro trilhos, depois mesa” e avisou dois minutos antes</a:t>
            </a:r>
            <a:r>
              <a:rPr sz="1600" b="0" i="0">
                <a:solidFill>
                  <a:srgbClr val="2E3A4A"/>
                </a:solidFill>
                <a:latin typeface="Montserrat"/>
              </a:rPr>
              <a:t>, os episódios foram </a:t>
            </a:r>
            <a:r>
              <a:rPr sz="1600" b="1" i="0">
                <a:solidFill>
                  <a:srgbClr val="2E3A4A"/>
                </a:solidFill>
                <a:latin typeface="Montserrat"/>
              </a:rPr>
              <a:t>mais curtos</a:t>
            </a:r>
            <a:r>
              <a:rPr sz="1600" b="0" i="0">
                <a:solidFill>
                  <a:srgbClr val="2E3A4A"/>
                </a:solidFill>
                <a:latin typeface="Montserrat"/>
              </a:rPr>
              <a:t> (registro em 3 sessões).</a:t>
            </a:r>
          </a:p>
        </p:txBody>
      </p:sp>
      <p:sp>
        <p:nvSpPr>
          <p:cNvPr id="5" name="TextBox 4"/>
          <p:cNvSpPr txBox="1"/>
          <p:nvPr/>
        </p:nvSpPr>
        <p:spPr>
          <a:xfrm>
            <a:off x="1168400" y="4991993"/>
            <a:ext cx="10307828" cy="231080"/>
          </a:xfrm>
          <a:prstGeom prst="rect">
            <a:avLst/>
          </a:prstGeom>
          <a:noFill/>
        </p:spPr>
        <p:txBody>
          <a:bodyPr wrap="square" lIns="0" rIns="0" tIns="0" bIns="0" anchor="t">
            <a:noAutofit/>
          </a:bodyPr>
          <a:lstStyle/>
          <a:p>
            <a:pPr algn="l">
              <a:lnSpc>
                <a:spcPct val="115000"/>
              </a:lnSpc>
            </a:pPr>
            <a:r>
              <a:rPr sz="1300" b="0" i="1">
                <a:solidFill>
                  <a:srgbClr val="66717F"/>
                </a:solidFill>
                <a:latin typeface="Montserrat"/>
              </a:rPr>
              <a:t>Exemplo fictício, parte 2 de 2</a:t>
            </a:r>
          </a:p>
        </p:txBody>
      </p:sp>
      <p:sp>
        <p:nvSpPr>
          <p:cNvPr id="6" name="TextBox 5"/>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66717F"/>
                </a:solidFill>
                <a:latin typeface="Montserrat"/>
              </a:rPr>
              <a:t>35b</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EEF4F5"/>
        </a:solidFill>
        <a:effectLst/>
      </p:bgPr>
    </p:bg>
    <p:spTree>
      <p:nvGrpSpPr>
        <p:cNvPr id="1" name=""/>
        <p:cNvGrpSpPr/>
        <p:nvPr/>
      </p:nvGrpSpPr>
      <p:grpSpPr/>
      <p:sp>
        <p:nvSpPr>
          <p:cNvPr id="2" name="Rectangle 1"/>
          <p:cNvSpPr/>
          <p:nvPr/>
        </p:nvSpPr>
        <p:spPr>
          <a:xfrm>
            <a:off x="0" y="0"/>
            <a:ext cx="177800" cy="6858000"/>
          </a:xfrm>
          <a:prstGeom prst="rect">
            <a:avLst/>
          </a:prstGeom>
          <a:solidFill>
            <a:srgbClr val="0F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1344116"/>
            <a:ext cx="10307828" cy="408880"/>
          </a:xfrm>
          <a:prstGeom prst="rect">
            <a:avLst/>
          </a:prstGeom>
          <a:noFill/>
        </p:spPr>
        <p:txBody>
          <a:bodyPr wrap="square" lIns="0" rIns="0" tIns="0" bIns="0" anchor="t">
            <a:noAutofit/>
          </a:bodyPr>
          <a:lstStyle/>
          <a:p>
            <a:pPr algn="l">
              <a:lnSpc>
                <a:spcPct val="94000"/>
              </a:lnSpc>
            </a:pPr>
            <a:r>
              <a:rPr sz="2800" b="1" i="0">
                <a:solidFill>
                  <a:srgbClr val="1B2F4B"/>
                </a:solidFill>
                <a:latin typeface="Montserrat"/>
              </a:rPr>
              <a:t>Perguntas para o grupo</a:t>
            </a:r>
          </a:p>
        </p:txBody>
      </p:sp>
      <p:sp>
        <p:nvSpPr>
          <p:cNvPr id="4" name="TextBox 3"/>
          <p:cNvSpPr txBox="1"/>
          <p:nvPr/>
        </p:nvSpPr>
        <p:spPr>
          <a:xfrm>
            <a:off x="1168400" y="1892697"/>
            <a:ext cx="10307828" cy="284460"/>
          </a:xfrm>
          <a:prstGeom prst="rect">
            <a:avLst/>
          </a:prstGeom>
          <a:noFill/>
        </p:spPr>
        <p:txBody>
          <a:bodyPr wrap="square" lIns="0" rIns="0" tIns="0" bIns="0" anchor="t">
            <a:noAutofit/>
          </a:bodyPr>
          <a:lstStyle/>
          <a:p>
            <a:pPr algn="l">
              <a:lnSpc>
                <a:spcPct val="115000"/>
              </a:lnSpc>
            </a:pPr>
            <a:r>
              <a:rPr sz="1600" b="1" i="0">
                <a:solidFill>
                  <a:srgbClr val="0F7C86"/>
                </a:solidFill>
                <a:latin typeface="Montserrat"/>
              </a:rPr>
              <a:t>Todos os grupos (cerca de 6 min)</a:t>
            </a:r>
          </a:p>
        </p:txBody>
      </p:sp>
      <p:sp>
        <p:nvSpPr>
          <p:cNvPr id="5" name="TextBox 4"/>
          <p:cNvSpPr txBox="1"/>
          <p:nvPr/>
        </p:nvSpPr>
        <p:spPr>
          <a:xfrm>
            <a:off x="1168400" y="2316857"/>
            <a:ext cx="10307828" cy="1476375"/>
          </a:xfrm>
          <a:prstGeom prst="rect">
            <a:avLst/>
          </a:prstGeom>
          <a:noFill/>
        </p:spPr>
        <p:txBody>
          <a:bodyPr wrap="square" lIns="0" rIns="0" tIns="0" bIns="0" anchor="t">
            <a:noAutofit/>
          </a:bodyPr>
          <a:lstStyle/>
          <a:p>
            <a:pPr algn="l" marL="279400" indent="-279400">
              <a:lnSpc>
                <a:spcPct val="123000"/>
              </a:lnSpc>
              <a:buAutoNum type="arabicPeriod" startAt="1"/>
            </a:pPr>
            <a:r>
              <a:rPr sz="1550" b="0" i="0">
                <a:solidFill>
                  <a:srgbClr val="2E3A4A"/>
                </a:solidFill>
                <a:latin typeface="Montserrat"/>
              </a:rPr>
              <a:t>O que o Theo faz? Descrevam só o que dá para ver e ouvir, sem palavras como “birra” ou “crise”.</a:t>
            </a:r>
          </a:p>
          <a:p>
            <a:pPr algn="l" marL="279400" indent="-279400">
              <a:lnSpc>
                <a:spcPct val="123000"/>
              </a:lnSpc>
              <a:buAutoNum type="arabicPeriod" startAt="1"/>
            </a:pPr>
            <a:r>
              <a:rPr sz="1550" b="0" i="0">
                <a:solidFill>
                  <a:srgbClr val="2E3A4A"/>
                </a:solidFill>
                <a:latin typeface="Montserrat"/>
              </a:rPr>
              <a:t>O que acontece logo antes?</a:t>
            </a:r>
          </a:p>
          <a:p>
            <a:pPr algn="l" marL="279400" indent="-279400">
              <a:lnSpc>
                <a:spcPct val="123000"/>
              </a:lnSpc>
              <a:buAutoNum type="arabicPeriod" startAt="1"/>
            </a:pPr>
            <a:r>
              <a:rPr sz="1550" b="0" i="0">
                <a:solidFill>
                  <a:srgbClr val="2E3A4A"/>
                </a:solidFill>
                <a:latin typeface="Montserrat"/>
              </a:rPr>
              <a:t>O que acontece logo depois?</a:t>
            </a:r>
          </a:p>
          <a:p>
            <a:pPr algn="l" marL="279400" indent="-279400">
              <a:lnSpc>
                <a:spcPct val="123000"/>
              </a:lnSpc>
              <a:buAutoNum type="arabicPeriod" startAt="1"/>
            </a:pPr>
            <a:r>
              <a:rPr sz="1550" b="0" i="0">
                <a:solidFill>
                  <a:srgbClr val="2E3A4A"/>
                </a:solidFill>
                <a:latin typeface="Montserrat"/>
              </a:rPr>
              <a:t>Por que isso pode estar acontecendo? Deem duas explicações possíveis e, para cada uma, um dado da história que ajuda e um que atrapalha.</a:t>
            </a:r>
          </a:p>
        </p:txBody>
      </p:sp>
      <p:sp>
        <p:nvSpPr>
          <p:cNvPr id="6" name="TextBox 5"/>
          <p:cNvSpPr txBox="1"/>
          <p:nvPr/>
        </p:nvSpPr>
        <p:spPr>
          <a:xfrm>
            <a:off x="1168400" y="3932932"/>
            <a:ext cx="10307828" cy="284460"/>
          </a:xfrm>
          <a:prstGeom prst="rect">
            <a:avLst/>
          </a:prstGeom>
          <a:noFill/>
        </p:spPr>
        <p:txBody>
          <a:bodyPr wrap="square" lIns="0" rIns="0" tIns="0" bIns="0" anchor="t">
            <a:noAutofit/>
          </a:bodyPr>
          <a:lstStyle/>
          <a:p>
            <a:pPr algn="l">
              <a:lnSpc>
                <a:spcPct val="115000"/>
              </a:lnSpc>
            </a:pPr>
            <a:r>
              <a:rPr sz="1600" b="1" i="0">
                <a:solidFill>
                  <a:srgbClr val="0F7C86"/>
                </a:solidFill>
                <a:latin typeface="Montserrat"/>
              </a:rPr>
              <a:t>Cada grupo, mais uma (cerca de 4 min)</a:t>
            </a:r>
          </a:p>
        </p:txBody>
      </p:sp>
      <p:sp>
        <p:nvSpPr>
          <p:cNvPr id="7" name="TextBox 6"/>
          <p:cNvSpPr txBox="1"/>
          <p:nvPr/>
        </p:nvSpPr>
        <p:spPr>
          <a:xfrm>
            <a:off x="1168400" y="4357092"/>
            <a:ext cx="10307828" cy="551061"/>
          </a:xfrm>
          <a:prstGeom prst="rect">
            <a:avLst/>
          </a:prstGeom>
          <a:noFill/>
        </p:spPr>
        <p:txBody>
          <a:bodyPr wrap="square" lIns="0" rIns="0" tIns="0" bIns="0" anchor="t">
            <a:noAutofit/>
          </a:bodyPr>
          <a:lstStyle/>
          <a:p>
            <a:pPr algn="l">
              <a:lnSpc>
                <a:spcPct val="115000"/>
              </a:lnSpc>
            </a:pPr>
            <a:r>
              <a:rPr sz="1550" b="1" i="0">
                <a:solidFill>
                  <a:srgbClr val="2E3A4A"/>
                </a:solidFill>
                <a:latin typeface="Montserrat"/>
              </a:rPr>
              <a:t>5.</a:t>
            </a:r>
            <a:r>
              <a:rPr sz="1550" b="0" i="0">
                <a:solidFill>
                  <a:srgbClr val="2E3A4A"/>
                </a:solidFill>
                <a:latin typeface="Montserrat"/>
              </a:rPr>
              <a:t> Escolham uma das explicações. O que vocês fariam para ajudar o Theo? E se essa explicação estiver errada, o que pode dar errado?</a:t>
            </a:r>
          </a:p>
        </p:txBody>
      </p:sp>
      <p:sp>
        <p:nvSpPr>
          <p:cNvPr id="8" name="TextBox 7"/>
          <p:cNvSpPr txBox="1"/>
          <p:nvPr/>
        </p:nvSpPr>
        <p:spPr>
          <a:xfrm>
            <a:off x="1168400" y="5047853"/>
            <a:ext cx="10307828" cy="275530"/>
          </a:xfrm>
          <a:prstGeom prst="rect">
            <a:avLst/>
          </a:prstGeom>
          <a:noFill/>
        </p:spPr>
        <p:txBody>
          <a:bodyPr wrap="square" lIns="0" rIns="0" tIns="0" bIns="0" anchor="t">
            <a:noAutofit/>
          </a:bodyPr>
          <a:lstStyle/>
          <a:p>
            <a:pPr algn="l">
              <a:lnSpc>
                <a:spcPct val="115000"/>
              </a:lnSpc>
            </a:pPr>
            <a:r>
              <a:rPr sz="1550" b="1" i="0">
                <a:solidFill>
                  <a:srgbClr val="2E3A4A"/>
                </a:solidFill>
                <a:latin typeface="Montserrat"/>
              </a:rPr>
              <a:t>6.</a:t>
            </a:r>
            <a:r>
              <a:rPr sz="1550" b="0" i="0">
                <a:solidFill>
                  <a:srgbClr val="2E3A4A"/>
                </a:solidFill>
                <a:latin typeface="Montserrat"/>
              </a:rPr>
              <a:t> A mãe pergunta: “Não é melhor tirar os trilhos de vez?”. O que vocês responderiam?</a:t>
            </a:r>
          </a:p>
        </p:txBody>
      </p:sp>
      <p:sp>
        <p:nvSpPr>
          <p:cNvPr id="9" name="TextBox 8"/>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66717F"/>
                </a:solidFill>
                <a:latin typeface="Montserrat"/>
              </a:rPr>
              <a:t>36</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77800" cy="6858000"/>
          </a:xfrm>
          <a:prstGeom prst="rect">
            <a:avLst/>
          </a:prstGeom>
          <a:solidFill>
            <a:srgbClr val="0F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1949351"/>
            <a:ext cx="10307828" cy="481905"/>
          </a:xfrm>
          <a:prstGeom prst="rect">
            <a:avLst/>
          </a:prstGeom>
          <a:noFill/>
        </p:spPr>
        <p:txBody>
          <a:bodyPr wrap="square" lIns="0" rIns="0" tIns="0" bIns="0" anchor="t">
            <a:noAutofit/>
          </a:bodyPr>
          <a:lstStyle/>
          <a:p>
            <a:pPr algn="l">
              <a:lnSpc>
                <a:spcPct val="94000"/>
              </a:lnSpc>
            </a:pPr>
            <a:r>
              <a:rPr sz="3300" b="1" i="0">
                <a:solidFill>
                  <a:srgbClr val="1B2F4B"/>
                </a:solidFill>
                <a:latin typeface="Montserrat"/>
              </a:rPr>
              <a:t>Respostas 1 a 3: o que aconteceu</a:t>
            </a:r>
          </a:p>
        </p:txBody>
      </p:sp>
      <p:sp>
        <p:nvSpPr>
          <p:cNvPr id="4" name="TextBox 3"/>
          <p:cNvSpPr txBox="1"/>
          <p:nvPr/>
        </p:nvSpPr>
        <p:spPr>
          <a:xfrm>
            <a:off x="1168400" y="2685256"/>
            <a:ext cx="3191764" cy="274241"/>
          </a:xfrm>
          <a:prstGeom prst="rect">
            <a:avLst/>
          </a:prstGeom>
          <a:noFill/>
        </p:spPr>
        <p:txBody>
          <a:bodyPr wrap="square" lIns="0" rIns="0" tIns="0" bIns="0" anchor="t">
            <a:noAutofit/>
          </a:bodyPr>
          <a:lstStyle/>
          <a:p>
            <a:pPr algn="l">
              <a:lnSpc>
                <a:spcPct val="98000"/>
              </a:lnSpc>
            </a:pPr>
            <a:r>
              <a:rPr sz="1800" b="1" i="0">
                <a:solidFill>
                  <a:srgbClr val="0F7C86"/>
                </a:solidFill>
                <a:latin typeface="Montserrat"/>
              </a:rPr>
              <a:t>1. O que ele faz</a:t>
            </a:r>
          </a:p>
        </p:txBody>
      </p:sp>
      <p:sp>
        <p:nvSpPr>
          <p:cNvPr id="5" name="TextBox 4"/>
          <p:cNvSpPr txBox="1"/>
          <p:nvPr/>
        </p:nvSpPr>
        <p:spPr>
          <a:xfrm>
            <a:off x="1168400" y="3048397"/>
            <a:ext cx="3191764" cy="1102122"/>
          </a:xfrm>
          <a:prstGeom prst="rect">
            <a:avLst/>
          </a:prstGeom>
          <a:noFill/>
        </p:spPr>
        <p:txBody>
          <a:bodyPr wrap="square" lIns="0" rIns="0" tIns="0" bIns="0" anchor="t">
            <a:noAutofit/>
          </a:bodyPr>
          <a:lstStyle/>
          <a:p>
            <a:pPr algn="l">
              <a:lnSpc>
                <a:spcPct val="115000"/>
              </a:lnSpc>
            </a:pPr>
            <a:r>
              <a:rPr sz="1550" b="0" i="0">
                <a:solidFill>
                  <a:srgbClr val="2E3A4A"/>
                </a:solidFill>
                <a:latin typeface="Montserrat"/>
              </a:rPr>
              <a:t>Grita, se joga no chão e chuta o ar, por 3 a 8 minutos, em 11 de 12 sessões. Sem “birra” ou “crise”: são interpretações.</a:t>
            </a:r>
          </a:p>
        </p:txBody>
      </p:sp>
      <p:sp>
        <p:nvSpPr>
          <p:cNvPr id="6" name="TextBox 5"/>
          <p:cNvSpPr txBox="1"/>
          <p:nvPr/>
        </p:nvSpPr>
        <p:spPr>
          <a:xfrm>
            <a:off x="4622800" y="2685256"/>
            <a:ext cx="3191764" cy="274241"/>
          </a:xfrm>
          <a:prstGeom prst="rect">
            <a:avLst/>
          </a:prstGeom>
          <a:noFill/>
        </p:spPr>
        <p:txBody>
          <a:bodyPr wrap="square" lIns="0" rIns="0" tIns="0" bIns="0" anchor="t">
            <a:noAutofit/>
          </a:bodyPr>
          <a:lstStyle/>
          <a:p>
            <a:pPr algn="l">
              <a:lnSpc>
                <a:spcPct val="98000"/>
              </a:lnSpc>
            </a:pPr>
            <a:r>
              <a:rPr sz="1800" b="1" i="0">
                <a:solidFill>
                  <a:srgbClr val="0F7C86"/>
                </a:solidFill>
                <a:latin typeface="Montserrat"/>
              </a:rPr>
              <a:t>2. Antes</a:t>
            </a:r>
          </a:p>
        </p:txBody>
      </p:sp>
      <p:sp>
        <p:nvSpPr>
          <p:cNvPr id="7" name="TextBox 6"/>
          <p:cNvSpPr txBox="1"/>
          <p:nvPr/>
        </p:nvSpPr>
        <p:spPr>
          <a:xfrm>
            <a:off x="4622800" y="3048397"/>
            <a:ext cx="3191764" cy="1102122"/>
          </a:xfrm>
          <a:prstGeom prst="rect">
            <a:avLst/>
          </a:prstGeom>
          <a:noFill/>
        </p:spPr>
        <p:txBody>
          <a:bodyPr wrap="square" lIns="0" rIns="0" tIns="0" bIns="0" anchor="t">
            <a:noAutofit/>
          </a:bodyPr>
          <a:lstStyle/>
          <a:p>
            <a:pPr algn="l">
              <a:lnSpc>
                <a:spcPct val="115000"/>
              </a:lnSpc>
            </a:pPr>
            <a:r>
              <a:rPr sz="1550" b="0" i="0">
                <a:solidFill>
                  <a:srgbClr val="2E3A4A"/>
                </a:solidFill>
                <a:latin typeface="Montserrat"/>
              </a:rPr>
              <a:t>“Agora acabou, vamos para a mesa”; trilhos guardados; atividade de mesa. Contexto: sono ruim, troca de terapeuta.</a:t>
            </a:r>
          </a:p>
        </p:txBody>
      </p:sp>
      <p:sp>
        <p:nvSpPr>
          <p:cNvPr id="8" name="TextBox 7"/>
          <p:cNvSpPr txBox="1"/>
          <p:nvPr/>
        </p:nvSpPr>
        <p:spPr>
          <a:xfrm>
            <a:off x="8077200" y="2685256"/>
            <a:ext cx="3191764" cy="274241"/>
          </a:xfrm>
          <a:prstGeom prst="rect">
            <a:avLst/>
          </a:prstGeom>
          <a:noFill/>
        </p:spPr>
        <p:txBody>
          <a:bodyPr wrap="square" lIns="0" rIns="0" tIns="0" bIns="0" anchor="t">
            <a:noAutofit/>
          </a:bodyPr>
          <a:lstStyle/>
          <a:p>
            <a:pPr algn="l">
              <a:lnSpc>
                <a:spcPct val="98000"/>
              </a:lnSpc>
            </a:pPr>
            <a:r>
              <a:rPr sz="1800" b="1" i="0">
                <a:solidFill>
                  <a:srgbClr val="0F7C86"/>
                </a:solidFill>
                <a:latin typeface="Montserrat"/>
              </a:rPr>
              <a:t>3. Depois</a:t>
            </a:r>
          </a:p>
        </p:txBody>
      </p:sp>
      <p:sp>
        <p:nvSpPr>
          <p:cNvPr id="9" name="TextBox 8"/>
          <p:cNvSpPr txBox="1"/>
          <p:nvPr/>
        </p:nvSpPr>
        <p:spPr>
          <a:xfrm>
            <a:off x="8077200" y="3048397"/>
            <a:ext cx="3191764" cy="826591"/>
          </a:xfrm>
          <a:prstGeom prst="rect">
            <a:avLst/>
          </a:prstGeom>
          <a:noFill/>
        </p:spPr>
        <p:txBody>
          <a:bodyPr wrap="square" lIns="0" rIns="0" tIns="0" bIns="0" anchor="t">
            <a:noAutofit/>
          </a:bodyPr>
          <a:lstStyle/>
          <a:p>
            <a:pPr algn="l">
              <a:lnSpc>
                <a:spcPct val="115000"/>
              </a:lnSpc>
            </a:pPr>
            <a:r>
              <a:rPr sz="1550" b="0" i="0">
                <a:solidFill>
                  <a:srgbClr val="2E3A4A"/>
                </a:solidFill>
                <a:latin typeface="Montserrat"/>
              </a:rPr>
              <a:t>Às vezes os trilhos voltam, às vezes a mesa é adiada, às vezes a mesa é mantida.</a:t>
            </a:r>
          </a:p>
        </p:txBody>
      </p:sp>
      <p:sp>
        <p:nvSpPr>
          <p:cNvPr id="10" name="TextBox 9"/>
          <p:cNvSpPr txBox="1"/>
          <p:nvPr/>
        </p:nvSpPr>
        <p:spPr>
          <a:xfrm>
            <a:off x="1168400" y="4404519"/>
            <a:ext cx="10307828" cy="313630"/>
          </a:xfrm>
          <a:prstGeom prst="rect">
            <a:avLst/>
          </a:prstGeom>
          <a:noFill/>
        </p:spPr>
        <p:txBody>
          <a:bodyPr wrap="square" lIns="0" rIns="0" tIns="0" bIns="0" anchor="t">
            <a:noAutofit/>
          </a:bodyPr>
          <a:lstStyle/>
          <a:p>
            <a:pPr algn="l">
              <a:lnSpc>
                <a:spcPct val="107000"/>
              </a:lnSpc>
            </a:pPr>
            <a:r>
              <a:rPr sz="1900" b="1" i="0">
                <a:solidFill>
                  <a:srgbClr val="0F7C86"/>
                </a:solidFill>
                <a:latin typeface="Montserrat"/>
              </a:rPr>
              <a:t>Sono e troca de terapeuta são contexto, não função.</a:t>
            </a:r>
          </a:p>
        </p:txBody>
      </p:sp>
      <p:sp>
        <p:nvSpPr>
          <p:cNvPr id="11" name="TextBox 10"/>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66717F"/>
                </a:solidFill>
                <a:latin typeface="Montserrat"/>
              </a:rPr>
              <a:t>36a</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77800" cy="6858000"/>
          </a:xfrm>
          <a:prstGeom prst="rect">
            <a:avLst/>
          </a:prstGeom>
          <a:solidFill>
            <a:srgbClr val="0F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1241227"/>
            <a:ext cx="10307828" cy="423466"/>
          </a:xfrm>
          <a:prstGeom prst="rect">
            <a:avLst/>
          </a:prstGeom>
          <a:noFill/>
        </p:spPr>
        <p:txBody>
          <a:bodyPr wrap="square" lIns="0" rIns="0" tIns="0" bIns="0" anchor="t">
            <a:noAutofit/>
          </a:bodyPr>
          <a:lstStyle/>
          <a:p>
            <a:pPr algn="l">
              <a:lnSpc>
                <a:spcPct val="94000"/>
              </a:lnSpc>
            </a:pPr>
            <a:r>
              <a:rPr sz="2900" b="1" i="0">
                <a:solidFill>
                  <a:srgbClr val="1B2F4B"/>
                </a:solidFill>
                <a:latin typeface="Montserrat"/>
              </a:rPr>
              <a:t>Respostas 4: explicações possíveis</a:t>
            </a:r>
          </a:p>
        </p:txBody>
      </p:sp>
      <p:graphicFrame>
        <p:nvGraphicFramePr>
          <p:cNvPr id="4" name="Table 3"/>
          <p:cNvGraphicFramePr>
            <a:graphicFrameLocks noGrp="1"/>
          </p:cNvGraphicFramePr>
          <p:nvPr/>
        </p:nvGraphicFramePr>
        <p:xfrm>
          <a:off x="1168400" y="1855192"/>
          <a:ext cx="10007600" cy="2819400"/>
        </p:xfrm>
        <a:graphic>
          <a:graphicData uri="http://schemas.openxmlformats.org/drawingml/2006/table">
            <a:tbl>
              <a:tblPr firstRow="0" bandRow="0">
                <a:tableStyleId>{2D5ABB26-0587-4C30-8999-92F81FD0307C}</a:tableStyleId>
              </a:tblPr>
              <a:tblGrid>
                <a:gridCol w="2201664"/>
                <a:gridCol w="4203105"/>
                <a:gridCol w="3602831"/>
              </a:tblGrid>
              <a:tr h="438150">
                <a:tc>
                  <a:txBody>
                    <a:bodyPr wrap="square"/>
                    <a:lstStyle/>
                    <a:p>
                      <a:pPr>
                        <a:lnSpc>
                          <a:spcPct val="100000"/>
                        </a:lnSpc>
                      </a:pPr>
                      <a:r>
                        <a:rPr sz="1350" b="1" i="0">
                          <a:solidFill>
                            <a:srgbClr val="FFFFFF"/>
                          </a:solidFill>
                          <a:latin typeface="Montserrat"/>
                        </a:rPr>
                        <a:t>Explicação</a:t>
                      </a:r>
                    </a:p>
                  </a:txBody>
                  <a:tcPr marL="114300" marR="114300" marT="68580" marB="68580" anchor="ctr">
                    <a:solidFill>
                      <a:srgbClr val="1B2F4B"/>
                    </a:solidFill>
                  </a:tcPr>
                </a:tc>
                <a:tc>
                  <a:txBody>
                    <a:bodyPr wrap="square"/>
                    <a:lstStyle/>
                    <a:p>
                      <a:pPr>
                        <a:lnSpc>
                          <a:spcPct val="100000"/>
                        </a:lnSpc>
                      </a:pPr>
                      <a:r>
                        <a:rPr sz="1350" b="1" i="0">
                          <a:solidFill>
                            <a:srgbClr val="FFFFFF"/>
                          </a:solidFill>
                          <a:latin typeface="Montserrat"/>
                        </a:rPr>
                        <a:t>Dado que ajuda</a:t>
                      </a:r>
                    </a:p>
                  </a:txBody>
                  <a:tcPr marL="114300" marR="114300" marT="68580" marB="68580" anchor="ctr">
                    <a:solidFill>
                      <a:srgbClr val="1B2F4B"/>
                    </a:solidFill>
                  </a:tcPr>
                </a:tc>
                <a:tc>
                  <a:txBody>
                    <a:bodyPr wrap="square"/>
                    <a:lstStyle/>
                    <a:p>
                      <a:pPr>
                        <a:lnSpc>
                          <a:spcPct val="100000"/>
                        </a:lnSpc>
                      </a:pPr>
                      <a:r>
                        <a:rPr sz="1350" b="1" i="0">
                          <a:solidFill>
                            <a:srgbClr val="FFFFFF"/>
                          </a:solidFill>
                          <a:latin typeface="Montserrat"/>
                        </a:rPr>
                        <a:t>Dado que atrapalha</a:t>
                      </a:r>
                    </a:p>
                  </a:txBody>
                  <a:tcPr marL="114300" marR="114300" marT="68580" marB="68580" anchor="ctr">
                    <a:solidFill>
                      <a:srgbClr val="1B2F4B"/>
                    </a:solidFill>
                  </a:tcPr>
                </a:tc>
              </a:tr>
              <a:tr h="647700">
                <a:tc>
                  <a:txBody>
                    <a:bodyPr wrap="square"/>
                    <a:lstStyle/>
                    <a:p>
                      <a:pPr>
                        <a:lnSpc>
                          <a:spcPct val="100000"/>
                        </a:lnSpc>
                      </a:pPr>
                      <a:r>
                        <a:rPr sz="1350" b="1" i="0">
                          <a:solidFill>
                            <a:srgbClr val="2E3A4A"/>
                          </a:solidFill>
                          <a:latin typeface="Montserrat"/>
                        </a:rPr>
                        <a:t>Quer os trilhos</a:t>
                      </a:r>
                    </a:p>
                  </a:txBody>
                  <a:tcPr marL="114300" marR="114300" marT="68580" marB="68580" anchor="ctr">
                    <a:solidFill>
                      <a:srgbClr val="FFFFFF"/>
                    </a:solidFill>
                  </a:tcPr>
                </a:tc>
                <a:tc>
                  <a:txBody>
                    <a:bodyPr wrap="square"/>
                    <a:lstStyle/>
                    <a:p>
                      <a:pPr>
                        <a:lnSpc>
                          <a:spcPct val="100000"/>
                        </a:lnSpc>
                      </a:pPr>
                      <a:r>
                        <a:rPr sz="1350" b="0" i="0">
                          <a:solidFill>
                            <a:srgbClr val="2E3A4A"/>
                          </a:solidFill>
                          <a:latin typeface="Montserrat"/>
                        </a:rPr>
                        <a:t>Acontece quando os trilhos são guardados; às vezes eles voltam; em casa, ao desligar a TV</a:t>
                      </a:r>
                    </a:p>
                  </a:txBody>
                  <a:tcPr marL="114300" marR="114300" marT="68580" marB="68580" anchor="ctr">
                    <a:solidFill>
                      <a:srgbClr val="FFFFFF"/>
                    </a:solidFill>
                  </a:tcPr>
                </a:tc>
                <a:tc>
                  <a:txBody>
                    <a:bodyPr wrap="square"/>
                    <a:lstStyle/>
                    <a:p>
                      <a:pPr>
                        <a:lnSpc>
                          <a:spcPct val="100000"/>
                        </a:lnSpc>
                      </a:pPr>
                      <a:r>
                        <a:rPr sz="1350" b="0" i="0">
                          <a:solidFill>
                            <a:srgbClr val="2E3A4A"/>
                          </a:solidFill>
                          <a:latin typeface="Montserrat"/>
                        </a:rPr>
                        <a:t>No lanche os trilhos também foram guardados, e não houve episódio</a:t>
                      </a:r>
                    </a:p>
                  </a:txBody>
                  <a:tcPr marL="114300" marR="114300" marT="68580" marB="68580" anchor="ctr">
                    <a:solidFill>
                      <a:srgbClr val="FFFFFF"/>
                    </a:solidFill>
                  </a:tcPr>
                </a:tc>
              </a:tr>
              <a:tr h="647700">
                <a:tc>
                  <a:txBody>
                    <a:bodyPr wrap="square"/>
                    <a:lstStyle/>
                    <a:p>
                      <a:pPr>
                        <a:lnSpc>
                          <a:spcPct val="100000"/>
                        </a:lnSpc>
                      </a:pPr>
                      <a:r>
                        <a:rPr sz="1350" b="1" i="0">
                          <a:solidFill>
                            <a:srgbClr val="2E3A4A"/>
                          </a:solidFill>
                          <a:latin typeface="Montserrat"/>
                        </a:rPr>
                        <a:t>Foge da mesa</a:t>
                      </a:r>
                    </a:p>
                  </a:txBody>
                  <a:tcPr marL="114300" marR="114300" marT="68580" marB="68580" anchor="ctr">
                    <a:solidFill>
                      <a:srgbClr val="F1F4F6"/>
                    </a:solidFill>
                  </a:tcPr>
                </a:tc>
                <a:tc>
                  <a:txBody>
                    <a:bodyPr wrap="square"/>
                    <a:lstStyle/>
                    <a:p>
                      <a:pPr>
                        <a:lnSpc>
                          <a:spcPct val="100000"/>
                        </a:lnSpc>
                      </a:pPr>
                      <a:r>
                        <a:rPr sz="1350" b="0" i="0">
                          <a:solidFill>
                            <a:srgbClr val="2E3A4A"/>
                          </a:solidFill>
                          <a:latin typeface="Montserrat"/>
                        </a:rPr>
                        <a:t>Não acontece quando o próximo é o lanche; às vezes a mesa é adiada</a:t>
                      </a:r>
                    </a:p>
                  </a:txBody>
                  <a:tcPr marL="114300" marR="114300" marT="68580" marB="68580" anchor="ctr">
                    <a:solidFill>
                      <a:srgbClr val="F1F4F6"/>
                    </a:solidFill>
                  </a:tcPr>
                </a:tc>
                <a:tc>
                  <a:txBody>
                    <a:bodyPr wrap="square"/>
                    <a:lstStyle/>
                    <a:p>
                      <a:pPr>
                        <a:lnSpc>
                          <a:spcPct val="100000"/>
                        </a:lnSpc>
                      </a:pPr>
                      <a:r>
                        <a:rPr sz="1350" b="0" i="0">
                          <a:solidFill>
                            <a:srgbClr val="2E3A4A"/>
                          </a:solidFill>
                          <a:latin typeface="Montserrat"/>
                        </a:rPr>
                        <a:t>Em casa, o antecedente é o banho</a:t>
                      </a:r>
                    </a:p>
                  </a:txBody>
                  <a:tcPr marL="114300" marR="114300" marT="68580" marB="68580" anchor="ctr">
                    <a:solidFill>
                      <a:srgbClr val="F1F4F6"/>
                    </a:solidFill>
                  </a:tcPr>
                </a:tc>
              </a:tr>
              <a:tr h="647700">
                <a:tc>
                  <a:txBody>
                    <a:bodyPr wrap="square"/>
                    <a:lstStyle/>
                    <a:p>
                      <a:pPr>
                        <a:lnSpc>
                          <a:spcPct val="100000"/>
                        </a:lnSpc>
                      </a:pPr>
                      <a:r>
                        <a:rPr sz="1350" b="1" i="0">
                          <a:solidFill>
                            <a:srgbClr val="2E3A4A"/>
                          </a:solidFill>
                          <a:latin typeface="Montserrat"/>
                        </a:rPr>
                        <a:t>As duas juntas</a:t>
                      </a:r>
                    </a:p>
                  </a:txBody>
                  <a:tcPr marL="114300" marR="114300" marT="68580" marB="68580" anchor="ctr">
                    <a:solidFill>
                      <a:srgbClr val="FFFFFF"/>
                    </a:solidFill>
                  </a:tcPr>
                </a:tc>
                <a:tc>
                  <a:txBody>
                    <a:bodyPr wrap="square"/>
                    <a:lstStyle/>
                    <a:p>
                      <a:pPr>
                        <a:lnSpc>
                          <a:spcPct val="100000"/>
                        </a:lnSpc>
                      </a:pPr>
                      <a:r>
                        <a:rPr sz="1350" b="0" i="0">
                          <a:solidFill>
                            <a:srgbClr val="2E3A4A"/>
                          </a:solidFill>
                          <a:latin typeface="Montserrat"/>
                        </a:rPr>
                        <a:t>Os dois antecedentes acontecem ao mesmo tempo</a:t>
                      </a:r>
                    </a:p>
                  </a:txBody>
                  <a:tcPr marL="114300" marR="114300" marT="68580" marB="68580" anchor="ctr">
                    <a:solidFill>
                      <a:srgbClr val="FFFFFF"/>
                    </a:solidFill>
                  </a:tcPr>
                </a:tc>
                <a:tc>
                  <a:txBody>
                    <a:bodyPr wrap="square"/>
                    <a:lstStyle/>
                    <a:p>
                      <a:pPr>
                        <a:lnSpc>
                          <a:spcPct val="100000"/>
                        </a:lnSpc>
                      </a:pPr>
                      <a:r>
                        <a:rPr sz="1350" b="0" i="0">
                          <a:solidFill>
                            <a:srgbClr val="2E3A4A"/>
                          </a:solidFill>
                          <a:latin typeface="Montserrat"/>
                        </a:rPr>
                        <a:t>Precisa de avaliação</a:t>
                      </a:r>
                    </a:p>
                  </a:txBody>
                  <a:tcPr marL="114300" marR="114300" marT="68580" marB="68580" anchor="ctr">
                    <a:solidFill>
                      <a:srgbClr val="FFFFFF"/>
                    </a:solidFill>
                  </a:tcPr>
                </a:tc>
              </a:tr>
              <a:tr h="438150">
                <a:tc>
                  <a:txBody>
                    <a:bodyPr wrap="square"/>
                    <a:lstStyle/>
                    <a:p>
                      <a:pPr>
                        <a:lnSpc>
                          <a:spcPct val="100000"/>
                        </a:lnSpc>
                      </a:pPr>
                      <a:r>
                        <a:rPr sz="1350" b="1" i="0">
                          <a:solidFill>
                            <a:srgbClr val="2E3A4A"/>
                          </a:solidFill>
                          <a:latin typeface="Montserrat"/>
                        </a:rPr>
                        <a:t>Quer atenção</a:t>
                      </a:r>
                    </a:p>
                  </a:txBody>
                  <a:tcPr marL="114300" marR="114300" marT="68580" marB="68580" anchor="ctr">
                    <a:solidFill>
                      <a:srgbClr val="F1F4F6"/>
                    </a:solidFill>
                  </a:tcPr>
                </a:tc>
                <a:tc>
                  <a:txBody>
                    <a:bodyPr wrap="square"/>
                    <a:lstStyle/>
                    <a:p>
                      <a:pPr>
                        <a:lnSpc>
                          <a:spcPct val="100000"/>
                        </a:lnSpc>
                      </a:pPr>
                      <a:r>
                        <a:rPr sz="1350" b="0" i="0">
                          <a:solidFill>
                            <a:srgbClr val="2E3A4A"/>
                          </a:solidFill>
                          <a:latin typeface="Montserrat"/>
                        </a:rPr>
                        <a:t>Possível atenção durante o episódio</a:t>
                      </a:r>
                    </a:p>
                  </a:txBody>
                  <a:tcPr marL="114300" marR="114300" marT="68580" marB="68580" anchor="ctr">
                    <a:solidFill>
                      <a:srgbClr val="F1F4F6"/>
                    </a:solidFill>
                  </a:tcPr>
                </a:tc>
                <a:tc>
                  <a:txBody>
                    <a:bodyPr wrap="square"/>
                    <a:lstStyle/>
                    <a:p>
                      <a:pPr>
                        <a:lnSpc>
                          <a:spcPct val="100000"/>
                        </a:lnSpc>
                      </a:pPr>
                      <a:r>
                        <a:rPr sz="1350" b="0" i="0">
                          <a:solidFill>
                            <a:srgbClr val="2E3A4A"/>
                          </a:solidFill>
                          <a:latin typeface="Montserrat"/>
                        </a:rPr>
                        <a:t>Nenhum dado mostra isso</a:t>
                      </a:r>
                    </a:p>
                  </a:txBody>
                  <a:tcPr marL="114300" marR="114300" marT="68580" marB="68580" anchor="ctr">
                    <a:solidFill>
                      <a:srgbClr val="F1F4F6"/>
                    </a:solidFill>
                  </a:tcPr>
                </a:tc>
              </a:tr>
            </a:tbl>
          </a:graphicData>
        </a:graphic>
      </p:graphicFrame>
      <p:sp>
        <p:nvSpPr>
          <p:cNvPr id="5" name="TextBox 4"/>
          <p:cNvSpPr txBox="1"/>
          <p:nvPr/>
        </p:nvSpPr>
        <p:spPr>
          <a:xfrm>
            <a:off x="1168400" y="4865092"/>
            <a:ext cx="10307828" cy="561181"/>
          </a:xfrm>
          <a:prstGeom prst="rect">
            <a:avLst/>
          </a:prstGeom>
          <a:noFill/>
        </p:spPr>
        <p:txBody>
          <a:bodyPr wrap="square" lIns="0" rIns="0" tIns="0" bIns="0" anchor="t">
            <a:noAutofit/>
          </a:bodyPr>
          <a:lstStyle/>
          <a:p>
            <a:pPr algn="l">
              <a:lnSpc>
                <a:spcPct val="107000"/>
              </a:lnSpc>
            </a:pPr>
            <a:r>
              <a:rPr sz="1700" b="1" i="0">
                <a:solidFill>
                  <a:srgbClr val="0F7C86"/>
                </a:solidFill>
                <a:latin typeface="Montserrat"/>
              </a:rPr>
              <a:t>O lanche é a pista: enfraquece “quer os trilhos” e fortalece “foge da mesa” (ou as duas juntas).</a:t>
            </a:r>
          </a:p>
        </p:txBody>
      </p:sp>
      <p:sp>
        <p:nvSpPr>
          <p:cNvPr id="6" name="TextBox 5"/>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66717F"/>
                </a:solidFill>
                <a:latin typeface="Montserrat"/>
              </a:rPr>
              <a:t>36b</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77800" cy="6858000"/>
          </a:xfrm>
          <a:prstGeom prst="rect">
            <a:avLst/>
          </a:prstGeom>
          <a:solidFill>
            <a:srgbClr val="0F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1343720"/>
            <a:ext cx="10307828" cy="817761"/>
          </a:xfrm>
          <a:prstGeom prst="rect">
            <a:avLst/>
          </a:prstGeom>
          <a:noFill/>
        </p:spPr>
        <p:txBody>
          <a:bodyPr wrap="square" lIns="0" rIns="0" tIns="0" bIns="0" anchor="t">
            <a:noAutofit/>
          </a:bodyPr>
          <a:lstStyle/>
          <a:p>
            <a:pPr algn="l">
              <a:lnSpc>
                <a:spcPct val="94000"/>
              </a:lnSpc>
            </a:pPr>
            <a:r>
              <a:rPr sz="2800" b="1" i="0">
                <a:solidFill>
                  <a:srgbClr val="1B2F4B"/>
                </a:solidFill>
                <a:latin typeface="Montserrat"/>
              </a:rPr>
              <a:t>Respostas 5: o que fazer, e se a explicação estiver errada?</a:t>
            </a:r>
          </a:p>
        </p:txBody>
      </p:sp>
      <p:graphicFrame>
        <p:nvGraphicFramePr>
          <p:cNvPr id="4" name="Table 3"/>
          <p:cNvGraphicFramePr>
            <a:graphicFrameLocks noGrp="1"/>
          </p:cNvGraphicFramePr>
          <p:nvPr/>
        </p:nvGraphicFramePr>
        <p:xfrm>
          <a:off x="1168400" y="2415480"/>
          <a:ext cx="10007600" cy="2324100"/>
        </p:xfrm>
        <a:graphic>
          <a:graphicData uri="http://schemas.openxmlformats.org/drawingml/2006/table">
            <a:tbl>
              <a:tblPr firstRow="0" bandRow="0">
                <a:tableStyleId>{2D5ABB26-0587-4C30-8999-92F81FD0307C}</a:tableStyleId>
              </a:tblPr>
              <a:tblGrid>
                <a:gridCol w="5203924"/>
                <a:gridCol w="4803676"/>
              </a:tblGrid>
              <a:tr h="463550">
                <a:tc>
                  <a:txBody>
                    <a:bodyPr wrap="square"/>
                    <a:lstStyle/>
                    <a:p>
                      <a:pPr>
                        <a:lnSpc>
                          <a:spcPct val="100000"/>
                        </a:lnSpc>
                      </a:pPr>
                      <a:r>
                        <a:rPr sz="1500" b="1" i="0">
                          <a:solidFill>
                            <a:srgbClr val="FFFFFF"/>
                          </a:solidFill>
                          <a:latin typeface="Montserrat"/>
                        </a:rPr>
                        <a:t>Se a explicação for…, podemos…</a:t>
                      </a:r>
                    </a:p>
                  </a:txBody>
                  <a:tcPr marL="114300" marR="114300" marT="68580" marB="68580" anchor="ctr">
                    <a:solidFill>
                      <a:srgbClr val="1B2F4B"/>
                    </a:solidFill>
                  </a:tcPr>
                </a:tc>
                <a:tc>
                  <a:txBody>
                    <a:bodyPr wrap="square"/>
                    <a:lstStyle/>
                    <a:p>
                      <a:pPr>
                        <a:lnSpc>
                          <a:spcPct val="100000"/>
                        </a:lnSpc>
                      </a:pPr>
                      <a:r>
                        <a:rPr sz="1500" b="1" i="0">
                          <a:solidFill>
                            <a:srgbClr val="FFFFFF"/>
                          </a:solidFill>
                          <a:latin typeface="Montserrat"/>
                        </a:rPr>
                        <a:t>Se a explicação estiver errada…</a:t>
                      </a:r>
                    </a:p>
                  </a:txBody>
                  <a:tcPr marL="114300" marR="114300" marT="68580" marB="68580" anchor="ctr">
                    <a:solidFill>
                      <a:srgbClr val="1B2F4B"/>
                    </a:solidFill>
                  </a:tcPr>
                </a:tc>
              </a:tr>
              <a:tr h="698500">
                <a:tc>
                  <a:txBody>
                    <a:bodyPr wrap="square"/>
                    <a:lstStyle/>
                    <a:p>
                      <a:pPr>
                        <a:lnSpc>
                          <a:spcPct val="100000"/>
                        </a:lnSpc>
                      </a:pPr>
                      <a:r>
                        <a:rPr sz="1500" b="1" i="0">
                          <a:solidFill>
                            <a:srgbClr val="2E3A4A"/>
                          </a:solidFill>
                          <a:latin typeface="Montserrat"/>
                        </a:rPr>
                        <a:t>Quer os trilhos:</a:t>
                      </a:r>
                      <a:r>
                        <a:rPr sz="1500" b="0" i="0">
                          <a:solidFill>
                            <a:srgbClr val="2E3A4A"/>
                          </a:solidFill>
                          <a:latin typeface="Montserrat"/>
                        </a:rPr>
                        <a:t> “primeiro mesa, depois trem”; ensinar a pedir “mais trem” e a esperar</a:t>
                      </a:r>
                    </a:p>
                  </a:txBody>
                  <a:tcPr marL="114300" marR="114300" marT="68580" marB="68580" anchor="ctr">
                    <a:solidFill>
                      <a:srgbClr val="FFFFFF"/>
                    </a:solidFill>
                  </a:tcPr>
                </a:tc>
                <a:tc>
                  <a:txBody>
                    <a:bodyPr wrap="square"/>
                    <a:lstStyle/>
                    <a:p>
                      <a:pPr>
                        <a:lnSpc>
                          <a:spcPct val="100000"/>
                        </a:lnSpc>
                      </a:pPr>
                      <a:r>
                        <a:rPr sz="1500" b="0" i="0">
                          <a:solidFill>
                            <a:srgbClr val="2E3A4A"/>
                          </a:solidFill>
                          <a:latin typeface="Montserrat"/>
                        </a:rPr>
                        <a:t>Se na verdade ele foge da mesa: pouco efeito, a mesa continua difícil</a:t>
                      </a:r>
                    </a:p>
                  </a:txBody>
                  <a:tcPr marL="114300" marR="114300" marT="68580" marB="68580" anchor="ctr">
                    <a:solidFill>
                      <a:srgbClr val="FFFFFF"/>
                    </a:solidFill>
                  </a:tcPr>
                </a:tc>
              </a:tr>
              <a:tr h="698500">
                <a:tc>
                  <a:txBody>
                    <a:bodyPr wrap="square"/>
                    <a:lstStyle/>
                    <a:p>
                      <a:pPr>
                        <a:lnSpc>
                          <a:spcPct val="100000"/>
                        </a:lnSpc>
                      </a:pPr>
                      <a:r>
                        <a:rPr sz="1500" b="1" i="0">
                          <a:solidFill>
                            <a:srgbClr val="2E3A4A"/>
                          </a:solidFill>
                          <a:latin typeface="Montserrat"/>
                        </a:rPr>
                        <a:t>Foge da mesa:</a:t>
                      </a:r>
                      <a:r>
                        <a:rPr sz="1500" b="0" i="0">
                          <a:solidFill>
                            <a:srgbClr val="2E3A4A"/>
                          </a:solidFill>
                          <a:latin typeface="Montserrat"/>
                        </a:rPr>
                        <a:t> tarefa mais curta, com tema de trens; ensinar a pedir “pausa”</a:t>
                      </a:r>
                    </a:p>
                  </a:txBody>
                  <a:tcPr marL="114300" marR="114300" marT="68580" marB="68580" anchor="ctr">
                    <a:solidFill>
                      <a:srgbClr val="F1F4F6"/>
                    </a:solidFill>
                  </a:tcPr>
                </a:tc>
                <a:tc>
                  <a:txBody>
                    <a:bodyPr wrap="square"/>
                    <a:lstStyle/>
                    <a:p>
                      <a:pPr>
                        <a:lnSpc>
                          <a:spcPct val="100000"/>
                        </a:lnSpc>
                      </a:pPr>
                      <a:r>
                        <a:rPr sz="1500" b="0" i="0">
                          <a:solidFill>
                            <a:srgbClr val="2E3A4A"/>
                          </a:solidFill>
                          <a:latin typeface="Montserrat"/>
                        </a:rPr>
                        <a:t>Se na verdade ele quer os trilhos: o comportamento na hora de guardar continua</a:t>
                      </a:r>
                    </a:p>
                  </a:txBody>
                  <a:tcPr marL="114300" marR="114300" marT="68580" marB="68580" anchor="ctr">
                    <a:solidFill>
                      <a:srgbClr val="F1F4F6"/>
                    </a:solidFill>
                  </a:tcPr>
                </a:tc>
              </a:tr>
              <a:tr h="463550">
                <a:tc>
                  <a:txBody>
                    <a:bodyPr wrap="square"/>
                    <a:lstStyle/>
                    <a:p>
                      <a:pPr>
                        <a:lnSpc>
                          <a:spcPct val="100000"/>
                        </a:lnSpc>
                      </a:pPr>
                      <a:r>
                        <a:rPr sz="1500" b="0" i="0">
                          <a:solidFill>
                            <a:srgbClr val="2E3A4A"/>
                          </a:solidFill>
                          <a:latin typeface="Montserrat"/>
                        </a:rPr>
                        <a:t>Adiar a mesa quando ele grita, “para acalmar”</a:t>
                      </a:r>
                    </a:p>
                  </a:txBody>
                  <a:tcPr marL="114300" marR="114300" marT="68580" marB="68580" anchor="ctr">
                    <a:solidFill>
                      <a:srgbClr val="FFFFFF"/>
                    </a:solidFill>
                  </a:tcPr>
                </a:tc>
                <a:tc>
                  <a:txBody>
                    <a:bodyPr wrap="square"/>
                    <a:lstStyle/>
                    <a:p>
                      <a:pPr>
                        <a:lnSpc>
                          <a:spcPct val="100000"/>
                        </a:lnSpc>
                      </a:pPr>
                      <a:r>
                        <a:rPr sz="1500" b="1" i="0">
                          <a:solidFill>
                            <a:srgbClr val="2E3A4A"/>
                          </a:solidFill>
                          <a:latin typeface="Montserrat"/>
                        </a:rPr>
                        <a:t>Piora:</a:t>
                      </a:r>
                      <a:r>
                        <a:rPr sz="1500" b="0" i="0">
                          <a:solidFill>
                            <a:srgbClr val="2E3A4A"/>
                          </a:solidFill>
                          <a:latin typeface="Montserrat"/>
                        </a:rPr>
                        <a:t> ele aprende que gritar funciona</a:t>
                      </a:r>
                    </a:p>
                  </a:txBody>
                  <a:tcPr marL="114300" marR="114300" marT="68580" marB="68580" anchor="ctr">
                    <a:solidFill>
                      <a:srgbClr val="FFFFFF"/>
                    </a:solidFill>
                  </a:tcPr>
                </a:tc>
              </a:tr>
            </a:tbl>
          </a:graphicData>
        </a:graphic>
      </p:graphicFrame>
      <p:sp>
        <p:nvSpPr>
          <p:cNvPr id="5" name="TextBox 4"/>
          <p:cNvSpPr txBox="1"/>
          <p:nvPr/>
        </p:nvSpPr>
        <p:spPr>
          <a:xfrm>
            <a:off x="1168400" y="4993580"/>
            <a:ext cx="10307828" cy="330200"/>
          </a:xfrm>
          <a:prstGeom prst="rect">
            <a:avLst/>
          </a:prstGeom>
          <a:noFill/>
        </p:spPr>
        <p:txBody>
          <a:bodyPr wrap="square" lIns="0" rIns="0" tIns="0" bIns="0" anchor="t">
            <a:noAutofit/>
          </a:bodyPr>
          <a:lstStyle/>
          <a:p>
            <a:pPr algn="l">
              <a:lnSpc>
                <a:spcPct val="107000"/>
              </a:lnSpc>
            </a:pPr>
            <a:r>
              <a:rPr sz="2000" b="1" i="0">
                <a:solidFill>
                  <a:srgbClr val="0F7C86"/>
                </a:solidFill>
                <a:latin typeface="Montserrat"/>
              </a:rPr>
              <a:t>Errar a explicação pode ensinar o contrário do que queremos.</a:t>
            </a:r>
          </a:p>
        </p:txBody>
      </p:sp>
      <p:sp>
        <p:nvSpPr>
          <p:cNvPr id="6" name="TextBox 5"/>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66717F"/>
                </a:solidFill>
                <a:latin typeface="Montserrat"/>
              </a:rPr>
              <a:t>36c</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77800" cy="6858000"/>
          </a:xfrm>
          <a:prstGeom prst="rect">
            <a:avLst/>
          </a:prstGeom>
          <a:solidFill>
            <a:srgbClr val="0F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1872357"/>
            <a:ext cx="10307828" cy="481905"/>
          </a:xfrm>
          <a:prstGeom prst="rect">
            <a:avLst/>
          </a:prstGeom>
          <a:noFill/>
        </p:spPr>
        <p:txBody>
          <a:bodyPr wrap="square" lIns="0" rIns="0" tIns="0" bIns="0" anchor="t">
            <a:noAutofit/>
          </a:bodyPr>
          <a:lstStyle/>
          <a:p>
            <a:pPr algn="l">
              <a:lnSpc>
                <a:spcPct val="94000"/>
              </a:lnSpc>
            </a:pPr>
            <a:r>
              <a:rPr sz="3300" b="1" i="0">
                <a:solidFill>
                  <a:srgbClr val="1B2F4B"/>
                </a:solidFill>
                <a:latin typeface="Montserrat"/>
              </a:rPr>
              <a:t>Respostas 6: tirar os trilhos de vez?</a:t>
            </a:r>
          </a:p>
        </p:txBody>
      </p:sp>
      <p:sp>
        <p:nvSpPr>
          <p:cNvPr id="4" name="TextBox 3"/>
          <p:cNvSpPr txBox="1"/>
          <p:nvPr/>
        </p:nvSpPr>
        <p:spPr>
          <a:xfrm>
            <a:off x="1168400" y="2608262"/>
            <a:ext cx="10307828" cy="1619250"/>
          </a:xfrm>
          <a:prstGeom prst="rect">
            <a:avLst/>
          </a:prstGeom>
          <a:noFill/>
        </p:spPr>
        <p:txBody>
          <a:bodyPr wrap="square" lIns="0" rIns="0" tIns="0" bIns="0" anchor="t">
            <a:noAutofit/>
          </a:bodyPr>
          <a:lstStyle/>
          <a:p>
            <a:pPr algn="l" marL="279400" indent="-279400">
              <a:lnSpc>
                <a:spcPct val="123000"/>
              </a:lnSpc>
              <a:buChar char="•"/>
            </a:pPr>
            <a:r>
              <a:rPr sz="1700" b="1" i="0">
                <a:solidFill>
                  <a:srgbClr val="2E3A4A"/>
                </a:solidFill>
                <a:latin typeface="Montserrat"/>
              </a:rPr>
              <a:t>O interesse não é o problema:</a:t>
            </a:r>
            <a:r>
              <a:rPr sz="1700" b="0" i="0">
                <a:solidFill>
                  <a:srgbClr val="2E3A4A"/>
                </a:solidFill>
                <a:latin typeface="Montserrat"/>
              </a:rPr>
              <a:t> o problema é a transição e o que o comportamento consegue</a:t>
            </a:r>
          </a:p>
          <a:p>
            <a:pPr algn="l" marL="279400" indent="-279400">
              <a:lnSpc>
                <a:spcPct val="123000"/>
              </a:lnSpc>
              <a:buChar char="•"/>
            </a:pPr>
            <a:r>
              <a:rPr sz="1700" b="1" i="0">
                <a:solidFill>
                  <a:srgbClr val="2E3A4A"/>
                </a:solidFill>
                <a:latin typeface="Montserrat"/>
              </a:rPr>
              <a:t>Tirar não ensina nada novo:</a:t>
            </a:r>
            <a:r>
              <a:rPr sz="1700" b="0" i="0">
                <a:solidFill>
                  <a:srgbClr val="2E3A4A"/>
                </a:solidFill>
                <a:latin typeface="Montserrat"/>
              </a:rPr>
              <a:t> Theo continuaria sem saber pedir “mais” ou “pausa”</a:t>
            </a:r>
          </a:p>
          <a:p>
            <a:pPr algn="l" marL="279400" indent="-279400">
              <a:lnSpc>
                <a:spcPct val="123000"/>
              </a:lnSpc>
              <a:buChar char="•"/>
            </a:pPr>
            <a:r>
              <a:rPr sz="1700" b="1" i="0">
                <a:solidFill>
                  <a:srgbClr val="2E3A4A"/>
                </a:solidFill>
                <a:latin typeface="Montserrat"/>
              </a:rPr>
              <a:t>Pode não resolver:</a:t>
            </a:r>
            <a:r>
              <a:rPr sz="1700" b="0" i="0">
                <a:solidFill>
                  <a:srgbClr val="2E3A4A"/>
                </a:solidFill>
                <a:latin typeface="Montserrat"/>
              </a:rPr>
              <a:t> se a função for fugir da mesa, o comportamento continua</a:t>
            </a:r>
          </a:p>
          <a:p>
            <a:pPr algn="l" marL="279400" indent="-279400">
              <a:lnSpc>
                <a:spcPct val="123000"/>
              </a:lnSpc>
              <a:buChar char="•"/>
            </a:pPr>
            <a:r>
              <a:rPr sz="1700" b="1" i="0">
                <a:solidFill>
                  <a:srgbClr val="2E3A4A"/>
                </a:solidFill>
                <a:latin typeface="Montserrat"/>
              </a:rPr>
              <a:t>Os trens podem ser recurso:</a:t>
            </a:r>
            <a:r>
              <a:rPr sz="1700" b="0" i="0">
                <a:solidFill>
                  <a:srgbClr val="2E3A4A"/>
                </a:solidFill>
                <a:latin typeface="Montserrat"/>
              </a:rPr>
              <a:t> tarefas com tema de trem, trilhos combinados para depois</a:t>
            </a:r>
          </a:p>
        </p:txBody>
      </p:sp>
      <p:sp>
        <p:nvSpPr>
          <p:cNvPr id="5" name="TextBox 4"/>
          <p:cNvSpPr txBox="1"/>
          <p:nvPr/>
        </p:nvSpPr>
        <p:spPr>
          <a:xfrm>
            <a:off x="1168400" y="4481512"/>
            <a:ext cx="10307828" cy="313630"/>
          </a:xfrm>
          <a:prstGeom prst="rect">
            <a:avLst/>
          </a:prstGeom>
          <a:noFill/>
        </p:spPr>
        <p:txBody>
          <a:bodyPr wrap="square" lIns="0" rIns="0" tIns="0" bIns="0" anchor="t">
            <a:noAutofit/>
          </a:bodyPr>
          <a:lstStyle/>
          <a:p>
            <a:pPr algn="l">
              <a:lnSpc>
                <a:spcPct val="107000"/>
              </a:lnSpc>
            </a:pPr>
            <a:r>
              <a:rPr sz="1900" b="1" i="0">
                <a:solidFill>
                  <a:srgbClr val="0F7C86"/>
                </a:solidFill>
                <a:latin typeface="Montserrat"/>
              </a:rPr>
              <a:t>Acolher a família e decidir junto, com plano para casa e supervisão.</a:t>
            </a:r>
          </a:p>
        </p:txBody>
      </p:sp>
      <p:sp>
        <p:nvSpPr>
          <p:cNvPr id="6" name="TextBox 5"/>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66717F"/>
                </a:solidFill>
                <a:latin typeface="Montserrat"/>
              </a:rPr>
              <a:t>36d</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77800" cy="6858000"/>
          </a:xfrm>
          <a:prstGeom prst="rect">
            <a:avLst/>
          </a:prstGeom>
          <a:solidFill>
            <a:srgbClr val="0F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2094607"/>
            <a:ext cx="10307828" cy="481905"/>
          </a:xfrm>
          <a:prstGeom prst="rect">
            <a:avLst/>
          </a:prstGeom>
          <a:noFill/>
        </p:spPr>
        <p:txBody>
          <a:bodyPr wrap="square" lIns="0" rIns="0" tIns="0" bIns="0" anchor="t">
            <a:noAutofit/>
          </a:bodyPr>
          <a:lstStyle/>
          <a:p>
            <a:pPr algn="l">
              <a:lnSpc>
                <a:spcPct val="94000"/>
              </a:lnSpc>
            </a:pPr>
            <a:r>
              <a:rPr sz="3300" b="1" i="0">
                <a:solidFill>
                  <a:srgbClr val="1B2F4B"/>
                </a:solidFill>
                <a:latin typeface="Montserrat"/>
              </a:rPr>
              <a:t>Plenária: do comportamento à decisão</a:t>
            </a:r>
          </a:p>
        </p:txBody>
      </p:sp>
      <p:sp>
        <p:nvSpPr>
          <p:cNvPr id="4" name="TextBox 3"/>
          <p:cNvSpPr txBox="1"/>
          <p:nvPr/>
        </p:nvSpPr>
        <p:spPr>
          <a:xfrm>
            <a:off x="1168400" y="2906712"/>
            <a:ext cx="10307828" cy="660400"/>
          </a:xfrm>
          <a:prstGeom prst="rect">
            <a:avLst/>
          </a:prstGeom>
          <a:noFill/>
        </p:spPr>
        <p:txBody>
          <a:bodyPr wrap="square" lIns="0" rIns="0" tIns="0" bIns="0" anchor="t">
            <a:noAutofit/>
          </a:bodyPr>
          <a:lstStyle/>
          <a:p>
            <a:pPr algn="l">
              <a:lnSpc>
                <a:spcPct val="107000"/>
              </a:lnSpc>
            </a:pPr>
            <a:r>
              <a:rPr sz="2000" b="1" i="0">
                <a:solidFill>
                  <a:srgbClr val="0F7C86"/>
                </a:solidFill>
                <a:latin typeface="Montserrat"/>
              </a:rPr>
              <a:t>Comportamento → Antes e depois → Explicações possíveis → O que fazer → Cuidados éticos</a:t>
            </a:r>
          </a:p>
        </p:txBody>
      </p:sp>
      <p:sp>
        <p:nvSpPr>
          <p:cNvPr id="5" name="TextBox 4"/>
          <p:cNvSpPr txBox="1"/>
          <p:nvPr/>
        </p:nvSpPr>
        <p:spPr>
          <a:xfrm>
            <a:off x="1168400" y="3897312"/>
            <a:ext cx="10307828" cy="675481"/>
          </a:xfrm>
          <a:prstGeom prst="rect">
            <a:avLst/>
          </a:prstGeom>
          <a:noFill/>
        </p:spPr>
        <p:txBody>
          <a:bodyPr wrap="square" lIns="0" rIns="0" tIns="0" bIns="0" anchor="t">
            <a:noAutofit/>
          </a:bodyPr>
          <a:lstStyle/>
          <a:p>
            <a:pPr algn="l">
              <a:lnSpc>
                <a:spcPct val="115000"/>
              </a:lnSpc>
            </a:pPr>
            <a:r>
              <a:rPr sz="1900" b="0" i="0">
                <a:solidFill>
                  <a:srgbClr val="2E3A4A"/>
                </a:solidFill>
                <a:latin typeface="Montserrat"/>
              </a:rPr>
              <a:t>Uma história </a:t>
            </a:r>
            <a:r>
              <a:rPr sz="1900" b="1" i="0">
                <a:solidFill>
                  <a:srgbClr val="2E3A4A"/>
                </a:solidFill>
                <a:latin typeface="Montserrat"/>
              </a:rPr>
              <a:t>não permite concluir a função</a:t>
            </a:r>
            <a:r>
              <a:rPr sz="1900" b="0" i="0">
                <a:solidFill>
                  <a:srgbClr val="2E3A4A"/>
                </a:solidFill>
                <a:latin typeface="Montserrat"/>
              </a:rPr>
              <a:t>. Ela permite levantar hipóteses que precisam de avaliação.</a:t>
            </a:r>
          </a:p>
        </p:txBody>
      </p:sp>
      <p:sp>
        <p:nvSpPr>
          <p:cNvPr id="6" name="TextBox 5"/>
          <p:cNvSpPr txBox="1"/>
          <p:nvPr/>
        </p:nvSpPr>
        <p:spPr>
          <a:xfrm>
            <a:off x="1168400" y="6343650"/>
            <a:ext cx="9156700" cy="184150"/>
          </a:xfrm>
          <a:prstGeom prst="rect">
            <a:avLst/>
          </a:prstGeom>
          <a:noFill/>
        </p:spPr>
        <p:txBody>
          <a:bodyPr wrap="square" lIns="0" rIns="0" tIns="0" bIns="0" anchor="t">
            <a:noAutofit/>
          </a:bodyPr>
          <a:lstStyle/>
          <a:p>
            <a:pPr algn="l">
              <a:lnSpc>
                <a:spcPct val="98000"/>
              </a:lnSpc>
            </a:pPr>
            <a:r>
              <a:rPr sz="1200" b="0" i="0">
                <a:solidFill>
                  <a:srgbClr val="66717F"/>
                </a:solidFill>
                <a:latin typeface="Montserrat"/>
              </a:rPr>
              <a:t>Hanley et al. (2014)</a:t>
            </a:r>
          </a:p>
        </p:txBody>
      </p:sp>
      <p:sp>
        <p:nvSpPr>
          <p:cNvPr id="7" name="TextBox 6"/>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66717F"/>
                </a:solidFill>
                <a:latin typeface="Montserrat"/>
              </a:rPr>
              <a:t>37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77800" cy="6858000"/>
          </a:xfrm>
          <a:prstGeom prst="rect">
            <a:avLst/>
          </a:prstGeom>
          <a:solidFill>
            <a:srgbClr val="0F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1867198"/>
            <a:ext cx="10307828" cy="481905"/>
          </a:xfrm>
          <a:prstGeom prst="rect">
            <a:avLst/>
          </a:prstGeom>
          <a:noFill/>
        </p:spPr>
        <p:txBody>
          <a:bodyPr wrap="square" lIns="0" rIns="0" tIns="0" bIns="0" anchor="t">
            <a:noAutofit/>
          </a:bodyPr>
          <a:lstStyle/>
          <a:p>
            <a:pPr algn="l">
              <a:lnSpc>
                <a:spcPct val="94000"/>
              </a:lnSpc>
            </a:pPr>
            <a:r>
              <a:rPr sz="3300" b="1" i="0">
                <a:solidFill>
                  <a:srgbClr val="1B2F4B"/>
                </a:solidFill>
                <a:latin typeface="Montserrat"/>
              </a:rPr>
              <a:t>Cinco mensagens para levar</a:t>
            </a:r>
          </a:p>
        </p:txBody>
      </p:sp>
      <p:sp>
        <p:nvSpPr>
          <p:cNvPr id="4" name="TextBox 3"/>
          <p:cNvSpPr txBox="1"/>
          <p:nvPr/>
        </p:nvSpPr>
        <p:spPr>
          <a:xfrm>
            <a:off x="1168400" y="2628503"/>
            <a:ext cx="10307828" cy="2171700"/>
          </a:xfrm>
          <a:prstGeom prst="rect">
            <a:avLst/>
          </a:prstGeom>
          <a:noFill/>
        </p:spPr>
        <p:txBody>
          <a:bodyPr wrap="square" lIns="0" rIns="0" tIns="0" bIns="0" anchor="t">
            <a:noAutofit/>
          </a:bodyPr>
          <a:lstStyle/>
          <a:p>
            <a:pPr algn="l" marL="279400" indent="-279400">
              <a:lnSpc>
                <a:spcPct val="123000"/>
              </a:lnSpc>
              <a:buAutoNum type="arabicPeriod" startAt="1"/>
            </a:pPr>
            <a:r>
              <a:rPr sz="1900" b="0" i="0">
                <a:solidFill>
                  <a:srgbClr val="2E3A4A"/>
                </a:solidFill>
                <a:latin typeface="Montserrat"/>
              </a:rPr>
              <a:t>TEA é heterogêneo: </a:t>
            </a:r>
            <a:r>
              <a:rPr sz="1900" b="1" i="0">
                <a:solidFill>
                  <a:srgbClr val="2E3A4A"/>
                </a:solidFill>
                <a:latin typeface="Montserrat"/>
              </a:rPr>
              <a:t>o diagnóstico não define o plano</a:t>
            </a:r>
          </a:p>
          <a:p>
            <a:pPr algn="l" marL="279400" indent="-279400">
              <a:lnSpc>
                <a:spcPct val="123000"/>
              </a:lnSpc>
              <a:buAutoNum type="arabicPeriod" startAt="1"/>
            </a:pPr>
            <a:r>
              <a:rPr sz="1900" b="1" i="0">
                <a:solidFill>
                  <a:srgbClr val="2E3A4A"/>
                </a:solidFill>
                <a:latin typeface="Montserrat"/>
              </a:rPr>
              <a:t>Topografia descreve; função explica</a:t>
            </a:r>
          </a:p>
          <a:p>
            <a:pPr algn="l" marL="279400" indent="-279400">
              <a:lnSpc>
                <a:spcPct val="123000"/>
              </a:lnSpc>
              <a:buAutoNum type="arabicPeriod" startAt="1"/>
            </a:pPr>
            <a:r>
              <a:rPr sz="1900" b="1" i="0">
                <a:solidFill>
                  <a:srgbClr val="2E3A4A"/>
                </a:solidFill>
                <a:latin typeface="Montserrat"/>
              </a:rPr>
              <a:t>Avaliar vem antes de intervir</a:t>
            </a:r>
          </a:p>
          <a:p>
            <a:pPr algn="l" marL="279400" indent="-279400">
              <a:lnSpc>
                <a:spcPct val="123000"/>
              </a:lnSpc>
              <a:buAutoNum type="arabicPeriod" startAt="1"/>
            </a:pPr>
            <a:r>
              <a:rPr sz="1900" b="0" i="0">
                <a:solidFill>
                  <a:srgbClr val="2E3A4A"/>
                </a:solidFill>
                <a:latin typeface="Montserrat"/>
              </a:rPr>
              <a:t>Bons objetivos ampliam comunicação, participação, autonomia e qualidade de vida</a:t>
            </a:r>
          </a:p>
          <a:p>
            <a:pPr algn="l" marL="279400" indent="-279400">
              <a:lnSpc>
                <a:spcPct val="123000"/>
              </a:lnSpc>
              <a:buAutoNum type="arabicPeriod" startAt="1"/>
            </a:pPr>
            <a:r>
              <a:rPr sz="1900" b="0" i="0">
                <a:solidFill>
                  <a:srgbClr val="2E3A4A"/>
                </a:solidFill>
                <a:latin typeface="Montserrat"/>
              </a:rPr>
              <a:t>Raciocínio clínico exige </a:t>
            </a:r>
            <a:r>
              <a:rPr sz="1900" b="1" i="0">
                <a:solidFill>
                  <a:srgbClr val="2E3A4A"/>
                </a:solidFill>
                <a:latin typeface="Montserrat"/>
              </a:rPr>
              <a:t>evidência, individualização, ética e supervisão</a:t>
            </a:r>
          </a:p>
        </p:txBody>
      </p:sp>
      <p:sp>
        <p:nvSpPr>
          <p:cNvPr id="5" name="TextBox 4"/>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66717F"/>
                </a:solidFill>
                <a:latin typeface="Montserrat"/>
              </a:rPr>
              <a:t>38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B2F4B"/>
        </a:solidFill>
        <a:effectLst/>
      </p:bgPr>
    </p:bg>
    <p:spTree>
      <p:nvGrpSpPr>
        <p:cNvPr id="1" name=""/>
        <p:cNvGrpSpPr/>
        <p:nvPr/>
      </p:nvGrpSpPr>
      <p:grpSpPr/>
      <p:sp>
        <p:nvSpPr>
          <p:cNvPr id="2" name="TextBox 1"/>
          <p:cNvSpPr txBox="1"/>
          <p:nvPr/>
        </p:nvSpPr>
        <p:spPr>
          <a:xfrm>
            <a:off x="3196530" y="2881312"/>
            <a:ext cx="5972907" cy="1095375"/>
          </a:xfrm>
          <a:prstGeom prst="rect">
            <a:avLst/>
          </a:prstGeom>
          <a:noFill/>
        </p:spPr>
        <p:txBody>
          <a:bodyPr wrap="square" lIns="0" rIns="0" tIns="0" bIns="0" anchor="t">
            <a:noAutofit/>
          </a:bodyPr>
          <a:lstStyle/>
          <a:p>
            <a:pPr algn="ctr">
              <a:lnSpc>
                <a:spcPct val="94000"/>
              </a:lnSpc>
            </a:pPr>
            <a:r>
              <a:rPr sz="7500" b="1" i="0">
                <a:solidFill>
                  <a:srgbClr val="FFFFFF"/>
                </a:solidFill>
                <a:latin typeface="Montserrat"/>
              </a:rPr>
              <a:t>Perguntas?</a:t>
            </a:r>
          </a:p>
        </p:txBody>
      </p:sp>
      <p:sp>
        <p:nvSpPr>
          <p:cNvPr id="3" name="TextBox 2"/>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B8C4D2"/>
                </a:solidFill>
                <a:latin typeface="Montserrat"/>
              </a:rPr>
              <a:t>39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77800" cy="6858000"/>
          </a:xfrm>
          <a:prstGeom prst="rect">
            <a:avLst/>
          </a:prstGeom>
          <a:solidFill>
            <a:srgbClr val="0F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1305223"/>
            <a:ext cx="10307828" cy="481905"/>
          </a:xfrm>
          <a:prstGeom prst="rect">
            <a:avLst/>
          </a:prstGeom>
          <a:noFill/>
        </p:spPr>
        <p:txBody>
          <a:bodyPr wrap="square" lIns="0" rIns="0" tIns="0" bIns="0" anchor="t">
            <a:noAutofit/>
          </a:bodyPr>
          <a:lstStyle/>
          <a:p>
            <a:pPr algn="l">
              <a:lnSpc>
                <a:spcPct val="94000"/>
              </a:lnSpc>
            </a:pPr>
            <a:r>
              <a:rPr sz="3300" b="1" i="0">
                <a:solidFill>
                  <a:srgbClr val="1B2F4B"/>
                </a:solidFill>
                <a:latin typeface="Montserrat"/>
              </a:rPr>
              <a:t>Para aprofundar</a:t>
            </a:r>
          </a:p>
        </p:txBody>
      </p:sp>
      <p:graphicFrame>
        <p:nvGraphicFramePr>
          <p:cNvPr id="4" name="Table 3"/>
          <p:cNvGraphicFramePr>
            <a:graphicFrameLocks noGrp="1"/>
          </p:cNvGraphicFramePr>
          <p:nvPr/>
        </p:nvGraphicFramePr>
        <p:xfrm>
          <a:off x="1168400" y="2117328"/>
          <a:ext cx="10007600" cy="3244850"/>
        </p:xfrm>
        <a:graphic>
          <a:graphicData uri="http://schemas.openxmlformats.org/drawingml/2006/table">
            <a:tbl>
              <a:tblPr firstRow="0" bandRow="0">
                <a:tableStyleId>{2D5ABB26-0587-4C30-8999-92F81FD0307C}</a:tableStyleId>
              </a:tblPr>
              <a:tblGrid>
                <a:gridCol w="4803577"/>
                <a:gridCol w="5204023"/>
              </a:tblGrid>
              <a:tr h="463550">
                <a:tc>
                  <a:txBody>
                    <a:bodyPr wrap="square"/>
                    <a:lstStyle/>
                    <a:p>
                      <a:pPr>
                        <a:lnSpc>
                          <a:spcPct val="100000"/>
                        </a:lnSpc>
                      </a:pPr>
                      <a:r>
                        <a:rPr sz="1500" b="1" i="0">
                          <a:solidFill>
                            <a:srgbClr val="FFFFFF"/>
                          </a:solidFill>
                          <a:latin typeface="Montserrat"/>
                        </a:rPr>
                        <a:t>Leitura</a:t>
                      </a:r>
                    </a:p>
                  </a:txBody>
                  <a:tcPr marL="114300" marR="114300" marT="68580" marB="68580" anchor="ctr">
                    <a:solidFill>
                      <a:srgbClr val="1B2F4B"/>
                    </a:solidFill>
                  </a:tcPr>
                </a:tc>
                <a:tc>
                  <a:txBody>
                    <a:bodyPr wrap="square"/>
                    <a:lstStyle/>
                    <a:p>
                      <a:pPr>
                        <a:lnSpc>
                          <a:spcPct val="100000"/>
                        </a:lnSpc>
                      </a:pPr>
                      <a:r>
                        <a:rPr sz="1500" b="1" i="0">
                          <a:solidFill>
                            <a:srgbClr val="FFFFFF"/>
                          </a:solidFill>
                          <a:latin typeface="Montserrat"/>
                        </a:rPr>
                        <a:t>Tema</a:t>
                      </a:r>
                    </a:p>
                  </a:txBody>
                  <a:tcPr marL="114300" marR="114300" marT="68580" marB="68580" anchor="ctr">
                    <a:solidFill>
                      <a:srgbClr val="1B2F4B"/>
                    </a:solidFill>
                  </a:tcPr>
                </a:tc>
              </a:tr>
              <a:tr h="463550">
                <a:tc>
                  <a:txBody>
                    <a:bodyPr wrap="square"/>
                    <a:lstStyle/>
                    <a:p>
                      <a:pPr>
                        <a:lnSpc>
                          <a:spcPct val="100000"/>
                        </a:lnSpc>
                      </a:pPr>
                      <a:r>
                        <a:rPr sz="1500" b="0" i="0">
                          <a:solidFill>
                            <a:srgbClr val="2E3A4A"/>
                          </a:solidFill>
                          <a:latin typeface="Montserrat"/>
                        </a:rPr>
                        <a:t>Baer, Wolf &amp; Risley (1968)</a:t>
                      </a:r>
                    </a:p>
                  </a:txBody>
                  <a:tcPr marL="114300" marR="114300" marT="68580" marB="68580" anchor="ctr">
                    <a:solidFill>
                      <a:srgbClr val="FFFFFF"/>
                    </a:solidFill>
                  </a:tcPr>
                </a:tc>
                <a:tc>
                  <a:txBody>
                    <a:bodyPr wrap="square"/>
                    <a:lstStyle/>
                    <a:p>
                      <a:pPr>
                        <a:lnSpc>
                          <a:spcPct val="100000"/>
                        </a:lnSpc>
                      </a:pPr>
                      <a:r>
                        <a:rPr sz="1500" b="0" i="0">
                          <a:solidFill>
                            <a:srgbClr val="2E3A4A"/>
                          </a:solidFill>
                          <a:latin typeface="Montserrat"/>
                        </a:rPr>
                        <a:t>O que define a ABA</a:t>
                      </a:r>
                    </a:p>
                  </a:txBody>
                  <a:tcPr marL="114300" marR="114300" marT="68580" marB="68580" anchor="ctr">
                    <a:solidFill>
                      <a:srgbClr val="FFFFFF"/>
                    </a:solidFill>
                  </a:tcPr>
                </a:tc>
              </a:tr>
              <a:tr h="463550">
                <a:tc>
                  <a:txBody>
                    <a:bodyPr wrap="square"/>
                    <a:lstStyle/>
                    <a:p>
                      <a:pPr>
                        <a:lnSpc>
                          <a:spcPct val="100000"/>
                        </a:lnSpc>
                      </a:pPr>
                      <a:r>
                        <a:rPr sz="1500" b="0" i="0">
                          <a:solidFill>
                            <a:srgbClr val="2E3A4A"/>
                          </a:solidFill>
                          <a:latin typeface="Montserrat"/>
                        </a:rPr>
                        <a:t>Hanley (2012)</a:t>
                      </a:r>
                    </a:p>
                  </a:txBody>
                  <a:tcPr marL="114300" marR="114300" marT="68580" marB="68580" anchor="ctr">
                    <a:solidFill>
                      <a:srgbClr val="F1F4F6"/>
                    </a:solidFill>
                  </a:tcPr>
                </a:tc>
                <a:tc>
                  <a:txBody>
                    <a:bodyPr wrap="square"/>
                    <a:lstStyle/>
                    <a:p>
                      <a:pPr>
                        <a:lnSpc>
                          <a:spcPct val="100000"/>
                        </a:lnSpc>
                      </a:pPr>
                      <a:r>
                        <a:rPr sz="1500" b="0" i="0">
                          <a:solidFill>
                            <a:srgbClr val="2E3A4A"/>
                          </a:solidFill>
                          <a:latin typeface="Montserrat"/>
                        </a:rPr>
                        <a:t>Avaliação funcional na prática</a:t>
                      </a:r>
                    </a:p>
                  </a:txBody>
                  <a:tcPr marL="114300" marR="114300" marT="68580" marB="68580" anchor="ctr">
                    <a:solidFill>
                      <a:srgbClr val="F1F4F6"/>
                    </a:solidFill>
                  </a:tcPr>
                </a:tc>
              </a:tr>
              <a:tr h="463550">
                <a:tc>
                  <a:txBody>
                    <a:bodyPr wrap="square"/>
                    <a:lstStyle/>
                    <a:p>
                      <a:pPr>
                        <a:lnSpc>
                          <a:spcPct val="100000"/>
                        </a:lnSpc>
                      </a:pPr>
                      <a:r>
                        <a:rPr sz="1500" b="0" i="0">
                          <a:solidFill>
                            <a:srgbClr val="2E3A4A"/>
                          </a:solidFill>
                          <a:latin typeface="Montserrat"/>
                        </a:rPr>
                        <a:t>Tiger, Hanley &amp; Bruzek (2008)</a:t>
                      </a:r>
                    </a:p>
                  </a:txBody>
                  <a:tcPr marL="114300" marR="114300" marT="68580" marB="68580" anchor="ctr">
                    <a:solidFill>
                      <a:srgbClr val="FFFFFF"/>
                    </a:solidFill>
                  </a:tcPr>
                </a:tc>
                <a:tc>
                  <a:txBody>
                    <a:bodyPr wrap="square"/>
                    <a:lstStyle/>
                    <a:p>
                      <a:pPr>
                        <a:lnSpc>
                          <a:spcPct val="100000"/>
                        </a:lnSpc>
                      </a:pPr>
                      <a:r>
                        <a:rPr sz="1500" b="0" i="0">
                          <a:solidFill>
                            <a:srgbClr val="2E3A4A"/>
                          </a:solidFill>
                          <a:latin typeface="Montserrat"/>
                        </a:rPr>
                        <a:t>Treino de Comunicação Funcional</a:t>
                      </a:r>
                    </a:p>
                  </a:txBody>
                  <a:tcPr marL="114300" marR="114300" marT="68580" marB="68580" anchor="ctr">
                    <a:solidFill>
                      <a:srgbClr val="FFFFFF"/>
                    </a:solidFill>
                  </a:tcPr>
                </a:tc>
              </a:tr>
              <a:tr h="463550">
                <a:tc>
                  <a:txBody>
                    <a:bodyPr wrap="square"/>
                    <a:lstStyle/>
                    <a:p>
                      <a:pPr>
                        <a:lnSpc>
                          <a:spcPct val="100000"/>
                        </a:lnSpc>
                      </a:pPr>
                      <a:r>
                        <a:rPr sz="1500" b="0" i="0">
                          <a:solidFill>
                            <a:srgbClr val="2E3A4A"/>
                          </a:solidFill>
                          <a:latin typeface="Montserrat"/>
                        </a:rPr>
                        <a:t>Schreibman et al. (2015)</a:t>
                      </a:r>
                    </a:p>
                  </a:txBody>
                  <a:tcPr marL="114300" marR="114300" marT="68580" marB="68580" anchor="ctr">
                    <a:solidFill>
                      <a:srgbClr val="F1F4F6"/>
                    </a:solidFill>
                  </a:tcPr>
                </a:tc>
                <a:tc>
                  <a:txBody>
                    <a:bodyPr wrap="square"/>
                    <a:lstStyle/>
                    <a:p>
                      <a:pPr>
                        <a:lnSpc>
                          <a:spcPct val="100000"/>
                        </a:lnSpc>
                      </a:pPr>
                      <a:r>
                        <a:rPr sz="1500" b="0" i="0">
                          <a:solidFill>
                            <a:srgbClr val="2E3A4A"/>
                          </a:solidFill>
                          <a:latin typeface="Montserrat"/>
                        </a:rPr>
                        <a:t>Intervenções naturalísticas (NDBI)</a:t>
                      </a:r>
                    </a:p>
                  </a:txBody>
                  <a:tcPr marL="114300" marR="114300" marT="68580" marB="68580" anchor="ctr">
                    <a:solidFill>
                      <a:srgbClr val="F1F4F6"/>
                    </a:solidFill>
                  </a:tcPr>
                </a:tc>
              </a:tr>
              <a:tr h="463550">
                <a:tc>
                  <a:txBody>
                    <a:bodyPr wrap="square"/>
                    <a:lstStyle/>
                    <a:p>
                      <a:pPr>
                        <a:lnSpc>
                          <a:spcPct val="100000"/>
                        </a:lnSpc>
                      </a:pPr>
                      <a:r>
                        <a:rPr sz="1500" b="0" i="0">
                          <a:solidFill>
                            <a:srgbClr val="2E3A4A"/>
                          </a:solidFill>
                          <a:latin typeface="Montserrat"/>
                        </a:rPr>
                        <a:t>Sandbank et al. (2020)</a:t>
                      </a:r>
                    </a:p>
                  </a:txBody>
                  <a:tcPr marL="114300" marR="114300" marT="68580" marB="68580" anchor="ctr">
                    <a:solidFill>
                      <a:srgbClr val="FFFFFF"/>
                    </a:solidFill>
                  </a:tcPr>
                </a:tc>
                <a:tc>
                  <a:txBody>
                    <a:bodyPr wrap="square"/>
                    <a:lstStyle/>
                    <a:p>
                      <a:pPr>
                        <a:lnSpc>
                          <a:spcPct val="100000"/>
                        </a:lnSpc>
                      </a:pPr>
                      <a:r>
                        <a:rPr sz="1500" b="0" i="0">
                          <a:solidFill>
                            <a:srgbClr val="2E3A4A"/>
                          </a:solidFill>
                          <a:latin typeface="Montserrat"/>
                        </a:rPr>
                        <a:t>Qualidade da evidência em intervenção precoce</a:t>
                      </a:r>
                    </a:p>
                  </a:txBody>
                  <a:tcPr marL="114300" marR="114300" marT="68580" marB="68580" anchor="ctr">
                    <a:solidFill>
                      <a:srgbClr val="FFFFFF"/>
                    </a:solidFill>
                  </a:tcPr>
                </a:tc>
              </a:tr>
              <a:tr h="463550">
                <a:tc>
                  <a:txBody>
                    <a:bodyPr wrap="square"/>
                    <a:lstStyle/>
                    <a:p>
                      <a:pPr>
                        <a:lnSpc>
                          <a:spcPct val="100000"/>
                        </a:lnSpc>
                      </a:pPr>
                      <a:r>
                        <a:rPr sz="1500" b="0" i="0">
                          <a:solidFill>
                            <a:srgbClr val="2E3A4A"/>
                          </a:solidFill>
                          <a:latin typeface="Montserrat"/>
                        </a:rPr>
                        <a:t>Breaux &amp; Smith (2023)</a:t>
                      </a:r>
                    </a:p>
                  </a:txBody>
                  <a:tcPr marL="114300" marR="114300" marT="68580" marB="68580" anchor="ctr">
                    <a:solidFill>
                      <a:srgbClr val="F1F4F6"/>
                    </a:solidFill>
                  </a:tcPr>
                </a:tc>
                <a:tc>
                  <a:txBody>
                    <a:bodyPr wrap="square"/>
                    <a:lstStyle/>
                    <a:p>
                      <a:pPr>
                        <a:lnSpc>
                          <a:spcPct val="100000"/>
                        </a:lnSpc>
                      </a:pPr>
                      <a:r>
                        <a:rPr sz="1500" b="0" i="0">
                          <a:solidFill>
                            <a:srgbClr val="2E3A4A"/>
                          </a:solidFill>
                          <a:latin typeface="Montserrat"/>
                        </a:rPr>
                        <a:t>Assentimento</a:t>
                      </a:r>
                    </a:p>
                  </a:txBody>
                  <a:tcPr marL="114300" marR="114300" marT="68580" marB="68580" anchor="ctr">
                    <a:solidFill>
                      <a:srgbClr val="F1F4F6"/>
                    </a:solidFill>
                  </a:tcPr>
                </a:tc>
              </a:tr>
            </a:tbl>
          </a:graphicData>
        </a:graphic>
      </p:graphicFrame>
      <p:sp>
        <p:nvSpPr>
          <p:cNvPr id="5" name="TextBox 4"/>
          <p:cNvSpPr txBox="1"/>
          <p:nvPr/>
        </p:nvSpPr>
        <p:spPr>
          <a:xfrm>
            <a:off x="1168400" y="6343650"/>
            <a:ext cx="9156700" cy="184150"/>
          </a:xfrm>
          <a:prstGeom prst="rect">
            <a:avLst/>
          </a:prstGeom>
          <a:noFill/>
        </p:spPr>
        <p:txBody>
          <a:bodyPr wrap="square" lIns="0" rIns="0" tIns="0" bIns="0" anchor="t">
            <a:noAutofit/>
          </a:bodyPr>
          <a:lstStyle/>
          <a:p>
            <a:pPr algn="l">
              <a:lnSpc>
                <a:spcPct val="98000"/>
              </a:lnSpc>
            </a:pPr>
            <a:r>
              <a:rPr sz="1200" b="0" i="0">
                <a:solidFill>
                  <a:srgbClr val="66717F"/>
                </a:solidFill>
                <a:latin typeface="Montserrat"/>
              </a:rPr>
              <a:t>Referências completas nos slides finais</a:t>
            </a:r>
          </a:p>
        </p:txBody>
      </p:sp>
      <p:sp>
        <p:nvSpPr>
          <p:cNvPr id="6" name="TextBox 5"/>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66717F"/>
                </a:solidFill>
                <a:latin typeface="Montserrat"/>
              </a:rPr>
              <a:t>40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1B2F4B"/>
        </a:solidFill>
        <a:effectLst/>
      </p:bgPr>
    </p:bg>
    <p:spTree>
      <p:nvGrpSpPr>
        <p:cNvPr id="1" name=""/>
        <p:cNvGrpSpPr/>
        <p:nvPr/>
      </p:nvGrpSpPr>
      <p:grpSpPr/>
      <p:sp>
        <p:nvSpPr>
          <p:cNvPr id="2" name="TextBox 1"/>
          <p:cNvSpPr txBox="1"/>
          <p:nvPr/>
        </p:nvSpPr>
        <p:spPr>
          <a:xfrm>
            <a:off x="5217517" y="2290762"/>
            <a:ext cx="1809675" cy="355600"/>
          </a:xfrm>
          <a:prstGeom prst="rect">
            <a:avLst/>
          </a:prstGeom>
          <a:noFill/>
        </p:spPr>
        <p:txBody>
          <a:bodyPr wrap="square" lIns="0" rIns="0" tIns="0" bIns="0" anchor="t">
            <a:noAutofit/>
          </a:bodyPr>
          <a:lstStyle/>
          <a:p>
            <a:pPr algn="ctr">
              <a:lnSpc>
                <a:spcPct val="115000"/>
              </a:lnSpc>
            </a:pPr>
            <a:r>
              <a:rPr sz="2000" b="0" i="0">
                <a:solidFill>
                  <a:srgbClr val="D8E1EA"/>
                </a:solidFill>
                <a:latin typeface="Montserrat"/>
              </a:rPr>
              <a:t>Betina Binatti</a:t>
            </a:r>
          </a:p>
        </p:txBody>
      </p:sp>
      <p:sp>
        <p:nvSpPr>
          <p:cNvPr id="3" name="TextBox 2"/>
          <p:cNvSpPr txBox="1"/>
          <p:nvPr/>
        </p:nvSpPr>
        <p:spPr>
          <a:xfrm>
            <a:off x="3589933" y="2925762"/>
            <a:ext cx="5162498" cy="1095375"/>
          </a:xfrm>
          <a:prstGeom prst="rect">
            <a:avLst/>
          </a:prstGeom>
          <a:noFill/>
        </p:spPr>
        <p:txBody>
          <a:bodyPr wrap="square" lIns="0" rIns="0" tIns="0" bIns="0" anchor="t">
            <a:noAutofit/>
          </a:bodyPr>
          <a:lstStyle/>
          <a:p>
            <a:pPr algn="ctr">
              <a:lnSpc>
                <a:spcPct val="94000"/>
              </a:lnSpc>
            </a:pPr>
            <a:r>
              <a:rPr sz="7500" b="1" i="0">
                <a:solidFill>
                  <a:srgbClr val="FFFFFF"/>
                </a:solidFill>
                <a:latin typeface="Montserrat"/>
              </a:rPr>
              <a:t>Obrigada!</a:t>
            </a:r>
          </a:p>
        </p:txBody>
      </p:sp>
      <p:sp>
        <p:nvSpPr>
          <p:cNvPr id="4" name="TextBox 3"/>
          <p:cNvSpPr txBox="1"/>
          <p:nvPr/>
        </p:nvSpPr>
        <p:spPr>
          <a:xfrm>
            <a:off x="3269655" y="4300538"/>
            <a:ext cx="5822271" cy="266700"/>
          </a:xfrm>
          <a:prstGeom prst="rect">
            <a:avLst/>
          </a:prstGeom>
          <a:noFill/>
        </p:spPr>
        <p:txBody>
          <a:bodyPr wrap="square" lIns="0" rIns="0" tIns="0" bIns="0" anchor="t">
            <a:noAutofit/>
          </a:bodyPr>
          <a:lstStyle/>
          <a:p>
            <a:pPr algn="ctr">
              <a:lnSpc>
                <a:spcPct val="115000"/>
              </a:lnSpc>
            </a:pPr>
            <a:r>
              <a:rPr sz="1500" b="0" i="1">
                <a:solidFill>
                  <a:srgbClr val="9FD3D8"/>
                </a:solidFill>
                <a:latin typeface="Montserrat"/>
              </a:rPr>
              <a:t>Workshop ABA e TEA, LACC, PUCRS, 24 de outubro de 2026</a:t>
            </a:r>
          </a:p>
        </p:txBody>
      </p:sp>
      <p:sp>
        <p:nvSpPr>
          <p:cNvPr id="5" name="TextBox 4"/>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B8C4D2"/>
                </a:solidFill>
                <a:latin typeface="Montserrat"/>
              </a:rPr>
              <a:t>41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EEF4F5"/>
        </a:solidFill>
        <a:effectLst/>
      </p:bgPr>
    </p:bg>
    <p:spTree>
      <p:nvGrpSpPr>
        <p:cNvPr id="1" name=""/>
        <p:cNvGrpSpPr/>
        <p:nvPr/>
      </p:nvGrpSpPr>
      <p:grpSpPr/>
      <p:sp>
        <p:nvSpPr>
          <p:cNvPr id="2" name="Rectangle 1"/>
          <p:cNvSpPr/>
          <p:nvPr/>
        </p:nvSpPr>
        <p:spPr>
          <a:xfrm>
            <a:off x="0" y="0"/>
            <a:ext cx="177800" cy="6858000"/>
          </a:xfrm>
          <a:prstGeom prst="rect">
            <a:avLst/>
          </a:prstGeom>
          <a:solidFill>
            <a:srgbClr val="0F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1105892"/>
            <a:ext cx="10569448" cy="452735"/>
          </a:xfrm>
          <a:prstGeom prst="rect">
            <a:avLst/>
          </a:prstGeom>
          <a:noFill/>
        </p:spPr>
        <p:txBody>
          <a:bodyPr wrap="square" lIns="0" rIns="0" tIns="0" bIns="0" anchor="t">
            <a:noAutofit/>
          </a:bodyPr>
          <a:lstStyle/>
          <a:p>
            <a:pPr algn="l">
              <a:lnSpc>
                <a:spcPct val="94000"/>
              </a:lnSpc>
            </a:pPr>
            <a:r>
              <a:rPr sz="3100" b="1" i="0">
                <a:solidFill>
                  <a:srgbClr val="1B2F4B"/>
                </a:solidFill>
                <a:latin typeface="Montserrat"/>
              </a:rPr>
              <a:t>Vídeo: Lara, uma aula</a:t>
            </a:r>
          </a:p>
        </p:txBody>
      </p:sp>
      <p:sp>
        <p:nvSpPr>
          <p:cNvPr id="4" name="TextBox 3"/>
          <p:cNvSpPr txBox="1"/>
          <p:nvPr/>
        </p:nvSpPr>
        <p:spPr>
          <a:xfrm>
            <a:off x="1168400" y="2731492"/>
            <a:ext cx="4133596" cy="302220"/>
          </a:xfrm>
          <a:prstGeom prst="rect">
            <a:avLst/>
          </a:prstGeom>
          <a:noFill/>
        </p:spPr>
        <p:txBody>
          <a:bodyPr wrap="square" lIns="0" rIns="0" tIns="0" bIns="0" anchor="t">
            <a:noAutofit/>
          </a:bodyPr>
          <a:lstStyle/>
          <a:p>
            <a:pPr algn="l">
              <a:lnSpc>
                <a:spcPct val="115000"/>
              </a:lnSpc>
            </a:pPr>
            <a:r>
              <a:rPr sz="1700" b="0" i="0">
                <a:solidFill>
                  <a:srgbClr val="2E3A4A"/>
                </a:solidFill>
                <a:latin typeface="Montserrat"/>
              </a:rPr>
              <a:t>Enquanto assistem, observem:</a:t>
            </a:r>
          </a:p>
        </p:txBody>
      </p:sp>
      <p:sp>
        <p:nvSpPr>
          <p:cNvPr id="5" name="TextBox 4"/>
          <p:cNvSpPr txBox="1"/>
          <p:nvPr/>
        </p:nvSpPr>
        <p:spPr>
          <a:xfrm>
            <a:off x="1168400" y="3186112"/>
            <a:ext cx="4133596" cy="971550"/>
          </a:xfrm>
          <a:prstGeom prst="rect">
            <a:avLst/>
          </a:prstGeom>
          <a:noFill/>
        </p:spPr>
        <p:txBody>
          <a:bodyPr wrap="square" lIns="0" rIns="0" tIns="0" bIns="0" anchor="t">
            <a:noAutofit/>
          </a:bodyPr>
          <a:lstStyle/>
          <a:p>
            <a:pPr algn="l" marL="279400" indent="-279400">
              <a:lnSpc>
                <a:spcPct val="123000"/>
              </a:lnSpc>
              <a:buAutoNum type="arabicPeriod" startAt="1"/>
            </a:pPr>
            <a:r>
              <a:rPr sz="1700" b="0" i="0">
                <a:solidFill>
                  <a:srgbClr val="2E3A4A"/>
                </a:solidFill>
                <a:latin typeface="Montserrat"/>
              </a:rPr>
              <a:t>O que acontece logo antes?</a:t>
            </a:r>
          </a:p>
          <a:p>
            <a:pPr algn="l" marL="279400" indent="-279400">
              <a:lnSpc>
                <a:spcPct val="123000"/>
              </a:lnSpc>
              <a:buAutoNum type="arabicPeriod" startAt="1"/>
            </a:pPr>
            <a:r>
              <a:rPr sz="1700" b="0" i="0">
                <a:solidFill>
                  <a:srgbClr val="2E3A4A"/>
                </a:solidFill>
                <a:latin typeface="Montserrat"/>
              </a:rPr>
              <a:t>O que a Lara faz?</a:t>
            </a:r>
          </a:p>
          <a:p>
            <a:pPr algn="l" marL="279400" indent="-279400">
              <a:lnSpc>
                <a:spcPct val="123000"/>
              </a:lnSpc>
              <a:buAutoNum type="arabicPeriod" startAt="1"/>
            </a:pPr>
            <a:r>
              <a:rPr sz="1700" b="0" i="0">
                <a:solidFill>
                  <a:srgbClr val="2E3A4A"/>
                </a:solidFill>
                <a:latin typeface="Montserrat"/>
              </a:rPr>
              <a:t>O que acontece logo depois?</a:t>
            </a:r>
          </a:p>
        </p:txBody>
      </p:sp>
      <p:pic>
        <p:nvPicPr>
          <p:cNvPr id="6" name="Animação: Lara desenha na sala; a professora propõe trabalho em grupo; os colegas conversam alto; Lara coloca o capuz, abaixa a cabeça e sai da sala; depois desenha na biblioteca">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537200" y="1787227"/>
            <a:ext cx="5892800" cy="3314700"/>
          </a:xfrm>
          <a:prstGeom prst="rect">
            <a:avLst/>
          </a:prstGeom>
        </p:spPr>
      </p:pic>
      <p:sp>
        <p:nvSpPr>
          <p:cNvPr id="7" name="TextBox 6"/>
          <p:cNvSpPr txBox="1"/>
          <p:nvPr/>
        </p:nvSpPr>
        <p:spPr>
          <a:xfrm>
            <a:off x="1168400" y="5330527"/>
            <a:ext cx="10569448" cy="231080"/>
          </a:xfrm>
          <a:prstGeom prst="rect">
            <a:avLst/>
          </a:prstGeom>
          <a:noFill/>
        </p:spPr>
        <p:txBody>
          <a:bodyPr wrap="square" lIns="0" rIns="0" tIns="0" bIns="0" anchor="t">
            <a:noAutofit/>
          </a:bodyPr>
          <a:lstStyle/>
          <a:p>
            <a:pPr algn="l">
              <a:lnSpc>
                <a:spcPct val="115000"/>
              </a:lnSpc>
            </a:pPr>
            <a:r>
              <a:rPr sz="1300" b="0" i="1">
                <a:solidFill>
                  <a:srgbClr val="66717F"/>
                </a:solidFill>
                <a:latin typeface="Montserrat"/>
              </a:rPr>
              <a:t>Animação, exemplo fictício. Não representa uma pessoa real. O vídeo mostra um episódio; o padrão está na história a seguir.</a:t>
            </a:r>
          </a:p>
        </p:txBody>
      </p:sp>
      <p:sp>
        <p:nvSpPr>
          <p:cNvPr id="8" name="TextBox 7"/>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66717F"/>
                </a:solidFill>
                <a:latin typeface="Montserrat"/>
              </a:rPr>
              <a:t>R1a</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6"/>
                </p:tgtEl>
              </p:cMediaNode>
            </p:video>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EEF4F5"/>
        </a:solidFill>
        <a:effectLst/>
      </p:bgPr>
    </p:bg>
    <p:spTree>
      <p:nvGrpSpPr>
        <p:cNvPr id="1" name=""/>
        <p:cNvGrpSpPr/>
        <p:nvPr/>
      </p:nvGrpSpPr>
      <p:grpSpPr/>
      <p:sp>
        <p:nvSpPr>
          <p:cNvPr id="2" name="Rectangle 1"/>
          <p:cNvSpPr/>
          <p:nvPr/>
        </p:nvSpPr>
        <p:spPr>
          <a:xfrm>
            <a:off x="0" y="0"/>
            <a:ext cx="177800" cy="6858000"/>
          </a:xfrm>
          <a:prstGeom prst="rect">
            <a:avLst/>
          </a:prstGeom>
          <a:solidFill>
            <a:srgbClr val="0F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1401167"/>
            <a:ext cx="10307828" cy="394295"/>
          </a:xfrm>
          <a:prstGeom prst="rect">
            <a:avLst/>
          </a:prstGeom>
          <a:noFill/>
        </p:spPr>
        <p:txBody>
          <a:bodyPr wrap="square" lIns="0" rIns="0" tIns="0" bIns="0" anchor="t">
            <a:noAutofit/>
          </a:bodyPr>
          <a:lstStyle/>
          <a:p>
            <a:pPr algn="l">
              <a:lnSpc>
                <a:spcPct val="94000"/>
              </a:lnSpc>
            </a:pPr>
            <a:r>
              <a:rPr sz="2700" b="1" i="0">
                <a:solidFill>
                  <a:srgbClr val="1B2F4B"/>
                </a:solidFill>
                <a:latin typeface="Montserrat"/>
              </a:rPr>
              <a:t>Reserva: a história da Lara</a:t>
            </a:r>
          </a:p>
        </p:txBody>
      </p:sp>
      <p:sp>
        <p:nvSpPr>
          <p:cNvPr id="4" name="TextBox 3"/>
          <p:cNvSpPr txBox="1"/>
          <p:nvPr/>
        </p:nvSpPr>
        <p:spPr>
          <a:xfrm>
            <a:off x="1168400" y="1960562"/>
            <a:ext cx="10307828" cy="1333500"/>
          </a:xfrm>
          <a:prstGeom prst="rect">
            <a:avLst/>
          </a:prstGeom>
          <a:noFill/>
        </p:spPr>
        <p:txBody>
          <a:bodyPr wrap="square" lIns="0" rIns="0" tIns="0" bIns="0" anchor="t">
            <a:noAutofit/>
          </a:bodyPr>
          <a:lstStyle/>
          <a:p>
            <a:pPr algn="l">
              <a:lnSpc>
                <a:spcPct val="115000"/>
              </a:lnSpc>
            </a:pPr>
            <a:r>
              <a:rPr sz="1500" b="0" i="0">
                <a:solidFill>
                  <a:srgbClr val="2E3A4A"/>
                </a:solidFill>
                <a:latin typeface="Montserrat"/>
              </a:rPr>
              <a:t>Lara tem 14 anos, é autista e fala com fluência. Gosta de desenho e de astronomia. Nos últimos dois meses, quando a professora propõe </a:t>
            </a:r>
            <a:r>
              <a:rPr sz="1500" b="1" i="0">
                <a:solidFill>
                  <a:srgbClr val="2E3A4A"/>
                </a:solidFill>
                <a:latin typeface="Montserrat"/>
              </a:rPr>
              <a:t>trabalho em grupo</a:t>
            </a:r>
            <a:r>
              <a:rPr sz="1500" b="0" i="0">
                <a:solidFill>
                  <a:srgbClr val="2E3A4A"/>
                </a:solidFill>
                <a:latin typeface="Montserrat"/>
              </a:rPr>
              <a:t> numa sala barulhenta, Lara </a:t>
            </a:r>
            <a:r>
              <a:rPr sz="1500" b="1" i="0">
                <a:solidFill>
                  <a:srgbClr val="2E3A4A"/>
                </a:solidFill>
                <a:latin typeface="Montserrat"/>
              </a:rPr>
              <a:t>coloca o capuz, abaixa a cabeça e, às vezes, sai da sala sem avisar</a:t>
            </a:r>
            <a:r>
              <a:rPr sz="1500" b="0" i="0">
                <a:solidFill>
                  <a:srgbClr val="2E3A4A"/>
                </a:solidFill>
                <a:latin typeface="Montserrat"/>
              </a:rPr>
              <a:t>. Quando sai, é levada à coordenação e passa o resto da aula na biblioteca. Nas atividades individuais, participa e tira boas notas. Ela disse à psicóloga da escola: “o barulho é demais” e “sempre falo alguma coisa errada nos grupos”.</a:t>
            </a:r>
          </a:p>
        </p:txBody>
      </p:sp>
      <p:sp>
        <p:nvSpPr>
          <p:cNvPr id="5" name="TextBox 4"/>
          <p:cNvSpPr txBox="1"/>
          <p:nvPr/>
        </p:nvSpPr>
        <p:spPr>
          <a:xfrm>
            <a:off x="1168400" y="3459162"/>
            <a:ext cx="10307828" cy="1428750"/>
          </a:xfrm>
          <a:prstGeom prst="rect">
            <a:avLst/>
          </a:prstGeom>
          <a:noFill/>
        </p:spPr>
        <p:txBody>
          <a:bodyPr wrap="square" lIns="0" rIns="0" tIns="0" bIns="0" anchor="t">
            <a:noAutofit/>
          </a:bodyPr>
          <a:lstStyle/>
          <a:p>
            <a:pPr algn="l" marL="279400" indent="-279400">
              <a:lnSpc>
                <a:spcPct val="123000"/>
              </a:lnSpc>
              <a:buAutoNum type="arabicPeriod" startAt="1"/>
            </a:pPr>
            <a:r>
              <a:rPr sz="1500" b="0" i="0">
                <a:solidFill>
                  <a:srgbClr val="2E3A4A"/>
                </a:solidFill>
                <a:latin typeface="Montserrat"/>
              </a:rPr>
              <a:t>O que a Lara faz? Descrevam só o que dá para ver e ouvir.</a:t>
            </a:r>
          </a:p>
          <a:p>
            <a:pPr algn="l" marL="279400" indent="-279400">
              <a:lnSpc>
                <a:spcPct val="123000"/>
              </a:lnSpc>
              <a:buAutoNum type="arabicPeriod" startAt="1"/>
            </a:pPr>
            <a:r>
              <a:rPr sz="1500" b="0" i="0">
                <a:solidFill>
                  <a:srgbClr val="2E3A4A"/>
                </a:solidFill>
                <a:latin typeface="Montserrat"/>
              </a:rPr>
              <a:t>O que acontece logo antes? E logo depois?</a:t>
            </a:r>
          </a:p>
          <a:p>
            <a:pPr algn="l" marL="279400" indent="-279400">
              <a:lnSpc>
                <a:spcPct val="123000"/>
              </a:lnSpc>
              <a:buAutoNum type="arabicPeriod" startAt="1"/>
            </a:pPr>
            <a:r>
              <a:rPr sz="1500" b="0" i="0">
                <a:solidFill>
                  <a:srgbClr val="2E3A4A"/>
                </a:solidFill>
                <a:latin typeface="Montserrat"/>
              </a:rPr>
              <a:t>Por que isso pode estar acontecendo? Deem duas explicações possíveis.</a:t>
            </a:r>
          </a:p>
          <a:p>
            <a:pPr algn="l" marL="279400" indent="-279400">
              <a:lnSpc>
                <a:spcPct val="123000"/>
              </a:lnSpc>
              <a:buAutoNum type="arabicPeriod" startAt="1"/>
            </a:pPr>
            <a:r>
              <a:rPr sz="1500" b="0" i="0">
                <a:solidFill>
                  <a:srgbClr val="2E3A4A"/>
                </a:solidFill>
                <a:latin typeface="Montserrat"/>
              </a:rPr>
              <a:t>A escola quer que a Lara faça todos os trabalhos sozinha, na biblioteca. Isso ajuda ou atrapalha? O que vocês proporiam no lugar?</a:t>
            </a:r>
          </a:p>
        </p:txBody>
      </p:sp>
      <p:sp>
        <p:nvSpPr>
          <p:cNvPr id="6" name="TextBox 5"/>
          <p:cNvSpPr txBox="1"/>
          <p:nvPr/>
        </p:nvSpPr>
        <p:spPr>
          <a:xfrm>
            <a:off x="1168400" y="5053012"/>
            <a:ext cx="10307828" cy="213320"/>
          </a:xfrm>
          <a:prstGeom prst="rect">
            <a:avLst/>
          </a:prstGeom>
          <a:noFill/>
        </p:spPr>
        <p:txBody>
          <a:bodyPr wrap="square" lIns="0" rIns="0" tIns="0" bIns="0" anchor="t">
            <a:noAutofit/>
          </a:bodyPr>
          <a:lstStyle/>
          <a:p>
            <a:pPr algn="l">
              <a:lnSpc>
                <a:spcPct val="115000"/>
              </a:lnSpc>
            </a:pPr>
            <a:r>
              <a:rPr sz="1200" b="0" i="1">
                <a:solidFill>
                  <a:srgbClr val="66717F"/>
                </a:solidFill>
                <a:latin typeface="Montserrat"/>
              </a:rPr>
              <a:t>Exemplo fictício</a:t>
            </a:r>
          </a:p>
        </p:txBody>
      </p:sp>
      <p:sp>
        <p:nvSpPr>
          <p:cNvPr id="7" name="TextBox 6"/>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66717F"/>
                </a:solidFill>
                <a:latin typeface="Montserrat"/>
              </a:rPr>
              <a:t>R1</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77800" cy="6858000"/>
          </a:xfrm>
          <a:prstGeom prst="rect">
            <a:avLst/>
          </a:prstGeom>
          <a:solidFill>
            <a:srgbClr val="0F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980777"/>
            <a:ext cx="10307828" cy="481905"/>
          </a:xfrm>
          <a:prstGeom prst="rect">
            <a:avLst/>
          </a:prstGeom>
          <a:noFill/>
        </p:spPr>
        <p:txBody>
          <a:bodyPr wrap="square" lIns="0" rIns="0" tIns="0" bIns="0" anchor="t">
            <a:noAutofit/>
          </a:bodyPr>
          <a:lstStyle/>
          <a:p>
            <a:pPr algn="l">
              <a:lnSpc>
                <a:spcPct val="94000"/>
              </a:lnSpc>
            </a:pPr>
            <a:r>
              <a:rPr sz="3300" b="1" i="0">
                <a:solidFill>
                  <a:srgbClr val="1B2F4B"/>
                </a:solidFill>
                <a:latin typeface="Montserrat"/>
              </a:rPr>
              <a:t>Respostas: a história da Lara</a:t>
            </a:r>
          </a:p>
        </p:txBody>
      </p:sp>
      <p:graphicFrame>
        <p:nvGraphicFramePr>
          <p:cNvPr id="4" name="Table 3"/>
          <p:cNvGraphicFramePr>
            <a:graphicFrameLocks noGrp="1"/>
          </p:cNvGraphicFramePr>
          <p:nvPr/>
        </p:nvGraphicFramePr>
        <p:xfrm>
          <a:off x="1168400" y="1653183"/>
          <a:ext cx="10007600" cy="3594100"/>
        </p:xfrm>
        <a:graphic>
          <a:graphicData uri="http://schemas.openxmlformats.org/drawingml/2006/table">
            <a:tbl>
              <a:tblPr firstRow="0" bandRow="0">
                <a:tableStyleId>{2D5ABB26-0587-4C30-8999-92F81FD0307C}</a:tableStyleId>
              </a:tblPr>
              <a:tblGrid>
                <a:gridCol w="3002260"/>
                <a:gridCol w="7005340"/>
              </a:tblGrid>
              <a:tr h="450850">
                <a:tc>
                  <a:txBody>
                    <a:bodyPr wrap="square"/>
                    <a:lstStyle/>
                    <a:p>
                      <a:pPr>
                        <a:lnSpc>
                          <a:spcPct val="100000"/>
                        </a:lnSpc>
                      </a:pPr>
                      <a:r>
                        <a:rPr sz="1450" b="1" i="0">
                          <a:solidFill>
                            <a:srgbClr val="FFFFFF"/>
                          </a:solidFill>
                          <a:latin typeface="Montserrat"/>
                        </a:rPr>
                        <a:t>Pergunta</a:t>
                      </a:r>
                    </a:p>
                  </a:txBody>
                  <a:tcPr marL="114300" marR="114300" marT="68580" marB="68580" anchor="ctr">
                    <a:solidFill>
                      <a:srgbClr val="1B2F4B"/>
                    </a:solidFill>
                  </a:tcPr>
                </a:tc>
                <a:tc>
                  <a:txBody>
                    <a:bodyPr wrap="square"/>
                    <a:lstStyle/>
                    <a:p>
                      <a:pPr>
                        <a:lnSpc>
                          <a:spcPct val="100000"/>
                        </a:lnSpc>
                      </a:pPr>
                      <a:r>
                        <a:rPr sz="1450" b="1" i="0">
                          <a:solidFill>
                            <a:srgbClr val="FFFFFF"/>
                          </a:solidFill>
                          <a:latin typeface="Montserrat"/>
                        </a:rPr>
                        <a:t>Resposta</a:t>
                      </a:r>
                    </a:p>
                  </a:txBody>
                  <a:tcPr marL="114300" marR="114300" marT="68580" marB="68580" anchor="ctr">
                    <a:solidFill>
                      <a:srgbClr val="1B2F4B"/>
                    </a:solidFill>
                  </a:tcPr>
                </a:tc>
              </a:tr>
              <a:tr h="450850">
                <a:tc>
                  <a:txBody>
                    <a:bodyPr wrap="square"/>
                    <a:lstStyle/>
                    <a:p>
                      <a:pPr>
                        <a:lnSpc>
                          <a:spcPct val="100000"/>
                        </a:lnSpc>
                      </a:pPr>
                      <a:r>
                        <a:rPr sz="1450" b="0" i="0">
                          <a:solidFill>
                            <a:srgbClr val="2E3A4A"/>
                          </a:solidFill>
                          <a:latin typeface="Montserrat"/>
                        </a:rPr>
                        <a:t>1. O que ela faz</a:t>
                      </a:r>
                    </a:p>
                  </a:txBody>
                  <a:tcPr marL="114300" marR="114300" marT="68580" marB="68580" anchor="ctr">
                    <a:solidFill>
                      <a:srgbClr val="FFFFFF"/>
                    </a:solidFill>
                  </a:tcPr>
                </a:tc>
                <a:tc>
                  <a:txBody>
                    <a:bodyPr wrap="square"/>
                    <a:lstStyle/>
                    <a:p>
                      <a:pPr>
                        <a:lnSpc>
                          <a:spcPct val="100000"/>
                        </a:lnSpc>
                      </a:pPr>
                      <a:r>
                        <a:rPr sz="1450" b="0" i="0">
                          <a:solidFill>
                            <a:srgbClr val="2E3A4A"/>
                          </a:solidFill>
                          <a:latin typeface="Montserrat"/>
                        </a:rPr>
                        <a:t>Coloca o capuz, abaixa a cabeça e sai da sala sem avisar</a:t>
                      </a:r>
                    </a:p>
                  </a:txBody>
                  <a:tcPr marL="114300" marR="114300" marT="68580" marB="68580" anchor="ctr">
                    <a:solidFill>
                      <a:srgbClr val="FFFFFF"/>
                    </a:solidFill>
                  </a:tcPr>
                </a:tc>
              </a:tr>
              <a:tr h="673100">
                <a:tc>
                  <a:txBody>
                    <a:bodyPr wrap="square"/>
                    <a:lstStyle/>
                    <a:p>
                      <a:pPr>
                        <a:lnSpc>
                          <a:spcPct val="100000"/>
                        </a:lnSpc>
                      </a:pPr>
                      <a:r>
                        <a:rPr sz="1450" b="0" i="0">
                          <a:solidFill>
                            <a:srgbClr val="2E3A4A"/>
                          </a:solidFill>
                          <a:latin typeface="Montserrat"/>
                        </a:rPr>
                        <a:t>2. Antes e depois</a:t>
                      </a:r>
                    </a:p>
                  </a:txBody>
                  <a:tcPr marL="114300" marR="114300" marT="68580" marB="68580" anchor="ctr">
                    <a:solidFill>
                      <a:srgbClr val="F1F4F6"/>
                    </a:solidFill>
                  </a:tcPr>
                </a:tc>
                <a:tc>
                  <a:txBody>
                    <a:bodyPr wrap="square"/>
                    <a:lstStyle/>
                    <a:p>
                      <a:pPr>
                        <a:lnSpc>
                          <a:spcPct val="100000"/>
                        </a:lnSpc>
                      </a:pPr>
                      <a:r>
                        <a:rPr sz="1450" b="0" i="0">
                          <a:solidFill>
                            <a:srgbClr val="2E3A4A"/>
                          </a:solidFill>
                          <a:latin typeface="Montserrat"/>
                        </a:rPr>
                        <a:t>Antes: trabalho em grupo numa sala barulhenta. Depois: sai do grupo e vai para a biblioteca</a:t>
                      </a:r>
                    </a:p>
                  </a:txBody>
                  <a:tcPr marL="114300" marR="114300" marT="68580" marB="68580" anchor="ctr">
                    <a:solidFill>
                      <a:srgbClr val="F1F4F6"/>
                    </a:solidFill>
                  </a:tcPr>
                </a:tc>
              </a:tr>
              <a:tr h="673100">
                <a:tc>
                  <a:txBody>
                    <a:bodyPr wrap="square"/>
                    <a:lstStyle/>
                    <a:p>
                      <a:pPr>
                        <a:lnSpc>
                          <a:spcPct val="100000"/>
                        </a:lnSpc>
                      </a:pPr>
                      <a:r>
                        <a:rPr sz="1450" b="0" i="0">
                          <a:solidFill>
                            <a:srgbClr val="2E3A4A"/>
                          </a:solidFill>
                          <a:latin typeface="Montserrat"/>
                        </a:rPr>
                        <a:t>3. Explicações possíveis</a:t>
                      </a:r>
                    </a:p>
                  </a:txBody>
                  <a:tcPr marL="114300" marR="114300" marT="68580" marB="68580" anchor="ctr">
                    <a:solidFill>
                      <a:srgbClr val="FFFFFF"/>
                    </a:solidFill>
                  </a:tcPr>
                </a:tc>
                <a:tc>
                  <a:txBody>
                    <a:bodyPr wrap="square"/>
                    <a:lstStyle/>
                    <a:p>
                      <a:pPr>
                        <a:lnSpc>
                          <a:spcPct val="100000"/>
                        </a:lnSpc>
                      </a:pPr>
                      <a:r>
                        <a:rPr sz="1450" b="0" i="0">
                          <a:solidFill>
                            <a:srgbClr val="2E3A4A"/>
                          </a:solidFill>
                          <a:latin typeface="Montserrat"/>
                        </a:rPr>
                        <a:t>Fugir do barulho; fugir da conversa em grupo (medo de errar); as duas juntas. Ir para a biblioteca pode reforçar a saída</a:t>
                      </a:r>
                    </a:p>
                  </a:txBody>
                  <a:tcPr marL="114300" marR="114300" marT="68580" marB="68580" anchor="ctr">
                    <a:solidFill>
                      <a:srgbClr val="FFFFFF"/>
                    </a:solidFill>
                  </a:tcPr>
                </a:tc>
              </a:tr>
              <a:tr h="673100">
                <a:tc>
                  <a:txBody>
                    <a:bodyPr wrap="square"/>
                    <a:lstStyle/>
                    <a:p>
                      <a:pPr>
                        <a:lnSpc>
                          <a:spcPct val="100000"/>
                        </a:lnSpc>
                      </a:pPr>
                      <a:r>
                        <a:rPr sz="1450" b="0" i="0">
                          <a:solidFill>
                            <a:srgbClr val="2E3A4A"/>
                          </a:solidFill>
                          <a:latin typeface="Montserrat"/>
                        </a:rPr>
                        <a:t>4. Sempre sozinha na biblioteca?</a:t>
                      </a:r>
                    </a:p>
                  </a:txBody>
                  <a:tcPr marL="114300" marR="114300" marT="68580" marB="68580" anchor="ctr">
                    <a:solidFill>
                      <a:srgbClr val="F1F4F6"/>
                    </a:solidFill>
                  </a:tcPr>
                </a:tc>
                <a:tc>
                  <a:txBody>
                    <a:bodyPr wrap="square"/>
                    <a:lstStyle/>
                    <a:p>
                      <a:pPr>
                        <a:lnSpc>
                          <a:spcPct val="100000"/>
                        </a:lnSpc>
                      </a:pPr>
                      <a:r>
                        <a:rPr sz="1450" b="0" i="0">
                          <a:solidFill>
                            <a:srgbClr val="2E3A4A"/>
                          </a:solidFill>
                          <a:latin typeface="Montserrat"/>
                        </a:rPr>
                        <a:t>Alivia agora, mas pode reforçar a fuga e tirar chances de participar. Só serve como algo temporário, combinado com ela</a:t>
                      </a:r>
                    </a:p>
                  </a:txBody>
                  <a:tcPr marL="114300" marR="114300" marT="68580" marB="68580" anchor="ctr">
                    <a:solidFill>
                      <a:srgbClr val="F1F4F6"/>
                    </a:solidFill>
                  </a:tcPr>
                </a:tc>
              </a:tr>
              <a:tr h="673100">
                <a:tc>
                  <a:txBody>
                    <a:bodyPr wrap="square"/>
                    <a:lstStyle/>
                    <a:p>
                      <a:pPr>
                        <a:lnSpc>
                          <a:spcPct val="100000"/>
                        </a:lnSpc>
                      </a:pPr>
                      <a:r>
                        <a:rPr sz="1450" b="0" i="0">
                          <a:solidFill>
                            <a:srgbClr val="2E3A4A"/>
                          </a:solidFill>
                          <a:latin typeface="Montserrat"/>
                        </a:rPr>
                        <a:t>5. O que propor no lugar</a:t>
                      </a:r>
                    </a:p>
                  </a:txBody>
                  <a:tcPr marL="114300" marR="114300" marT="68580" marB="68580" anchor="ctr">
                    <a:solidFill>
                      <a:srgbClr val="FFFFFF"/>
                    </a:solidFill>
                  </a:tcPr>
                </a:tc>
                <a:tc>
                  <a:txBody>
                    <a:bodyPr wrap="square"/>
                    <a:lstStyle/>
                    <a:p>
                      <a:pPr>
                        <a:lnSpc>
                          <a:spcPct val="100000"/>
                        </a:lnSpc>
                      </a:pPr>
                      <a:r>
                        <a:rPr sz="1450" b="0" i="0">
                          <a:solidFill>
                            <a:srgbClr val="2E3A4A"/>
                          </a:solidFill>
                          <a:latin typeface="Montserrat"/>
                        </a:rPr>
                        <a:t>Lugar mais silencioso ou protetor de ouvido (se ela quiser), grupo menor, um papel definido no grupo e um jeito combinado de pedir pausa</a:t>
                      </a:r>
                    </a:p>
                  </a:txBody>
                  <a:tcPr marL="114300" marR="114300" marT="68580" marB="68580" anchor="ctr">
                    <a:solidFill>
                      <a:srgbClr val="FFFFFF"/>
                    </a:solidFill>
                  </a:tcPr>
                </a:tc>
              </a:tr>
            </a:tbl>
          </a:graphicData>
        </a:graphic>
      </p:graphicFrame>
      <p:sp>
        <p:nvSpPr>
          <p:cNvPr id="5" name="TextBox 4"/>
          <p:cNvSpPr txBox="1"/>
          <p:nvPr/>
        </p:nvSpPr>
        <p:spPr>
          <a:xfrm>
            <a:off x="1168400" y="5437783"/>
            <a:ext cx="10307828" cy="248841"/>
          </a:xfrm>
          <a:prstGeom prst="rect">
            <a:avLst/>
          </a:prstGeom>
          <a:noFill/>
        </p:spPr>
        <p:txBody>
          <a:bodyPr wrap="square" lIns="0" rIns="0" tIns="0" bIns="0" anchor="t">
            <a:noAutofit/>
          </a:bodyPr>
          <a:lstStyle/>
          <a:p>
            <a:pPr algn="l">
              <a:lnSpc>
                <a:spcPct val="115000"/>
              </a:lnSpc>
            </a:pPr>
            <a:r>
              <a:rPr sz="1400" b="0" i="1">
                <a:solidFill>
                  <a:srgbClr val="66717F"/>
                </a:solidFill>
                <a:latin typeface="Montserrat"/>
              </a:rPr>
              <a:t>O capuz, em si, não é problema a eliminar. Decidir junto com a Lara.</a:t>
            </a:r>
          </a:p>
        </p:txBody>
      </p:sp>
      <p:sp>
        <p:nvSpPr>
          <p:cNvPr id="6" name="TextBox 5"/>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66717F"/>
                </a:solidFill>
                <a:latin typeface="Montserrat"/>
              </a:rPr>
              <a:t>R1b</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EEF4F5"/>
        </a:solidFill>
        <a:effectLst/>
      </p:bgPr>
    </p:bg>
    <p:spTree>
      <p:nvGrpSpPr>
        <p:cNvPr id="1" name=""/>
        <p:cNvGrpSpPr/>
        <p:nvPr/>
      </p:nvGrpSpPr>
      <p:grpSpPr/>
      <p:sp>
        <p:nvSpPr>
          <p:cNvPr id="2" name="Rectangle 1"/>
          <p:cNvSpPr/>
          <p:nvPr/>
        </p:nvSpPr>
        <p:spPr>
          <a:xfrm>
            <a:off x="0" y="0"/>
            <a:ext cx="177800" cy="6858000"/>
          </a:xfrm>
          <a:prstGeom prst="rect">
            <a:avLst/>
          </a:prstGeom>
          <a:solidFill>
            <a:srgbClr val="0F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1868587"/>
            <a:ext cx="10307828" cy="481905"/>
          </a:xfrm>
          <a:prstGeom prst="rect">
            <a:avLst/>
          </a:prstGeom>
          <a:noFill/>
        </p:spPr>
        <p:txBody>
          <a:bodyPr wrap="square" lIns="0" rIns="0" tIns="0" bIns="0" anchor="t">
            <a:noAutofit/>
          </a:bodyPr>
          <a:lstStyle/>
          <a:p>
            <a:pPr algn="l">
              <a:lnSpc>
                <a:spcPct val="94000"/>
              </a:lnSpc>
            </a:pPr>
            <a:r>
              <a:rPr sz="3300" b="1" i="0">
                <a:solidFill>
                  <a:srgbClr val="1B2F4B"/>
                </a:solidFill>
                <a:latin typeface="Montserrat"/>
              </a:rPr>
              <a:t>Reserva: um dado novo sobre Theo</a:t>
            </a:r>
          </a:p>
        </p:txBody>
      </p:sp>
      <p:sp>
        <p:nvSpPr>
          <p:cNvPr id="4" name="TextBox 3"/>
          <p:cNvSpPr txBox="1"/>
          <p:nvPr/>
        </p:nvSpPr>
        <p:spPr>
          <a:xfrm>
            <a:off x="1168400" y="2629892"/>
            <a:ext cx="10307828" cy="1013222"/>
          </a:xfrm>
          <a:prstGeom prst="rect">
            <a:avLst/>
          </a:prstGeom>
          <a:noFill/>
        </p:spPr>
        <p:txBody>
          <a:bodyPr wrap="square" lIns="0" rIns="0" tIns="0" bIns="0" anchor="t">
            <a:noAutofit/>
          </a:bodyPr>
          <a:lstStyle/>
          <a:p>
            <a:pPr algn="l">
              <a:lnSpc>
                <a:spcPct val="115000"/>
              </a:lnSpc>
            </a:pPr>
            <a:r>
              <a:rPr sz="1900" b="0" i="0">
                <a:solidFill>
                  <a:srgbClr val="2E3A4A"/>
                </a:solidFill>
                <a:latin typeface="Montserrat"/>
              </a:rPr>
              <a:t>Na semana seguinte, em 4 sessões, a terapeuta apresentou a atividade de mesa </a:t>
            </a:r>
            <a:r>
              <a:rPr sz="1900" b="1" i="0">
                <a:solidFill>
                  <a:srgbClr val="2E3A4A"/>
                </a:solidFill>
                <a:latin typeface="Montserrat"/>
              </a:rPr>
              <a:t>sem guardar os trilhos</a:t>
            </a:r>
            <a:r>
              <a:rPr sz="1900" b="0" i="0">
                <a:solidFill>
                  <a:srgbClr val="2E3A4A"/>
                </a:solidFill>
                <a:latin typeface="Montserrat"/>
              </a:rPr>
              <a:t> (eles ficaram ao lado, e Theo poderia voltar a eles ao terminar). Em </a:t>
            </a:r>
            <a:r>
              <a:rPr sz="1900" b="1" i="0">
                <a:solidFill>
                  <a:srgbClr val="2E3A4A"/>
                </a:solidFill>
                <a:latin typeface="Montserrat"/>
              </a:rPr>
              <a:t>3 dessas sessões</a:t>
            </a:r>
            <a:r>
              <a:rPr sz="1900" b="0" i="0">
                <a:solidFill>
                  <a:srgbClr val="2E3A4A"/>
                </a:solidFill>
                <a:latin typeface="Montserrat"/>
              </a:rPr>
              <a:t>, Theo não gritou nem se jogou no chão.</a:t>
            </a:r>
          </a:p>
        </p:txBody>
      </p:sp>
      <p:sp>
        <p:nvSpPr>
          <p:cNvPr id="5" name="TextBox 4"/>
          <p:cNvSpPr txBox="1"/>
          <p:nvPr/>
        </p:nvSpPr>
        <p:spPr>
          <a:xfrm>
            <a:off x="1168400" y="3922514"/>
            <a:ext cx="10307828" cy="330200"/>
          </a:xfrm>
          <a:prstGeom prst="rect">
            <a:avLst/>
          </a:prstGeom>
          <a:noFill/>
        </p:spPr>
        <p:txBody>
          <a:bodyPr wrap="square" lIns="0" rIns="0" tIns="0" bIns="0" anchor="t">
            <a:noAutofit/>
          </a:bodyPr>
          <a:lstStyle/>
          <a:p>
            <a:pPr algn="l">
              <a:lnSpc>
                <a:spcPct val="107000"/>
              </a:lnSpc>
            </a:pPr>
            <a:r>
              <a:rPr sz="2000" b="1" i="0">
                <a:solidFill>
                  <a:srgbClr val="0F7C86"/>
                </a:solidFill>
                <a:latin typeface="Montserrat"/>
              </a:rPr>
              <a:t>Com esse dado, qual explicação fica mais forte? Já dá para ter certeza?</a:t>
            </a:r>
          </a:p>
        </p:txBody>
      </p:sp>
      <p:sp>
        <p:nvSpPr>
          <p:cNvPr id="6" name="TextBox 5"/>
          <p:cNvSpPr txBox="1"/>
          <p:nvPr/>
        </p:nvSpPr>
        <p:spPr>
          <a:xfrm>
            <a:off x="1168400" y="4532114"/>
            <a:ext cx="10307828" cy="266700"/>
          </a:xfrm>
          <a:prstGeom prst="rect">
            <a:avLst/>
          </a:prstGeom>
          <a:noFill/>
        </p:spPr>
        <p:txBody>
          <a:bodyPr wrap="square" lIns="0" rIns="0" tIns="0" bIns="0" anchor="t">
            <a:noAutofit/>
          </a:bodyPr>
          <a:lstStyle/>
          <a:p>
            <a:pPr algn="l">
              <a:lnSpc>
                <a:spcPct val="115000"/>
              </a:lnSpc>
            </a:pPr>
            <a:r>
              <a:rPr sz="1500" b="0" i="1">
                <a:solidFill>
                  <a:srgbClr val="66717F"/>
                </a:solidFill>
                <a:latin typeface="Montserrat"/>
              </a:rPr>
              <a:t>Exemplo fictício</a:t>
            </a:r>
          </a:p>
        </p:txBody>
      </p:sp>
      <p:sp>
        <p:nvSpPr>
          <p:cNvPr id="7" name="TextBox 6"/>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66717F"/>
                </a:solidFill>
                <a:latin typeface="Montserrat"/>
              </a:rPr>
              <a:t>R2</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77800" cy="6858000"/>
          </a:xfrm>
          <a:prstGeom prst="rect">
            <a:avLst/>
          </a:prstGeom>
          <a:solidFill>
            <a:srgbClr val="0F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1680766"/>
            <a:ext cx="10307828" cy="481905"/>
          </a:xfrm>
          <a:prstGeom prst="rect">
            <a:avLst/>
          </a:prstGeom>
          <a:noFill/>
        </p:spPr>
        <p:txBody>
          <a:bodyPr wrap="square" lIns="0" rIns="0" tIns="0" bIns="0" anchor="t">
            <a:noAutofit/>
          </a:bodyPr>
          <a:lstStyle/>
          <a:p>
            <a:pPr algn="l">
              <a:lnSpc>
                <a:spcPct val="94000"/>
              </a:lnSpc>
            </a:pPr>
            <a:r>
              <a:rPr sz="3300" b="1" i="0">
                <a:solidFill>
                  <a:srgbClr val="1B2F4B"/>
                </a:solidFill>
                <a:latin typeface="Montserrat"/>
              </a:rPr>
              <a:t>Respostas: o dado novo</a:t>
            </a:r>
          </a:p>
        </p:txBody>
      </p:sp>
      <p:sp>
        <p:nvSpPr>
          <p:cNvPr id="4" name="TextBox 3"/>
          <p:cNvSpPr txBox="1"/>
          <p:nvPr/>
        </p:nvSpPr>
        <p:spPr>
          <a:xfrm>
            <a:off x="1168400" y="2416671"/>
            <a:ext cx="4839970" cy="319980"/>
          </a:xfrm>
          <a:prstGeom prst="rect">
            <a:avLst/>
          </a:prstGeom>
          <a:noFill/>
        </p:spPr>
        <p:txBody>
          <a:bodyPr wrap="square" lIns="0" rIns="0" tIns="0" bIns="0" anchor="t">
            <a:noAutofit/>
          </a:bodyPr>
          <a:lstStyle/>
          <a:p>
            <a:pPr algn="l">
              <a:lnSpc>
                <a:spcPct val="98000"/>
              </a:lnSpc>
            </a:pPr>
            <a:r>
              <a:rPr sz="2100" b="1" i="0">
                <a:solidFill>
                  <a:srgbClr val="0F7C86"/>
                </a:solidFill>
                <a:latin typeface="Montserrat"/>
              </a:rPr>
              <a:t>O que muda</a:t>
            </a:r>
          </a:p>
        </p:txBody>
      </p:sp>
      <p:sp>
        <p:nvSpPr>
          <p:cNvPr id="5" name="TextBox 4"/>
          <p:cNvSpPr txBox="1"/>
          <p:nvPr/>
        </p:nvSpPr>
        <p:spPr>
          <a:xfrm>
            <a:off x="1168400" y="2825552"/>
            <a:ext cx="4839970" cy="1279922"/>
          </a:xfrm>
          <a:prstGeom prst="rect">
            <a:avLst/>
          </a:prstGeom>
          <a:noFill/>
        </p:spPr>
        <p:txBody>
          <a:bodyPr wrap="square" lIns="0" rIns="0" tIns="0" bIns="0" anchor="t">
            <a:noAutofit/>
          </a:bodyPr>
          <a:lstStyle/>
          <a:p>
            <a:pPr algn="l">
              <a:lnSpc>
                <a:spcPct val="115000"/>
              </a:lnSpc>
            </a:pPr>
            <a:r>
              <a:rPr sz="1800" b="0" i="0">
                <a:solidFill>
                  <a:srgbClr val="2E3A4A"/>
                </a:solidFill>
                <a:latin typeface="Montserrat"/>
              </a:rPr>
              <a:t>Fica mais forte a explicação “quer os trilhos” (ou as duas juntas): sem guardar os trilhos, quase não houve episódio. “Foge da mesa” fica mais fraca.</a:t>
            </a:r>
          </a:p>
        </p:txBody>
      </p:sp>
      <p:sp>
        <p:nvSpPr>
          <p:cNvPr id="6" name="TextBox 5"/>
          <p:cNvSpPr txBox="1"/>
          <p:nvPr/>
        </p:nvSpPr>
        <p:spPr>
          <a:xfrm>
            <a:off x="6477000" y="2416671"/>
            <a:ext cx="4839970" cy="319980"/>
          </a:xfrm>
          <a:prstGeom prst="rect">
            <a:avLst/>
          </a:prstGeom>
          <a:noFill/>
        </p:spPr>
        <p:txBody>
          <a:bodyPr wrap="square" lIns="0" rIns="0" tIns="0" bIns="0" anchor="t">
            <a:noAutofit/>
          </a:bodyPr>
          <a:lstStyle/>
          <a:p>
            <a:pPr algn="l">
              <a:lnSpc>
                <a:spcPct val="98000"/>
              </a:lnSpc>
            </a:pPr>
            <a:r>
              <a:rPr sz="2100" b="1" i="0">
                <a:solidFill>
                  <a:srgbClr val="0F7C86"/>
                </a:solidFill>
                <a:latin typeface="Montserrat"/>
              </a:rPr>
              <a:t>O que não muda</a:t>
            </a:r>
          </a:p>
        </p:txBody>
      </p:sp>
      <p:sp>
        <p:nvSpPr>
          <p:cNvPr id="7" name="TextBox 6"/>
          <p:cNvSpPr txBox="1"/>
          <p:nvPr/>
        </p:nvSpPr>
        <p:spPr>
          <a:xfrm>
            <a:off x="6477000" y="2825552"/>
            <a:ext cx="4839970" cy="959941"/>
          </a:xfrm>
          <a:prstGeom prst="rect">
            <a:avLst/>
          </a:prstGeom>
          <a:noFill/>
        </p:spPr>
        <p:txBody>
          <a:bodyPr wrap="square" lIns="0" rIns="0" tIns="0" bIns="0" anchor="t">
            <a:noAutofit/>
          </a:bodyPr>
          <a:lstStyle/>
          <a:p>
            <a:pPr algn="l">
              <a:lnSpc>
                <a:spcPct val="115000"/>
              </a:lnSpc>
            </a:pPr>
            <a:r>
              <a:rPr sz="1800" b="0" i="0">
                <a:solidFill>
                  <a:srgbClr val="2E3A4A"/>
                </a:solidFill>
                <a:latin typeface="Montserrat"/>
              </a:rPr>
              <a:t>Ainda não dá para ter certeza: são só 4 sessões, sem controle de sono, terapeuta ou tipo de tarefa.</a:t>
            </a:r>
          </a:p>
        </p:txBody>
      </p:sp>
      <p:sp>
        <p:nvSpPr>
          <p:cNvPr id="8" name="TextBox 7"/>
          <p:cNvSpPr txBox="1"/>
          <p:nvPr/>
        </p:nvSpPr>
        <p:spPr>
          <a:xfrm>
            <a:off x="1168400" y="4359473"/>
            <a:ext cx="10307828" cy="627261"/>
          </a:xfrm>
          <a:prstGeom prst="rect">
            <a:avLst/>
          </a:prstGeom>
          <a:noFill/>
        </p:spPr>
        <p:txBody>
          <a:bodyPr wrap="square" lIns="0" rIns="0" tIns="0" bIns="0" anchor="t">
            <a:noAutofit/>
          </a:bodyPr>
          <a:lstStyle/>
          <a:p>
            <a:pPr algn="l">
              <a:lnSpc>
                <a:spcPct val="107000"/>
              </a:lnSpc>
            </a:pPr>
            <a:r>
              <a:rPr sz="1900" b="1" i="0">
                <a:solidFill>
                  <a:srgbClr val="0F7C86"/>
                </a:solidFill>
                <a:latin typeface="Montserrat"/>
              </a:rPr>
              <a:t>É mais uma pista. O próximo passo é uma avaliação organizada, com supervisão.</a:t>
            </a:r>
          </a:p>
        </p:txBody>
      </p:sp>
      <p:sp>
        <p:nvSpPr>
          <p:cNvPr id="9" name="TextBox 8"/>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66717F"/>
                </a:solidFill>
                <a:latin typeface="Montserrat"/>
              </a:rPr>
              <a:t>R2b</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77800" cy="6858000"/>
          </a:xfrm>
          <a:prstGeom prst="rect">
            <a:avLst/>
          </a:prstGeom>
          <a:solidFill>
            <a:srgbClr val="0F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1143893"/>
            <a:ext cx="10307828" cy="379710"/>
          </a:xfrm>
          <a:prstGeom prst="rect">
            <a:avLst/>
          </a:prstGeom>
          <a:noFill/>
        </p:spPr>
        <p:txBody>
          <a:bodyPr wrap="square" lIns="0" rIns="0" tIns="0" bIns="0" anchor="t">
            <a:noAutofit/>
          </a:bodyPr>
          <a:lstStyle/>
          <a:p>
            <a:pPr algn="l">
              <a:lnSpc>
                <a:spcPct val="94000"/>
              </a:lnSpc>
            </a:pPr>
            <a:r>
              <a:rPr sz="2600" b="1" i="0">
                <a:solidFill>
                  <a:srgbClr val="1B2F4B"/>
                </a:solidFill>
                <a:latin typeface="Montserrat"/>
              </a:rPr>
              <a:t>Referências: TEA e neurodiversidade</a:t>
            </a:r>
          </a:p>
        </p:txBody>
      </p:sp>
      <p:sp>
        <p:nvSpPr>
          <p:cNvPr id="4" name="TextBox 3"/>
          <p:cNvSpPr txBox="1"/>
          <p:nvPr/>
        </p:nvSpPr>
        <p:spPr>
          <a:xfrm>
            <a:off x="1168400" y="1637903"/>
            <a:ext cx="10307828" cy="426641"/>
          </a:xfrm>
          <a:prstGeom prst="rect">
            <a:avLst/>
          </a:prstGeom>
          <a:noFill/>
        </p:spPr>
        <p:txBody>
          <a:bodyPr wrap="square" lIns="0" rIns="0" tIns="0" bIns="0" anchor="t">
            <a:noAutofit/>
          </a:bodyPr>
          <a:lstStyle/>
          <a:p>
            <a:pPr algn="l">
              <a:lnSpc>
                <a:spcPct val="115000"/>
              </a:lnSpc>
            </a:pPr>
            <a:r>
              <a:rPr sz="1200" b="0" i="0">
                <a:solidFill>
                  <a:srgbClr val="2E3A4A"/>
                </a:solidFill>
                <a:latin typeface="Montserrat"/>
              </a:rPr>
              <a:t>American Psychiatric Association. (2022). </a:t>
            </a:r>
            <a:r>
              <a:rPr sz="1200" b="0" i="1">
                <a:solidFill>
                  <a:srgbClr val="2E3A4A"/>
                </a:solidFill>
                <a:latin typeface="Montserrat"/>
              </a:rPr>
              <a:t>Diagnostic and statistical manual of mental disorders</a:t>
            </a:r>
            <a:r>
              <a:rPr sz="1200" b="0" i="0">
                <a:solidFill>
                  <a:srgbClr val="2E3A4A"/>
                </a:solidFill>
                <a:latin typeface="Montserrat"/>
              </a:rPr>
              <a:t> (5th ed., text rev.; DSM-5-TR). American Psychiatric Publishing.</a:t>
            </a:r>
          </a:p>
        </p:txBody>
      </p:sp>
      <p:sp>
        <p:nvSpPr>
          <p:cNvPr id="5" name="TextBox 4"/>
          <p:cNvSpPr txBox="1"/>
          <p:nvPr/>
        </p:nvSpPr>
        <p:spPr>
          <a:xfrm>
            <a:off x="1168400" y="2178844"/>
            <a:ext cx="10307828" cy="426641"/>
          </a:xfrm>
          <a:prstGeom prst="rect">
            <a:avLst/>
          </a:prstGeom>
          <a:noFill/>
        </p:spPr>
        <p:txBody>
          <a:bodyPr wrap="square" lIns="0" rIns="0" tIns="0" bIns="0" anchor="t">
            <a:noAutofit/>
          </a:bodyPr>
          <a:lstStyle/>
          <a:p>
            <a:pPr algn="l">
              <a:lnSpc>
                <a:spcPct val="115000"/>
              </a:lnSpc>
            </a:pPr>
            <a:r>
              <a:rPr sz="1200" b="0" i="0">
                <a:solidFill>
                  <a:srgbClr val="2E3A4A"/>
                </a:solidFill>
                <a:latin typeface="Montserrat"/>
              </a:rPr>
              <a:t>Bottema-Beutel, K., Kapp, S. K., Lester, J. N., Sasson, N. J., &amp; Hand, B. N. (2021). Avoiding ableist language: Suggestions for autism researchers. </a:t>
            </a:r>
            <a:r>
              <a:rPr sz="1200" b="0" i="1">
                <a:solidFill>
                  <a:srgbClr val="2E3A4A"/>
                </a:solidFill>
                <a:latin typeface="Montserrat"/>
              </a:rPr>
              <a:t>Autism in Adulthood, 3</a:t>
            </a:r>
            <a:r>
              <a:rPr sz="1200" b="0" i="0">
                <a:solidFill>
                  <a:srgbClr val="2E3A4A"/>
                </a:solidFill>
                <a:latin typeface="Montserrat"/>
              </a:rPr>
              <a:t>(1), 18–29. https://doi.org/10.1089/aut.2020.0014</a:t>
            </a:r>
          </a:p>
        </p:txBody>
      </p:sp>
      <p:sp>
        <p:nvSpPr>
          <p:cNvPr id="6" name="TextBox 5"/>
          <p:cNvSpPr txBox="1"/>
          <p:nvPr/>
        </p:nvSpPr>
        <p:spPr>
          <a:xfrm>
            <a:off x="1168400" y="2719784"/>
            <a:ext cx="10307828" cy="426641"/>
          </a:xfrm>
          <a:prstGeom prst="rect">
            <a:avLst/>
          </a:prstGeom>
          <a:noFill/>
        </p:spPr>
        <p:txBody>
          <a:bodyPr wrap="square" lIns="0" rIns="0" tIns="0" bIns="0" anchor="t">
            <a:noAutofit/>
          </a:bodyPr>
          <a:lstStyle/>
          <a:p>
            <a:pPr algn="l">
              <a:lnSpc>
                <a:spcPct val="115000"/>
              </a:lnSpc>
            </a:pPr>
            <a:r>
              <a:rPr sz="1200" b="0" i="0">
                <a:solidFill>
                  <a:srgbClr val="2E3A4A"/>
                </a:solidFill>
                <a:latin typeface="Montserrat"/>
              </a:rPr>
              <a:t>Kapp, S. K., Gillespie-Lynch, K., Sherman, L. E., &amp; Hutman, T. (2013). Deficit, difference, or both? Autism and neurodiversity. </a:t>
            </a:r>
            <a:r>
              <a:rPr sz="1200" b="0" i="1">
                <a:solidFill>
                  <a:srgbClr val="2E3A4A"/>
                </a:solidFill>
                <a:latin typeface="Montserrat"/>
              </a:rPr>
              <a:t>Developmental Psychology, 49</a:t>
            </a:r>
            <a:r>
              <a:rPr sz="1200" b="0" i="0">
                <a:solidFill>
                  <a:srgbClr val="2E3A4A"/>
                </a:solidFill>
                <a:latin typeface="Montserrat"/>
              </a:rPr>
              <a:t>(1), 59–71. https://doi.org/10.1037/a0028353</a:t>
            </a:r>
          </a:p>
        </p:txBody>
      </p:sp>
      <p:sp>
        <p:nvSpPr>
          <p:cNvPr id="7" name="TextBox 6"/>
          <p:cNvSpPr txBox="1"/>
          <p:nvPr/>
        </p:nvSpPr>
        <p:spPr>
          <a:xfrm>
            <a:off x="1168400" y="3260725"/>
            <a:ext cx="10307828" cy="426641"/>
          </a:xfrm>
          <a:prstGeom prst="rect">
            <a:avLst/>
          </a:prstGeom>
          <a:noFill/>
        </p:spPr>
        <p:txBody>
          <a:bodyPr wrap="square" lIns="0" rIns="0" tIns="0" bIns="0" anchor="t">
            <a:noAutofit/>
          </a:bodyPr>
          <a:lstStyle/>
          <a:p>
            <a:pPr algn="l">
              <a:lnSpc>
                <a:spcPct val="115000"/>
              </a:lnSpc>
            </a:pPr>
            <a:r>
              <a:rPr sz="1200" b="0" i="0">
                <a:solidFill>
                  <a:srgbClr val="2E3A4A"/>
                </a:solidFill>
                <a:latin typeface="Montserrat"/>
              </a:rPr>
              <a:t>Lord, C., Brugha, T. S., Charman, T., et al. (2020). Autism spectrum disorder. </a:t>
            </a:r>
            <a:r>
              <a:rPr sz="1200" b="0" i="1">
                <a:solidFill>
                  <a:srgbClr val="2E3A4A"/>
                </a:solidFill>
                <a:latin typeface="Montserrat"/>
              </a:rPr>
              <a:t>Nature Reviews Disease Primers, 6</a:t>
            </a:r>
            <a:r>
              <a:rPr sz="1200" b="0" i="0">
                <a:solidFill>
                  <a:srgbClr val="2E3A4A"/>
                </a:solidFill>
                <a:latin typeface="Montserrat"/>
              </a:rPr>
              <a:t>, 5. https://doi.org/10.1038/s41572-019-0138-4</a:t>
            </a:r>
          </a:p>
        </p:txBody>
      </p:sp>
      <p:sp>
        <p:nvSpPr>
          <p:cNvPr id="8" name="TextBox 7"/>
          <p:cNvSpPr txBox="1"/>
          <p:nvPr/>
        </p:nvSpPr>
        <p:spPr>
          <a:xfrm>
            <a:off x="1168400" y="3801666"/>
            <a:ext cx="10307828" cy="426641"/>
          </a:xfrm>
          <a:prstGeom prst="rect">
            <a:avLst/>
          </a:prstGeom>
          <a:noFill/>
        </p:spPr>
        <p:txBody>
          <a:bodyPr wrap="square" lIns="0" rIns="0" tIns="0" bIns="0" anchor="t">
            <a:noAutofit/>
          </a:bodyPr>
          <a:lstStyle/>
          <a:p>
            <a:pPr algn="l">
              <a:lnSpc>
                <a:spcPct val="115000"/>
              </a:lnSpc>
            </a:pPr>
            <a:r>
              <a:rPr sz="1200" b="0" i="0">
                <a:solidFill>
                  <a:srgbClr val="2E3A4A"/>
                </a:solidFill>
                <a:latin typeface="Montserrat"/>
              </a:rPr>
              <a:t>Lord, C., Charman, T., Havdahl, A., et al. (2022). The Lancet Commission on the future of care and clinical research in autism. </a:t>
            </a:r>
            <a:r>
              <a:rPr sz="1200" b="0" i="1">
                <a:solidFill>
                  <a:srgbClr val="2E3A4A"/>
                </a:solidFill>
                <a:latin typeface="Montserrat"/>
              </a:rPr>
              <a:t>The Lancet, 399</a:t>
            </a:r>
            <a:r>
              <a:rPr sz="1200" b="0" i="0">
                <a:solidFill>
                  <a:srgbClr val="2E3A4A"/>
                </a:solidFill>
                <a:latin typeface="Montserrat"/>
              </a:rPr>
              <a:t>(10321), 271–334. https://doi.org/10.1016/S0140-6736(21)01541-5</a:t>
            </a:r>
          </a:p>
        </p:txBody>
      </p:sp>
      <p:sp>
        <p:nvSpPr>
          <p:cNvPr id="9" name="TextBox 8"/>
          <p:cNvSpPr txBox="1"/>
          <p:nvPr/>
        </p:nvSpPr>
        <p:spPr>
          <a:xfrm>
            <a:off x="1168400" y="4342606"/>
            <a:ext cx="10307828" cy="639961"/>
          </a:xfrm>
          <a:prstGeom prst="rect">
            <a:avLst/>
          </a:prstGeom>
          <a:noFill/>
        </p:spPr>
        <p:txBody>
          <a:bodyPr wrap="square" lIns="0" rIns="0" tIns="0" bIns="0" anchor="t">
            <a:noAutofit/>
          </a:bodyPr>
          <a:lstStyle/>
          <a:p>
            <a:pPr algn="l">
              <a:lnSpc>
                <a:spcPct val="115000"/>
              </a:lnSpc>
            </a:pPr>
            <a:r>
              <a:rPr sz="1200" b="0" i="0">
                <a:solidFill>
                  <a:srgbClr val="2E3A4A"/>
                </a:solidFill>
                <a:latin typeface="Montserrat"/>
              </a:rPr>
              <a:t>Shaw, K. A., Williams, S., Patrick, M. E., et al. (2025). Prevalence and early identification of autism spectrum disorder among children aged 4 and 8 years — ADDM Network, 16 sites, United States, 2022. </a:t>
            </a:r>
            <a:r>
              <a:rPr sz="1200" b="0" i="1">
                <a:solidFill>
                  <a:srgbClr val="2E3A4A"/>
                </a:solidFill>
                <a:latin typeface="Montserrat"/>
              </a:rPr>
              <a:t>MMWR Surveillance Summaries, 74</a:t>
            </a:r>
            <a:r>
              <a:rPr sz="1200" b="0" i="0">
                <a:solidFill>
                  <a:srgbClr val="2E3A4A"/>
                </a:solidFill>
                <a:latin typeface="Montserrat"/>
              </a:rPr>
              <a:t>(SS-2), 1–22. https://doi.org/10.15585/mmwr.ss7402a1</a:t>
            </a:r>
          </a:p>
        </p:txBody>
      </p:sp>
      <p:sp>
        <p:nvSpPr>
          <p:cNvPr id="10" name="TextBox 9"/>
          <p:cNvSpPr txBox="1"/>
          <p:nvPr/>
        </p:nvSpPr>
        <p:spPr>
          <a:xfrm>
            <a:off x="1168400" y="5096867"/>
            <a:ext cx="10307828" cy="426641"/>
          </a:xfrm>
          <a:prstGeom prst="rect">
            <a:avLst/>
          </a:prstGeom>
          <a:noFill/>
        </p:spPr>
        <p:txBody>
          <a:bodyPr wrap="square" lIns="0" rIns="0" tIns="0" bIns="0" anchor="t">
            <a:noAutofit/>
          </a:bodyPr>
          <a:lstStyle/>
          <a:p>
            <a:pPr algn="l">
              <a:lnSpc>
                <a:spcPct val="115000"/>
              </a:lnSpc>
            </a:pPr>
            <a:r>
              <a:rPr sz="1200" b="0" i="0">
                <a:solidFill>
                  <a:srgbClr val="2E3A4A"/>
                </a:solidFill>
                <a:latin typeface="Montserrat"/>
              </a:rPr>
              <a:t>Zeidan, J., Fombonne, E., Scorah, J., et al. (2022). Global prevalence of autism: A systematic review update. </a:t>
            </a:r>
            <a:r>
              <a:rPr sz="1200" b="0" i="1">
                <a:solidFill>
                  <a:srgbClr val="2E3A4A"/>
                </a:solidFill>
                <a:latin typeface="Montserrat"/>
              </a:rPr>
              <a:t>Autism Research, 15</a:t>
            </a:r>
            <a:r>
              <a:rPr sz="1200" b="0" i="0">
                <a:solidFill>
                  <a:srgbClr val="2E3A4A"/>
                </a:solidFill>
                <a:latin typeface="Montserrat"/>
              </a:rPr>
              <a:t>(5), 778–790. https://doi.org/10.1002/aur.2696</a:t>
            </a:r>
          </a:p>
        </p:txBody>
      </p:sp>
      <p:sp>
        <p:nvSpPr>
          <p:cNvPr id="11" name="TextBox 10"/>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66717F"/>
                </a:solidFill>
                <a:latin typeface="Montserrat"/>
              </a:rPr>
              <a:t>A1</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77800" cy="6858000"/>
          </a:xfrm>
          <a:prstGeom prst="rect">
            <a:avLst/>
          </a:prstGeom>
          <a:solidFill>
            <a:srgbClr val="0F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1250553"/>
            <a:ext cx="10307828" cy="379710"/>
          </a:xfrm>
          <a:prstGeom prst="rect">
            <a:avLst/>
          </a:prstGeom>
          <a:noFill/>
        </p:spPr>
        <p:txBody>
          <a:bodyPr wrap="square" lIns="0" rIns="0" tIns="0" bIns="0" anchor="t">
            <a:noAutofit/>
          </a:bodyPr>
          <a:lstStyle/>
          <a:p>
            <a:pPr algn="l">
              <a:lnSpc>
                <a:spcPct val="94000"/>
              </a:lnSpc>
            </a:pPr>
            <a:r>
              <a:rPr sz="2600" b="1" i="0">
                <a:solidFill>
                  <a:srgbClr val="1B2F4B"/>
                </a:solidFill>
                <a:latin typeface="Montserrat"/>
              </a:rPr>
              <a:t>Referências: ABA e análise funcional</a:t>
            </a:r>
          </a:p>
        </p:txBody>
      </p:sp>
      <p:sp>
        <p:nvSpPr>
          <p:cNvPr id="4" name="TextBox 3"/>
          <p:cNvSpPr txBox="1"/>
          <p:nvPr/>
        </p:nvSpPr>
        <p:spPr>
          <a:xfrm>
            <a:off x="1168400" y="1744563"/>
            <a:ext cx="10307828" cy="426641"/>
          </a:xfrm>
          <a:prstGeom prst="rect">
            <a:avLst/>
          </a:prstGeom>
          <a:noFill/>
        </p:spPr>
        <p:txBody>
          <a:bodyPr wrap="square" lIns="0" rIns="0" tIns="0" bIns="0" anchor="t">
            <a:noAutofit/>
          </a:bodyPr>
          <a:lstStyle/>
          <a:p>
            <a:pPr algn="l">
              <a:lnSpc>
                <a:spcPct val="115000"/>
              </a:lnSpc>
            </a:pPr>
            <a:r>
              <a:rPr sz="1200" b="0" i="0">
                <a:solidFill>
                  <a:srgbClr val="2E3A4A"/>
                </a:solidFill>
                <a:latin typeface="Montserrat"/>
              </a:rPr>
              <a:t>Baer, D. M., Wolf, M. M., &amp; Risley, T. R. (1968). Some current dimensions of applied behavior analysis. </a:t>
            </a:r>
            <a:r>
              <a:rPr sz="1200" b="0" i="1">
                <a:solidFill>
                  <a:srgbClr val="2E3A4A"/>
                </a:solidFill>
                <a:latin typeface="Montserrat"/>
              </a:rPr>
              <a:t>Journal of Applied Behavior Analysis, 1</a:t>
            </a:r>
            <a:r>
              <a:rPr sz="1200" b="0" i="0">
                <a:solidFill>
                  <a:srgbClr val="2E3A4A"/>
                </a:solidFill>
                <a:latin typeface="Montserrat"/>
              </a:rPr>
              <a:t>(1), 91–97. https://doi.org/10.1901/jaba.1968.1-91</a:t>
            </a:r>
          </a:p>
        </p:txBody>
      </p:sp>
      <p:sp>
        <p:nvSpPr>
          <p:cNvPr id="5" name="TextBox 4"/>
          <p:cNvSpPr txBox="1"/>
          <p:nvPr/>
        </p:nvSpPr>
        <p:spPr>
          <a:xfrm>
            <a:off x="1168400" y="2285504"/>
            <a:ext cx="10307828" cy="213320"/>
          </a:xfrm>
          <a:prstGeom prst="rect">
            <a:avLst/>
          </a:prstGeom>
          <a:noFill/>
        </p:spPr>
        <p:txBody>
          <a:bodyPr wrap="square" lIns="0" rIns="0" tIns="0" bIns="0" anchor="t">
            <a:noAutofit/>
          </a:bodyPr>
          <a:lstStyle/>
          <a:p>
            <a:pPr algn="l">
              <a:lnSpc>
                <a:spcPct val="115000"/>
              </a:lnSpc>
            </a:pPr>
            <a:r>
              <a:rPr sz="1200" b="0" i="0">
                <a:solidFill>
                  <a:srgbClr val="2E3A4A"/>
                </a:solidFill>
                <a:latin typeface="Montserrat"/>
              </a:rPr>
              <a:t>Cooper, J. O., Heron, T. E., &amp; Heward, W. L. (2020). </a:t>
            </a:r>
            <a:r>
              <a:rPr sz="1200" b="0" i="1">
                <a:solidFill>
                  <a:srgbClr val="2E3A4A"/>
                </a:solidFill>
                <a:latin typeface="Montserrat"/>
              </a:rPr>
              <a:t>Applied behavior analysis</a:t>
            </a:r>
            <a:r>
              <a:rPr sz="1200" b="0" i="0">
                <a:solidFill>
                  <a:srgbClr val="2E3A4A"/>
                </a:solidFill>
                <a:latin typeface="Montserrat"/>
              </a:rPr>
              <a:t> (3rd ed.). Pearson.</a:t>
            </a:r>
          </a:p>
        </p:txBody>
      </p:sp>
      <p:sp>
        <p:nvSpPr>
          <p:cNvPr id="6" name="TextBox 5"/>
          <p:cNvSpPr txBox="1"/>
          <p:nvPr/>
        </p:nvSpPr>
        <p:spPr>
          <a:xfrm>
            <a:off x="1168400" y="2613124"/>
            <a:ext cx="10307828" cy="426641"/>
          </a:xfrm>
          <a:prstGeom prst="rect">
            <a:avLst/>
          </a:prstGeom>
          <a:noFill/>
        </p:spPr>
        <p:txBody>
          <a:bodyPr wrap="square" lIns="0" rIns="0" tIns="0" bIns="0" anchor="t">
            <a:noAutofit/>
          </a:bodyPr>
          <a:lstStyle/>
          <a:p>
            <a:pPr algn="l">
              <a:lnSpc>
                <a:spcPct val="115000"/>
              </a:lnSpc>
            </a:pPr>
            <a:r>
              <a:rPr sz="1200" b="0" i="0">
                <a:solidFill>
                  <a:srgbClr val="2E3A4A"/>
                </a:solidFill>
                <a:latin typeface="Montserrat"/>
              </a:rPr>
              <a:t>Hanley, G. P. (2012). Functional assessment of problem behavior: Dispelling myths, overcoming implementation obstacles, and developing new lore. </a:t>
            </a:r>
            <a:r>
              <a:rPr sz="1200" b="0" i="1">
                <a:solidFill>
                  <a:srgbClr val="2E3A4A"/>
                </a:solidFill>
                <a:latin typeface="Montserrat"/>
              </a:rPr>
              <a:t>Behavior Analysis in Practice, 5</a:t>
            </a:r>
            <a:r>
              <a:rPr sz="1200" b="0" i="0">
                <a:solidFill>
                  <a:srgbClr val="2E3A4A"/>
                </a:solidFill>
                <a:latin typeface="Montserrat"/>
              </a:rPr>
              <a:t>(1), 54–72. https://doi.org/10.1007/BF03391818</a:t>
            </a:r>
          </a:p>
        </p:txBody>
      </p:sp>
      <p:sp>
        <p:nvSpPr>
          <p:cNvPr id="7" name="TextBox 6"/>
          <p:cNvSpPr txBox="1"/>
          <p:nvPr/>
        </p:nvSpPr>
        <p:spPr>
          <a:xfrm>
            <a:off x="1168400" y="3154065"/>
            <a:ext cx="10307828" cy="426641"/>
          </a:xfrm>
          <a:prstGeom prst="rect">
            <a:avLst/>
          </a:prstGeom>
          <a:noFill/>
        </p:spPr>
        <p:txBody>
          <a:bodyPr wrap="square" lIns="0" rIns="0" tIns="0" bIns="0" anchor="t">
            <a:noAutofit/>
          </a:bodyPr>
          <a:lstStyle/>
          <a:p>
            <a:pPr algn="l">
              <a:lnSpc>
                <a:spcPct val="115000"/>
              </a:lnSpc>
            </a:pPr>
            <a:r>
              <a:rPr sz="1200" b="0" i="0">
                <a:solidFill>
                  <a:srgbClr val="2E3A4A"/>
                </a:solidFill>
                <a:latin typeface="Montserrat"/>
              </a:rPr>
              <a:t>Hanley, G. P., Iwata, B. A., &amp; McCord, B. E. (2003). Functional analysis of problem behavior: A review. </a:t>
            </a:r>
            <a:r>
              <a:rPr sz="1200" b="0" i="1">
                <a:solidFill>
                  <a:srgbClr val="2E3A4A"/>
                </a:solidFill>
                <a:latin typeface="Montserrat"/>
              </a:rPr>
              <a:t>Journal of Applied Behavior Analysis, 36</a:t>
            </a:r>
            <a:r>
              <a:rPr sz="1200" b="0" i="0">
                <a:solidFill>
                  <a:srgbClr val="2E3A4A"/>
                </a:solidFill>
                <a:latin typeface="Montserrat"/>
              </a:rPr>
              <a:t>(2), 147–185. https://doi.org/10.1901/jaba.2003.36-147</a:t>
            </a:r>
          </a:p>
        </p:txBody>
      </p:sp>
      <p:sp>
        <p:nvSpPr>
          <p:cNvPr id="8" name="TextBox 7"/>
          <p:cNvSpPr txBox="1"/>
          <p:nvPr/>
        </p:nvSpPr>
        <p:spPr>
          <a:xfrm>
            <a:off x="1168400" y="3695005"/>
            <a:ext cx="10307828" cy="639961"/>
          </a:xfrm>
          <a:prstGeom prst="rect">
            <a:avLst/>
          </a:prstGeom>
          <a:noFill/>
        </p:spPr>
        <p:txBody>
          <a:bodyPr wrap="square" lIns="0" rIns="0" tIns="0" bIns="0" anchor="t">
            <a:noAutofit/>
          </a:bodyPr>
          <a:lstStyle/>
          <a:p>
            <a:pPr algn="l">
              <a:lnSpc>
                <a:spcPct val="115000"/>
              </a:lnSpc>
            </a:pPr>
            <a:r>
              <a:rPr sz="1200" b="0" i="0">
                <a:solidFill>
                  <a:srgbClr val="2E3A4A"/>
                </a:solidFill>
                <a:latin typeface="Montserrat"/>
              </a:rPr>
              <a:t>Hanley, G. P., Jin, C. S., Vanselow, N. R., &amp; Hanratty, L. A. (2014). Producing meaningful improvements in problem behavior of children with autism via synthesized analyses and treatments. </a:t>
            </a:r>
            <a:r>
              <a:rPr sz="1200" b="0" i="1">
                <a:solidFill>
                  <a:srgbClr val="2E3A4A"/>
                </a:solidFill>
                <a:latin typeface="Montserrat"/>
              </a:rPr>
              <a:t>Journal of Applied Behavior Analysis, 47</a:t>
            </a:r>
            <a:r>
              <a:rPr sz="1200" b="0" i="0">
                <a:solidFill>
                  <a:srgbClr val="2E3A4A"/>
                </a:solidFill>
                <a:latin typeface="Montserrat"/>
              </a:rPr>
              <a:t>(1), 16–36. https://doi.org/10.1002/jaba.106</a:t>
            </a:r>
          </a:p>
        </p:txBody>
      </p:sp>
      <p:sp>
        <p:nvSpPr>
          <p:cNvPr id="9" name="TextBox 8"/>
          <p:cNvSpPr txBox="1"/>
          <p:nvPr/>
        </p:nvSpPr>
        <p:spPr>
          <a:xfrm>
            <a:off x="1168400" y="4449266"/>
            <a:ext cx="10307828" cy="426641"/>
          </a:xfrm>
          <a:prstGeom prst="rect">
            <a:avLst/>
          </a:prstGeom>
          <a:noFill/>
        </p:spPr>
        <p:txBody>
          <a:bodyPr wrap="square" lIns="0" rIns="0" tIns="0" bIns="0" anchor="t">
            <a:noAutofit/>
          </a:bodyPr>
          <a:lstStyle/>
          <a:p>
            <a:pPr algn="l">
              <a:lnSpc>
                <a:spcPct val="115000"/>
              </a:lnSpc>
            </a:pPr>
            <a:r>
              <a:rPr sz="1200" b="0" i="0">
                <a:solidFill>
                  <a:srgbClr val="2E3A4A"/>
                </a:solidFill>
                <a:latin typeface="Montserrat"/>
              </a:rPr>
              <a:t>Iwata, B. A., Dorsey, M. F., Slifer, K. J., Bauman, K. E., &amp; Richman, G. S. (1994). Toward a functional analysis of self-injury. </a:t>
            </a:r>
            <a:r>
              <a:rPr sz="1200" b="0" i="1">
                <a:solidFill>
                  <a:srgbClr val="2E3A4A"/>
                </a:solidFill>
                <a:latin typeface="Montserrat"/>
              </a:rPr>
              <a:t>Journal of Applied Behavior Analysis, 27</a:t>
            </a:r>
            <a:r>
              <a:rPr sz="1200" b="0" i="0">
                <a:solidFill>
                  <a:srgbClr val="2E3A4A"/>
                </a:solidFill>
                <a:latin typeface="Montserrat"/>
              </a:rPr>
              <a:t>(2), 197–209. https://doi.org/10.1901/jaba.1994.27-197 (Original publicado em 1982)</a:t>
            </a:r>
          </a:p>
        </p:txBody>
      </p:sp>
      <p:sp>
        <p:nvSpPr>
          <p:cNvPr id="10" name="TextBox 9"/>
          <p:cNvSpPr txBox="1"/>
          <p:nvPr/>
        </p:nvSpPr>
        <p:spPr>
          <a:xfrm>
            <a:off x="1168400" y="4990207"/>
            <a:ext cx="10307828" cy="426641"/>
          </a:xfrm>
          <a:prstGeom prst="rect">
            <a:avLst/>
          </a:prstGeom>
          <a:noFill/>
        </p:spPr>
        <p:txBody>
          <a:bodyPr wrap="square" lIns="0" rIns="0" tIns="0" bIns="0" anchor="t">
            <a:noAutofit/>
          </a:bodyPr>
          <a:lstStyle/>
          <a:p>
            <a:pPr algn="l">
              <a:lnSpc>
                <a:spcPct val="115000"/>
              </a:lnSpc>
            </a:pPr>
            <a:r>
              <a:rPr sz="1200" b="0" i="0">
                <a:solidFill>
                  <a:srgbClr val="2E3A4A"/>
                </a:solidFill>
                <a:latin typeface="Montserrat"/>
              </a:rPr>
              <a:t>Laraway, S., Snycerski, S., Michael, J., &amp; Poling, A. (2003). Motivating operations and terms to describe them: Some further refinements. </a:t>
            </a:r>
            <a:r>
              <a:rPr sz="1200" b="0" i="1">
                <a:solidFill>
                  <a:srgbClr val="2E3A4A"/>
                </a:solidFill>
                <a:latin typeface="Montserrat"/>
              </a:rPr>
              <a:t>Journal of Applied Behavior Analysis, 36</a:t>
            </a:r>
            <a:r>
              <a:rPr sz="1200" b="0" i="0">
                <a:solidFill>
                  <a:srgbClr val="2E3A4A"/>
                </a:solidFill>
                <a:latin typeface="Montserrat"/>
              </a:rPr>
              <a:t>(3), 407–414. https://doi.org/10.1901/jaba.2003.36-407</a:t>
            </a:r>
          </a:p>
        </p:txBody>
      </p:sp>
      <p:sp>
        <p:nvSpPr>
          <p:cNvPr id="11" name="TextBox 10"/>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66717F"/>
                </a:solidFill>
                <a:latin typeface="Montserrat"/>
              </a:rPr>
              <a:t>A2</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77800" cy="6858000"/>
          </a:xfrm>
          <a:prstGeom prst="rect">
            <a:avLst/>
          </a:prstGeom>
          <a:solidFill>
            <a:srgbClr val="0F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1357213"/>
            <a:ext cx="10307828" cy="379710"/>
          </a:xfrm>
          <a:prstGeom prst="rect">
            <a:avLst/>
          </a:prstGeom>
          <a:noFill/>
        </p:spPr>
        <p:txBody>
          <a:bodyPr wrap="square" lIns="0" rIns="0" tIns="0" bIns="0" anchor="t">
            <a:noAutofit/>
          </a:bodyPr>
          <a:lstStyle/>
          <a:p>
            <a:pPr algn="l">
              <a:lnSpc>
                <a:spcPct val="94000"/>
              </a:lnSpc>
            </a:pPr>
            <a:r>
              <a:rPr sz="2600" b="1" i="0">
                <a:solidFill>
                  <a:srgbClr val="1B2F4B"/>
                </a:solidFill>
                <a:latin typeface="Montserrat"/>
              </a:rPr>
              <a:t>Referências: ABA, TCC e intervenção</a:t>
            </a:r>
          </a:p>
        </p:txBody>
      </p:sp>
      <p:sp>
        <p:nvSpPr>
          <p:cNvPr id="4" name="TextBox 3"/>
          <p:cNvSpPr txBox="1"/>
          <p:nvPr/>
        </p:nvSpPr>
        <p:spPr>
          <a:xfrm>
            <a:off x="1168400" y="1851223"/>
            <a:ext cx="10307828" cy="213320"/>
          </a:xfrm>
          <a:prstGeom prst="rect">
            <a:avLst/>
          </a:prstGeom>
          <a:noFill/>
        </p:spPr>
        <p:txBody>
          <a:bodyPr wrap="square" lIns="0" rIns="0" tIns="0" bIns="0" anchor="t">
            <a:noAutofit/>
          </a:bodyPr>
          <a:lstStyle/>
          <a:p>
            <a:pPr algn="l">
              <a:lnSpc>
                <a:spcPct val="115000"/>
              </a:lnSpc>
            </a:pPr>
            <a:r>
              <a:rPr sz="1200" b="0" i="0">
                <a:solidFill>
                  <a:srgbClr val="2E3A4A"/>
                </a:solidFill>
                <a:latin typeface="Montserrat"/>
              </a:rPr>
              <a:t>Beck, J. S. (2021). </a:t>
            </a:r>
            <a:r>
              <a:rPr sz="1200" b="0" i="1">
                <a:solidFill>
                  <a:srgbClr val="2E3A4A"/>
                </a:solidFill>
                <a:latin typeface="Montserrat"/>
              </a:rPr>
              <a:t>Cognitive behavior therapy: Basics and beyond</a:t>
            </a:r>
            <a:r>
              <a:rPr sz="1200" b="0" i="0">
                <a:solidFill>
                  <a:srgbClr val="2E3A4A"/>
                </a:solidFill>
                <a:latin typeface="Montserrat"/>
              </a:rPr>
              <a:t> (3rd ed.). Guilford Press.</a:t>
            </a:r>
          </a:p>
        </p:txBody>
      </p:sp>
      <p:sp>
        <p:nvSpPr>
          <p:cNvPr id="5" name="TextBox 4"/>
          <p:cNvSpPr txBox="1"/>
          <p:nvPr/>
        </p:nvSpPr>
        <p:spPr>
          <a:xfrm>
            <a:off x="1168400" y="2178844"/>
            <a:ext cx="10307828" cy="426641"/>
          </a:xfrm>
          <a:prstGeom prst="rect">
            <a:avLst/>
          </a:prstGeom>
          <a:noFill/>
        </p:spPr>
        <p:txBody>
          <a:bodyPr wrap="square" lIns="0" rIns="0" tIns="0" bIns="0" anchor="t">
            <a:noAutofit/>
          </a:bodyPr>
          <a:lstStyle/>
          <a:p>
            <a:pPr algn="l">
              <a:lnSpc>
                <a:spcPct val="115000"/>
              </a:lnSpc>
            </a:pPr>
            <a:r>
              <a:rPr sz="1200" b="0" i="0">
                <a:solidFill>
                  <a:srgbClr val="2E3A4A"/>
                </a:solidFill>
                <a:latin typeface="Montserrat"/>
              </a:rPr>
              <a:t>Carr, E. G., &amp; Durand, V. M. (1985). Reducing behavior problems through functional communication training. </a:t>
            </a:r>
            <a:r>
              <a:rPr sz="1200" b="0" i="1">
                <a:solidFill>
                  <a:srgbClr val="2E3A4A"/>
                </a:solidFill>
                <a:latin typeface="Montserrat"/>
              </a:rPr>
              <a:t>Journal of Applied Behavior Analysis, 18</a:t>
            </a:r>
            <a:r>
              <a:rPr sz="1200" b="0" i="0">
                <a:solidFill>
                  <a:srgbClr val="2E3A4A"/>
                </a:solidFill>
                <a:latin typeface="Montserrat"/>
              </a:rPr>
              <a:t>(2), 111–126. https://doi.org/10.1901/jaba.1985.18-111</a:t>
            </a:r>
          </a:p>
        </p:txBody>
      </p:sp>
      <p:sp>
        <p:nvSpPr>
          <p:cNvPr id="6" name="TextBox 5"/>
          <p:cNvSpPr txBox="1"/>
          <p:nvPr/>
        </p:nvSpPr>
        <p:spPr>
          <a:xfrm>
            <a:off x="1168400" y="2719784"/>
            <a:ext cx="10307828" cy="426641"/>
          </a:xfrm>
          <a:prstGeom prst="rect">
            <a:avLst/>
          </a:prstGeom>
          <a:noFill/>
        </p:spPr>
        <p:txBody>
          <a:bodyPr wrap="square" lIns="0" rIns="0" tIns="0" bIns="0" anchor="t">
            <a:noAutofit/>
          </a:bodyPr>
          <a:lstStyle/>
          <a:p>
            <a:pPr algn="l">
              <a:lnSpc>
                <a:spcPct val="115000"/>
              </a:lnSpc>
            </a:pPr>
            <a:r>
              <a:rPr sz="1200" b="0" i="0">
                <a:solidFill>
                  <a:srgbClr val="2E3A4A"/>
                </a:solidFill>
                <a:latin typeface="Montserrat"/>
              </a:rPr>
              <a:t>Hayes, S. C., &amp; Hofmann, S. G. (2017). The third wave of cognitive behavioral therapy and the rise of process-based care. </a:t>
            </a:r>
            <a:r>
              <a:rPr sz="1200" b="0" i="1">
                <a:solidFill>
                  <a:srgbClr val="2E3A4A"/>
                </a:solidFill>
                <a:latin typeface="Montserrat"/>
              </a:rPr>
              <a:t>World Psychiatry, 16</a:t>
            </a:r>
            <a:r>
              <a:rPr sz="1200" b="0" i="0">
                <a:solidFill>
                  <a:srgbClr val="2E3A4A"/>
                </a:solidFill>
                <a:latin typeface="Montserrat"/>
              </a:rPr>
              <a:t>(3), 245–246. https://doi.org/10.1002/wps.20442</a:t>
            </a:r>
          </a:p>
        </p:txBody>
      </p:sp>
      <p:sp>
        <p:nvSpPr>
          <p:cNvPr id="7" name="TextBox 6"/>
          <p:cNvSpPr txBox="1"/>
          <p:nvPr/>
        </p:nvSpPr>
        <p:spPr>
          <a:xfrm>
            <a:off x="1168400" y="3260725"/>
            <a:ext cx="10307828" cy="639961"/>
          </a:xfrm>
          <a:prstGeom prst="rect">
            <a:avLst/>
          </a:prstGeom>
          <a:noFill/>
        </p:spPr>
        <p:txBody>
          <a:bodyPr wrap="square" lIns="0" rIns="0" tIns="0" bIns="0" anchor="t">
            <a:noAutofit/>
          </a:bodyPr>
          <a:lstStyle/>
          <a:p>
            <a:pPr algn="l">
              <a:lnSpc>
                <a:spcPct val="115000"/>
              </a:lnSpc>
            </a:pPr>
            <a:r>
              <a:rPr sz="1200" b="0" i="0">
                <a:solidFill>
                  <a:srgbClr val="2E3A4A"/>
                </a:solidFill>
                <a:latin typeface="Montserrat"/>
              </a:rPr>
              <a:t>Hume, K., Steinbrenner, J. R., Odom, S. L., et al. (2021). Evidence-based practices for children, youth, and young adults with autism: Third generation review. </a:t>
            </a:r>
            <a:r>
              <a:rPr sz="1200" b="0" i="1">
                <a:solidFill>
                  <a:srgbClr val="2E3A4A"/>
                </a:solidFill>
                <a:latin typeface="Montserrat"/>
              </a:rPr>
              <a:t>Journal of Autism and Developmental Disorders, 51</a:t>
            </a:r>
            <a:r>
              <a:rPr sz="1200" b="0" i="0">
                <a:solidFill>
                  <a:srgbClr val="2E3A4A"/>
                </a:solidFill>
                <a:latin typeface="Montserrat"/>
              </a:rPr>
              <a:t>(11), 4013–4032. https://doi.org/10.1007/s10803-020-04844-2</a:t>
            </a:r>
          </a:p>
        </p:txBody>
      </p:sp>
      <p:sp>
        <p:nvSpPr>
          <p:cNvPr id="8" name="TextBox 7"/>
          <p:cNvSpPr txBox="1"/>
          <p:nvPr/>
        </p:nvSpPr>
        <p:spPr>
          <a:xfrm>
            <a:off x="1168400" y="4014986"/>
            <a:ext cx="10307828" cy="213320"/>
          </a:xfrm>
          <a:prstGeom prst="rect">
            <a:avLst/>
          </a:prstGeom>
          <a:noFill/>
        </p:spPr>
        <p:txBody>
          <a:bodyPr wrap="square" lIns="0" rIns="0" tIns="0" bIns="0" anchor="t">
            <a:noAutofit/>
          </a:bodyPr>
          <a:lstStyle/>
          <a:p>
            <a:pPr algn="l">
              <a:lnSpc>
                <a:spcPct val="115000"/>
              </a:lnSpc>
            </a:pPr>
            <a:r>
              <a:rPr sz="1200" b="0" i="0">
                <a:solidFill>
                  <a:srgbClr val="2E3A4A"/>
                </a:solidFill>
                <a:latin typeface="Montserrat"/>
              </a:rPr>
              <a:t>Skinner, B. F. (1953). </a:t>
            </a:r>
            <a:r>
              <a:rPr sz="1200" b="0" i="1">
                <a:solidFill>
                  <a:srgbClr val="2E3A4A"/>
                </a:solidFill>
                <a:latin typeface="Montserrat"/>
              </a:rPr>
              <a:t>Science and human behavior</a:t>
            </a:r>
            <a:r>
              <a:rPr sz="1200" b="0" i="0">
                <a:solidFill>
                  <a:srgbClr val="2E3A4A"/>
                </a:solidFill>
                <a:latin typeface="Montserrat"/>
              </a:rPr>
              <a:t>. Macmillan.</a:t>
            </a:r>
          </a:p>
        </p:txBody>
      </p:sp>
      <p:sp>
        <p:nvSpPr>
          <p:cNvPr id="9" name="TextBox 8"/>
          <p:cNvSpPr txBox="1"/>
          <p:nvPr/>
        </p:nvSpPr>
        <p:spPr>
          <a:xfrm>
            <a:off x="1168400" y="4342606"/>
            <a:ext cx="10307828" cy="426641"/>
          </a:xfrm>
          <a:prstGeom prst="rect">
            <a:avLst/>
          </a:prstGeom>
          <a:noFill/>
        </p:spPr>
        <p:txBody>
          <a:bodyPr wrap="square" lIns="0" rIns="0" tIns="0" bIns="0" anchor="t">
            <a:noAutofit/>
          </a:bodyPr>
          <a:lstStyle/>
          <a:p>
            <a:pPr algn="l">
              <a:lnSpc>
                <a:spcPct val="115000"/>
              </a:lnSpc>
            </a:pPr>
            <a:r>
              <a:rPr sz="1200" b="0" i="0">
                <a:solidFill>
                  <a:srgbClr val="2E3A4A"/>
                </a:solidFill>
                <a:latin typeface="Montserrat"/>
              </a:rPr>
              <a:t>Tiger, J. H., Hanley, G. P., &amp; Bruzek, J. (2008). Functional communication training: A review and practical guide. </a:t>
            </a:r>
            <a:r>
              <a:rPr sz="1200" b="0" i="1">
                <a:solidFill>
                  <a:srgbClr val="2E3A4A"/>
                </a:solidFill>
                <a:latin typeface="Montserrat"/>
              </a:rPr>
              <a:t>Behavior Analysis in Practice, 1</a:t>
            </a:r>
            <a:r>
              <a:rPr sz="1200" b="0" i="0">
                <a:solidFill>
                  <a:srgbClr val="2E3A4A"/>
                </a:solidFill>
                <a:latin typeface="Montserrat"/>
              </a:rPr>
              <a:t>(1), 16–23. https://doi.org/10.1007/BF03391716</a:t>
            </a:r>
          </a:p>
        </p:txBody>
      </p:sp>
      <p:sp>
        <p:nvSpPr>
          <p:cNvPr id="10" name="TextBox 9"/>
          <p:cNvSpPr txBox="1"/>
          <p:nvPr/>
        </p:nvSpPr>
        <p:spPr>
          <a:xfrm>
            <a:off x="1168400" y="4883547"/>
            <a:ext cx="10307828" cy="426641"/>
          </a:xfrm>
          <a:prstGeom prst="rect">
            <a:avLst/>
          </a:prstGeom>
          <a:noFill/>
        </p:spPr>
        <p:txBody>
          <a:bodyPr wrap="square" lIns="0" rIns="0" tIns="0" bIns="0" anchor="t">
            <a:noAutofit/>
          </a:bodyPr>
          <a:lstStyle/>
          <a:p>
            <a:pPr algn="l">
              <a:lnSpc>
                <a:spcPct val="115000"/>
              </a:lnSpc>
            </a:pPr>
            <a:r>
              <a:rPr sz="1200" b="0" i="0">
                <a:solidFill>
                  <a:srgbClr val="2E3A4A"/>
                </a:solidFill>
                <a:latin typeface="Montserrat"/>
              </a:rPr>
              <a:t>Wood, J. J., Kendall, P. C., Wood, K. S., et al. (2020). Cognitive behavioral treatments for anxiety in children with autism spectrum disorder: A randomized clinical trial. </a:t>
            </a:r>
            <a:r>
              <a:rPr sz="1200" b="0" i="1">
                <a:solidFill>
                  <a:srgbClr val="2E3A4A"/>
                </a:solidFill>
                <a:latin typeface="Montserrat"/>
              </a:rPr>
              <a:t>JAMA Psychiatry, 77</a:t>
            </a:r>
            <a:r>
              <a:rPr sz="1200" b="0" i="0">
                <a:solidFill>
                  <a:srgbClr val="2E3A4A"/>
                </a:solidFill>
                <a:latin typeface="Montserrat"/>
              </a:rPr>
              <a:t>(5), 474–483. https://doi.org/10.1001/jamapsychiatry.2019.4160</a:t>
            </a:r>
          </a:p>
        </p:txBody>
      </p:sp>
      <p:sp>
        <p:nvSpPr>
          <p:cNvPr id="11" name="TextBox 10"/>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66717F"/>
                </a:solidFill>
                <a:latin typeface="Montserrat"/>
              </a:rPr>
              <a:t>A3</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77800" cy="6858000"/>
          </a:xfrm>
          <a:prstGeom prst="rect">
            <a:avLst/>
          </a:prstGeom>
          <a:solidFill>
            <a:srgbClr val="0F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1955304"/>
            <a:ext cx="10307828" cy="379710"/>
          </a:xfrm>
          <a:prstGeom prst="rect">
            <a:avLst/>
          </a:prstGeom>
          <a:noFill/>
        </p:spPr>
        <p:txBody>
          <a:bodyPr wrap="square" lIns="0" rIns="0" tIns="0" bIns="0" anchor="t">
            <a:noAutofit/>
          </a:bodyPr>
          <a:lstStyle/>
          <a:p>
            <a:pPr algn="l">
              <a:lnSpc>
                <a:spcPct val="94000"/>
              </a:lnSpc>
            </a:pPr>
            <a:r>
              <a:rPr sz="2600" b="1" i="0">
                <a:solidFill>
                  <a:srgbClr val="1B2F4B"/>
                </a:solidFill>
                <a:latin typeface="Montserrat"/>
              </a:rPr>
              <a:t>Referências: estratégias naturalistas e evidência</a:t>
            </a:r>
          </a:p>
        </p:txBody>
      </p:sp>
      <p:sp>
        <p:nvSpPr>
          <p:cNvPr id="4" name="TextBox 3"/>
          <p:cNvSpPr txBox="1"/>
          <p:nvPr/>
        </p:nvSpPr>
        <p:spPr>
          <a:xfrm>
            <a:off x="1168400" y="2449314"/>
            <a:ext cx="10307828" cy="426641"/>
          </a:xfrm>
          <a:prstGeom prst="rect">
            <a:avLst/>
          </a:prstGeom>
          <a:noFill/>
        </p:spPr>
        <p:txBody>
          <a:bodyPr wrap="square" lIns="0" rIns="0" tIns="0" bIns="0" anchor="t">
            <a:noAutofit/>
          </a:bodyPr>
          <a:lstStyle/>
          <a:p>
            <a:pPr algn="l">
              <a:lnSpc>
                <a:spcPct val="115000"/>
              </a:lnSpc>
            </a:pPr>
            <a:r>
              <a:rPr sz="1200" b="0" i="0">
                <a:solidFill>
                  <a:srgbClr val="2E3A4A"/>
                </a:solidFill>
                <a:latin typeface="Montserrat"/>
              </a:rPr>
              <a:t>Sandbank, M., Bottema-Beutel, K., Crowley, S., et al. (2020). Project AIM: Autism intervention meta-analysis for studies of young children. </a:t>
            </a:r>
            <a:r>
              <a:rPr sz="1200" b="0" i="1">
                <a:solidFill>
                  <a:srgbClr val="2E3A4A"/>
                </a:solidFill>
                <a:latin typeface="Montserrat"/>
              </a:rPr>
              <a:t>Psychological Bulletin, 146</a:t>
            </a:r>
            <a:r>
              <a:rPr sz="1200" b="0" i="0">
                <a:solidFill>
                  <a:srgbClr val="2E3A4A"/>
                </a:solidFill>
                <a:latin typeface="Montserrat"/>
              </a:rPr>
              <a:t>(1), 1–29. https://doi.org/10.1037/bul0000215</a:t>
            </a:r>
          </a:p>
        </p:txBody>
      </p:sp>
      <p:sp>
        <p:nvSpPr>
          <p:cNvPr id="5" name="TextBox 4"/>
          <p:cNvSpPr txBox="1"/>
          <p:nvPr/>
        </p:nvSpPr>
        <p:spPr>
          <a:xfrm>
            <a:off x="1168400" y="2990255"/>
            <a:ext cx="10307828" cy="426641"/>
          </a:xfrm>
          <a:prstGeom prst="rect">
            <a:avLst/>
          </a:prstGeom>
          <a:noFill/>
        </p:spPr>
        <p:txBody>
          <a:bodyPr wrap="square" lIns="0" rIns="0" tIns="0" bIns="0" anchor="t">
            <a:noAutofit/>
          </a:bodyPr>
          <a:lstStyle/>
          <a:p>
            <a:pPr algn="l">
              <a:lnSpc>
                <a:spcPct val="115000"/>
              </a:lnSpc>
            </a:pPr>
            <a:r>
              <a:rPr sz="1200" b="0" i="0">
                <a:solidFill>
                  <a:srgbClr val="2E3A4A"/>
                </a:solidFill>
                <a:latin typeface="Montserrat"/>
              </a:rPr>
              <a:t>Sandbank, M., Bottema-Beutel, K., Crowley LaPoint, S., et al. (2023). Autism intervention meta-analysis of early childhood studies (Project AIM): Updated systematic review and secondary analysis. </a:t>
            </a:r>
            <a:r>
              <a:rPr sz="1200" b="0" i="1">
                <a:solidFill>
                  <a:srgbClr val="2E3A4A"/>
                </a:solidFill>
                <a:latin typeface="Montserrat"/>
              </a:rPr>
              <a:t>BMJ, 383</a:t>
            </a:r>
            <a:r>
              <a:rPr sz="1200" b="0" i="0">
                <a:solidFill>
                  <a:srgbClr val="2E3A4A"/>
                </a:solidFill>
                <a:latin typeface="Montserrat"/>
              </a:rPr>
              <a:t>, e076733. https://doi.org/10.1136/bmj-2023-076733</a:t>
            </a:r>
          </a:p>
        </p:txBody>
      </p:sp>
      <p:sp>
        <p:nvSpPr>
          <p:cNvPr id="6" name="TextBox 5"/>
          <p:cNvSpPr txBox="1"/>
          <p:nvPr/>
        </p:nvSpPr>
        <p:spPr>
          <a:xfrm>
            <a:off x="1168400" y="3531195"/>
            <a:ext cx="10307828" cy="639961"/>
          </a:xfrm>
          <a:prstGeom prst="rect">
            <a:avLst/>
          </a:prstGeom>
          <a:noFill/>
        </p:spPr>
        <p:txBody>
          <a:bodyPr wrap="square" lIns="0" rIns="0" tIns="0" bIns="0" anchor="t">
            <a:noAutofit/>
          </a:bodyPr>
          <a:lstStyle/>
          <a:p>
            <a:pPr algn="l">
              <a:lnSpc>
                <a:spcPct val="115000"/>
              </a:lnSpc>
            </a:pPr>
            <a:r>
              <a:rPr sz="1200" b="0" i="0">
                <a:solidFill>
                  <a:srgbClr val="2E3A4A"/>
                </a:solidFill>
                <a:latin typeface="Montserrat"/>
              </a:rPr>
              <a:t>Schreibman, L., Dawson, G., Stahmer, A. C., et al. (2015). Naturalistic developmental behavioral interventions: Empirically validated treatments for autism spectrum disorder. </a:t>
            </a:r>
            <a:r>
              <a:rPr sz="1200" b="0" i="1">
                <a:solidFill>
                  <a:srgbClr val="2E3A4A"/>
                </a:solidFill>
                <a:latin typeface="Montserrat"/>
              </a:rPr>
              <a:t>Journal of Autism and Developmental Disorders, 45</a:t>
            </a:r>
            <a:r>
              <a:rPr sz="1200" b="0" i="0">
                <a:solidFill>
                  <a:srgbClr val="2E3A4A"/>
                </a:solidFill>
                <a:latin typeface="Montserrat"/>
              </a:rPr>
              <a:t>(8), 2411–2428. https://doi.org/10.1007/s10803-015-2407-8</a:t>
            </a:r>
          </a:p>
        </p:txBody>
      </p:sp>
      <p:sp>
        <p:nvSpPr>
          <p:cNvPr id="7" name="TextBox 6"/>
          <p:cNvSpPr txBox="1"/>
          <p:nvPr/>
        </p:nvSpPr>
        <p:spPr>
          <a:xfrm>
            <a:off x="1168400" y="4285456"/>
            <a:ext cx="10307828" cy="426641"/>
          </a:xfrm>
          <a:prstGeom prst="rect">
            <a:avLst/>
          </a:prstGeom>
          <a:noFill/>
        </p:spPr>
        <p:txBody>
          <a:bodyPr wrap="square" lIns="0" rIns="0" tIns="0" bIns="0" anchor="t">
            <a:noAutofit/>
          </a:bodyPr>
          <a:lstStyle/>
          <a:p>
            <a:pPr algn="l">
              <a:lnSpc>
                <a:spcPct val="115000"/>
              </a:lnSpc>
            </a:pPr>
            <a:r>
              <a:rPr sz="1200" b="0" i="0">
                <a:solidFill>
                  <a:srgbClr val="2E3A4A"/>
                </a:solidFill>
                <a:latin typeface="Montserrat"/>
              </a:rPr>
              <a:t>Stokes, T. F., &amp; Baer, D. M. (1977). An implicit technology of generalization. </a:t>
            </a:r>
            <a:r>
              <a:rPr sz="1200" b="0" i="1">
                <a:solidFill>
                  <a:srgbClr val="2E3A4A"/>
                </a:solidFill>
                <a:latin typeface="Montserrat"/>
              </a:rPr>
              <a:t>Journal of Applied Behavior Analysis, 10</a:t>
            </a:r>
            <a:r>
              <a:rPr sz="1200" b="0" i="0">
                <a:solidFill>
                  <a:srgbClr val="2E3A4A"/>
                </a:solidFill>
                <a:latin typeface="Montserrat"/>
              </a:rPr>
              <a:t>(2), 349–367. https://doi.org/10.1901/jaba.1977.10-349</a:t>
            </a:r>
          </a:p>
        </p:txBody>
      </p:sp>
      <p:sp>
        <p:nvSpPr>
          <p:cNvPr id="8" name="TextBox 7"/>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66717F"/>
                </a:solidFill>
                <a:latin typeface="Montserrat"/>
              </a:rPr>
              <a:t>A4</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77800" cy="6858000"/>
          </a:xfrm>
          <a:prstGeom prst="rect">
            <a:avLst/>
          </a:prstGeom>
          <a:solidFill>
            <a:srgbClr val="0F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1684834"/>
            <a:ext cx="10307828" cy="379710"/>
          </a:xfrm>
          <a:prstGeom prst="rect">
            <a:avLst/>
          </a:prstGeom>
          <a:noFill/>
        </p:spPr>
        <p:txBody>
          <a:bodyPr wrap="square" lIns="0" rIns="0" tIns="0" bIns="0" anchor="t">
            <a:noAutofit/>
          </a:bodyPr>
          <a:lstStyle/>
          <a:p>
            <a:pPr algn="l">
              <a:lnSpc>
                <a:spcPct val="94000"/>
              </a:lnSpc>
            </a:pPr>
            <a:r>
              <a:rPr sz="2600" b="1" i="0">
                <a:solidFill>
                  <a:srgbClr val="1B2F4B"/>
                </a:solidFill>
                <a:latin typeface="Montserrat"/>
              </a:rPr>
              <a:t>Referências: ética e assentimento</a:t>
            </a:r>
          </a:p>
        </p:txBody>
      </p:sp>
      <p:sp>
        <p:nvSpPr>
          <p:cNvPr id="4" name="TextBox 3"/>
          <p:cNvSpPr txBox="1"/>
          <p:nvPr/>
        </p:nvSpPr>
        <p:spPr>
          <a:xfrm>
            <a:off x="1168400" y="2178844"/>
            <a:ext cx="10307828" cy="426641"/>
          </a:xfrm>
          <a:prstGeom prst="rect">
            <a:avLst/>
          </a:prstGeom>
          <a:noFill/>
        </p:spPr>
        <p:txBody>
          <a:bodyPr wrap="square" lIns="0" rIns="0" tIns="0" bIns="0" anchor="t">
            <a:noAutofit/>
          </a:bodyPr>
          <a:lstStyle/>
          <a:p>
            <a:pPr algn="l">
              <a:lnSpc>
                <a:spcPct val="115000"/>
              </a:lnSpc>
            </a:pPr>
            <a:r>
              <a:rPr sz="1200" b="0" i="0">
                <a:solidFill>
                  <a:srgbClr val="2E3A4A"/>
                </a:solidFill>
                <a:latin typeface="Montserrat"/>
              </a:rPr>
              <a:t>Behavior Analyst Certification Board. (2020). </a:t>
            </a:r>
            <a:r>
              <a:rPr sz="1200" b="0" i="1">
                <a:solidFill>
                  <a:srgbClr val="2E3A4A"/>
                </a:solidFill>
                <a:latin typeface="Montserrat"/>
              </a:rPr>
              <a:t>Ethics code for behavior analysts</a:t>
            </a:r>
            <a:r>
              <a:rPr sz="1200" b="0" i="0">
                <a:solidFill>
                  <a:srgbClr val="2E3A4A"/>
                </a:solidFill>
                <a:latin typeface="Montserrat"/>
              </a:rPr>
              <a:t>. https://bacb.com/wp-content/ethics-code-for-behavior-analysts/</a:t>
            </a:r>
          </a:p>
        </p:txBody>
      </p:sp>
      <p:sp>
        <p:nvSpPr>
          <p:cNvPr id="5" name="TextBox 4"/>
          <p:cNvSpPr txBox="1"/>
          <p:nvPr/>
        </p:nvSpPr>
        <p:spPr>
          <a:xfrm>
            <a:off x="1168400" y="2719784"/>
            <a:ext cx="10307828" cy="639961"/>
          </a:xfrm>
          <a:prstGeom prst="rect">
            <a:avLst/>
          </a:prstGeom>
          <a:noFill/>
        </p:spPr>
        <p:txBody>
          <a:bodyPr wrap="square" lIns="0" rIns="0" tIns="0" bIns="0" anchor="t">
            <a:noAutofit/>
          </a:bodyPr>
          <a:lstStyle/>
          <a:p>
            <a:pPr algn="l">
              <a:lnSpc>
                <a:spcPct val="115000"/>
              </a:lnSpc>
            </a:pPr>
            <a:r>
              <a:rPr sz="1200" b="0" i="0">
                <a:solidFill>
                  <a:srgbClr val="2E3A4A"/>
                </a:solidFill>
                <a:latin typeface="Montserrat"/>
              </a:rPr>
              <a:t>Breaux, C. A., &amp; Smith, K. (2023). Assent in applied behaviour analysis and positive behaviour support: Ethical considerations and practical recommendations. </a:t>
            </a:r>
            <a:r>
              <a:rPr sz="1200" b="0" i="1">
                <a:solidFill>
                  <a:srgbClr val="2E3A4A"/>
                </a:solidFill>
                <a:latin typeface="Montserrat"/>
              </a:rPr>
              <a:t>International Journal of Developmental Disabilities, 69</a:t>
            </a:r>
            <a:r>
              <a:rPr sz="1200" b="0" i="0">
                <a:solidFill>
                  <a:srgbClr val="2E3A4A"/>
                </a:solidFill>
                <a:latin typeface="Montserrat"/>
              </a:rPr>
              <a:t>(1), 111–121. https://doi.org/10.1080/20473869.2022.2144969</a:t>
            </a:r>
          </a:p>
        </p:txBody>
      </p:sp>
      <p:sp>
        <p:nvSpPr>
          <p:cNvPr id="6" name="TextBox 5"/>
          <p:cNvSpPr txBox="1"/>
          <p:nvPr/>
        </p:nvSpPr>
        <p:spPr>
          <a:xfrm>
            <a:off x="1168400" y="3474045"/>
            <a:ext cx="10307828" cy="213320"/>
          </a:xfrm>
          <a:prstGeom prst="rect">
            <a:avLst/>
          </a:prstGeom>
          <a:noFill/>
        </p:spPr>
        <p:txBody>
          <a:bodyPr wrap="square" lIns="0" rIns="0" tIns="0" bIns="0" anchor="t">
            <a:noAutofit/>
          </a:bodyPr>
          <a:lstStyle/>
          <a:p>
            <a:pPr algn="l">
              <a:lnSpc>
                <a:spcPct val="115000"/>
              </a:lnSpc>
            </a:pPr>
            <a:r>
              <a:rPr sz="1200" b="0" i="0">
                <a:solidFill>
                  <a:srgbClr val="2E3A4A"/>
                </a:solidFill>
                <a:latin typeface="Montserrat"/>
              </a:rPr>
              <a:t>Conselho Federal de Psicologia. (2005). </a:t>
            </a:r>
            <a:r>
              <a:rPr sz="1200" b="0" i="1">
                <a:solidFill>
                  <a:srgbClr val="2E3A4A"/>
                </a:solidFill>
                <a:latin typeface="Montserrat"/>
              </a:rPr>
              <a:t>Código de ética profissional do psicólogo</a:t>
            </a:r>
            <a:r>
              <a:rPr sz="1200" b="0" i="0">
                <a:solidFill>
                  <a:srgbClr val="2E3A4A"/>
                </a:solidFill>
                <a:latin typeface="Montserrat"/>
              </a:rPr>
              <a:t> (Resolução CFP nº 010/2005).</a:t>
            </a:r>
          </a:p>
        </p:txBody>
      </p:sp>
      <p:sp>
        <p:nvSpPr>
          <p:cNvPr id="7" name="TextBox 6"/>
          <p:cNvSpPr txBox="1"/>
          <p:nvPr/>
        </p:nvSpPr>
        <p:spPr>
          <a:xfrm>
            <a:off x="1168400" y="3801666"/>
            <a:ext cx="10307828" cy="426641"/>
          </a:xfrm>
          <a:prstGeom prst="rect">
            <a:avLst/>
          </a:prstGeom>
          <a:noFill/>
        </p:spPr>
        <p:txBody>
          <a:bodyPr wrap="square" lIns="0" rIns="0" tIns="0" bIns="0" anchor="t">
            <a:noAutofit/>
          </a:bodyPr>
          <a:lstStyle/>
          <a:p>
            <a:pPr algn="l">
              <a:lnSpc>
                <a:spcPct val="115000"/>
              </a:lnSpc>
            </a:pPr>
            <a:r>
              <a:rPr sz="1200" b="0" i="0">
                <a:solidFill>
                  <a:srgbClr val="2E3A4A"/>
                </a:solidFill>
                <a:latin typeface="Montserrat"/>
              </a:rPr>
              <a:t>Leaf, J. B., Cihon, J. H., Leaf, R., et al. (2022). Concerns about ABA-based intervention: An evaluation and recommendations. </a:t>
            </a:r>
            <a:r>
              <a:rPr sz="1200" b="0" i="1">
                <a:solidFill>
                  <a:srgbClr val="2E3A4A"/>
                </a:solidFill>
                <a:latin typeface="Montserrat"/>
              </a:rPr>
              <a:t>Journal of Autism and Developmental Disorders, 52</a:t>
            </a:r>
            <a:r>
              <a:rPr sz="1200" b="0" i="0">
                <a:solidFill>
                  <a:srgbClr val="2E3A4A"/>
                </a:solidFill>
                <a:latin typeface="Montserrat"/>
              </a:rPr>
              <a:t>(6), 2838–2853. https://doi.org/10.1007/s10803-021-05137-y</a:t>
            </a:r>
          </a:p>
        </p:txBody>
      </p:sp>
      <p:sp>
        <p:nvSpPr>
          <p:cNvPr id="8" name="TextBox 7"/>
          <p:cNvSpPr txBox="1"/>
          <p:nvPr/>
        </p:nvSpPr>
        <p:spPr>
          <a:xfrm>
            <a:off x="1168400" y="4342606"/>
            <a:ext cx="10307828" cy="639961"/>
          </a:xfrm>
          <a:prstGeom prst="rect">
            <a:avLst/>
          </a:prstGeom>
          <a:noFill/>
        </p:spPr>
        <p:txBody>
          <a:bodyPr wrap="square" lIns="0" rIns="0" tIns="0" bIns="0" anchor="t">
            <a:noAutofit/>
          </a:bodyPr>
          <a:lstStyle/>
          <a:p>
            <a:pPr algn="l">
              <a:lnSpc>
                <a:spcPct val="115000"/>
              </a:lnSpc>
            </a:pPr>
            <a:r>
              <a:rPr sz="1200" b="0" i="0">
                <a:solidFill>
                  <a:srgbClr val="2E3A4A"/>
                </a:solidFill>
                <a:latin typeface="Montserrat"/>
              </a:rPr>
              <a:t>Newcomb, E. T., &amp; Wine, B. (2023). A brief response to assent in applied behaviour analysis and positive behaviour support: Ethical considerations and practical recommendations. </a:t>
            </a:r>
            <a:r>
              <a:rPr sz="1200" b="0" i="1">
                <a:solidFill>
                  <a:srgbClr val="2E3A4A"/>
                </a:solidFill>
                <a:latin typeface="Montserrat"/>
              </a:rPr>
              <a:t>International Journal of Developmental Disabilities, 69</a:t>
            </a:r>
            <a:r>
              <a:rPr sz="1200" b="0" i="0">
                <a:solidFill>
                  <a:srgbClr val="2E3A4A"/>
                </a:solidFill>
                <a:latin typeface="Montserrat"/>
              </a:rPr>
              <a:t>(4), 628–629. https://doi.org/10.1080/20473869.2023.2206686</a:t>
            </a:r>
          </a:p>
        </p:txBody>
      </p:sp>
      <p:sp>
        <p:nvSpPr>
          <p:cNvPr id="9" name="TextBox 8"/>
          <p:cNvSpPr txBox="1"/>
          <p:nvPr/>
        </p:nvSpPr>
        <p:spPr>
          <a:xfrm>
            <a:off x="10820400" y="6343650"/>
            <a:ext cx="784860" cy="184150"/>
          </a:xfrm>
          <a:prstGeom prst="rect">
            <a:avLst/>
          </a:prstGeom>
          <a:noFill/>
        </p:spPr>
        <p:txBody>
          <a:bodyPr wrap="square" lIns="0" rIns="0" tIns="0" bIns="0" anchor="t">
            <a:noAutofit/>
          </a:bodyPr>
          <a:lstStyle/>
          <a:p>
            <a:pPr algn="r">
              <a:lnSpc>
                <a:spcPct val="98000"/>
              </a:lnSpc>
            </a:pPr>
            <a:r>
              <a:rPr sz="1200" b="0" i="0">
                <a:solidFill>
                  <a:srgbClr val="66717F"/>
                </a:solidFill>
                <a:latin typeface="Montserrat"/>
              </a:rPr>
              <a:t>A5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 ABA e TEA — LACC</dc:title>
  <dc:subject/>
  <dc:creator>Betina Binatti</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