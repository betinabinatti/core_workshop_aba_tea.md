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22.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níveis descrevem necessidade de apoio, não "grau de autismo" nem valor da pessoa.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que não causam prejuízo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20 logo em seguida. Tempo: 0,5 min (10h13).</a:t>
            </a:r>
          </a:p>
          <a:p/>
          <a:p>
            <a:r>
              <a:t>RESPOSTAS: ver slide 21.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do vídeo. Explicar a sequência: vídeo, história, perguntas. As respostas só aparecem na plenária, depois que os grupos responderem. Se houver só 1 ou 2 grupos, cada um responde as perguntas 1 a 4 e também a 5 e a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 Não mostrar respostas agora: as perguntas do vídeo são respondidas pelos grupos e corrigidas na plenária (slide 36a).</a:t>
            </a:r>
          </a:p>
          <a:p/>
          <a:p>
            <a:r>
              <a:t>RESPOSTAS DO VÍDEO (para a plenária):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35, 35b e 36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Para grupos que terminarem antes: slide R2 (dado novo) ou R1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Mostrar os slides de respostas 36a a 36d conforme cada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Só para grupos que terminarem antes, ou como estudo posterior. Não entra no tempo. A comparação ABA × TCC com este caso já foi feita no slide 26.</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'foge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723430"/>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2148880"/>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3215680"/>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6" name="TextBox 5"/>
          <p:cNvSpPr txBox="1"/>
          <p:nvPr/>
        </p:nvSpPr>
        <p:spPr>
          <a:xfrm>
            <a:off x="1016000" y="4378920"/>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7" name="TextBox 6"/>
          <p:cNvSpPr txBox="1"/>
          <p:nvPr/>
        </p:nvSpPr>
        <p:spPr>
          <a:xfrm>
            <a:off x="1016000" y="4886920"/>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5986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89577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612033"/>
            <a:ext cx="6592824" cy="28956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94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330053"/>
            <a:ext cx="10307828" cy="27432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Explicar por que o TEA é heterogêneo</a:t>
            </a:r>
          </a:p>
          <a:p>
            <a:pPr algn="l" marL="279400" indent="-279400">
              <a:lnSpc>
                <a:spcPct val="123000"/>
              </a:lnSpc>
              <a:buAutoNum type="arabicPeriod" startAt="1"/>
            </a:pPr>
            <a:r>
              <a:rPr sz="1800" b="1" i="0">
                <a:solidFill>
                  <a:srgbClr val="2E3A4A"/>
                </a:solidFill>
                <a:latin typeface="Montserrat"/>
              </a:rPr>
              <a:t>Diferenciar topografia (a forma do comportamento) e função (para que ele serve)</a:t>
            </a:r>
          </a:p>
          <a:p>
            <a:pPr algn="l" marL="279400" indent="-279400">
              <a:lnSpc>
                <a:spcPct val="123000"/>
              </a:lnSpc>
              <a:buAutoNum type="arabicPeriod" startAt="1"/>
            </a:pPr>
            <a:r>
              <a:rPr sz="1800" b="1" i="0">
                <a:solidFill>
                  <a:srgbClr val="2E3A4A"/>
                </a:solidFill>
                <a:latin typeface="Montserrat"/>
              </a:rPr>
              <a:t>Identificar antecedentes (o que vem antes), consequências (o que vem depois) e contexto</a:t>
            </a:r>
          </a:p>
          <a:p>
            <a:pPr algn="l" marL="279400" indent="-279400">
              <a:lnSpc>
                <a:spcPct val="123000"/>
              </a:lnSpc>
              <a:buAutoNum type="arabicPeriod" startAt="1"/>
            </a:pPr>
            <a:r>
              <a:rPr sz="1800" b="1" i="0">
                <a:solidFill>
                  <a:srgbClr val="2E3A4A"/>
                </a:solidFill>
                <a:latin typeface="Montserrat"/>
              </a:rPr>
              <a:t>Justificar por que avaliar vem antes de intervir</a:t>
            </a:r>
          </a:p>
          <a:p>
            <a:pPr algn="l" marL="279400" indent="-279400">
              <a:lnSpc>
                <a:spcPct val="123000"/>
              </a:lnSpc>
              <a:buAutoNum type="arabicPeriod" startAt="1"/>
            </a:pPr>
            <a:r>
              <a:rPr sz="1800" b="0" i="0">
                <a:solidFill>
                  <a:srgbClr val="2E3A4A"/>
                </a:solidFill>
                <a:latin typeface="Montserrat"/>
              </a:rPr>
              <a:t>Reconhecer estratégias baseadas em evidências e ligá-las à função</a:t>
            </a:r>
          </a:p>
          <a:p>
            <a:pPr algn="l" marL="279400" indent="-279400">
              <a:lnSpc>
                <a:spcPct val="123000"/>
              </a:lnSpc>
              <a:buAutoNum type="arabicPeriod" startAt="1"/>
            </a:pPr>
            <a:r>
              <a:rPr sz="1800" b="0" i="0">
                <a:solidFill>
                  <a:srgbClr val="2E3A4A"/>
                </a:solidFill>
                <a:latin typeface="Montserrat"/>
              </a:rPr>
              <a:t>Analisar uma vinheta e justificar decisões</a:t>
            </a:r>
          </a:p>
          <a:p>
            <a:pPr algn="l" marL="279400" indent="-279400">
              <a:lnSpc>
                <a:spcPct val="123000"/>
              </a:lnSpc>
              <a:buAutoNum type="arabicPeriod" startAt="1"/>
            </a:pPr>
            <a:r>
              <a:rPr sz="1800" b="0" i="0">
                <a:solidFill>
                  <a:srgbClr val="2E3A4A"/>
                </a:solidFill>
                <a:latin typeface="Montserrat"/>
              </a:rPr>
              <a:t>Reconhecer limites de atuação e a importância da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342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264636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5" name="TextBox 4"/>
          <p:cNvSpPr txBox="1"/>
          <p:nvPr/>
        </p:nvSpPr>
        <p:spPr>
          <a:xfrm>
            <a:off x="1168400" y="3055243"/>
            <a:ext cx="4839970" cy="14224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(da Análise do Comportamento) aplicado ao TEA.</a:t>
            </a:r>
          </a:p>
        </p:txBody>
      </p:sp>
      <p:sp>
        <p:nvSpPr>
          <p:cNvPr id="6" name="TextBox 5"/>
          <p:cNvSpPr txBox="1"/>
          <p:nvPr/>
        </p:nvSpPr>
        <p:spPr>
          <a:xfrm>
            <a:off x="6477000" y="264636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7" name="TextBox 6"/>
          <p:cNvSpPr txBox="1"/>
          <p:nvPr/>
        </p:nvSpPr>
        <p:spPr>
          <a:xfrm>
            <a:off x="6477000" y="3055243"/>
            <a:ext cx="4839970" cy="17780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(Análise do Comportamento Aplicada). Ele não habilita ninguém a avaliar ou intervir sem formação e supervisão.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0563"/>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a:t>
            </a:r>
          </a:p>
        </p:txBody>
      </p:sp>
      <p:sp>
        <p:nvSpPr>
          <p:cNvPr id="4" name="TextBox 3"/>
          <p:cNvSpPr txBox="1"/>
          <p:nvPr/>
        </p:nvSpPr>
        <p:spPr>
          <a:xfrm>
            <a:off x="1168400" y="278457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319345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78457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3193455"/>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a:t>
            </a:r>
          </a:p>
        </p:txBody>
      </p:sp>
      <p:sp>
        <p:nvSpPr>
          <p:cNvPr id="8" name="TextBox 7"/>
          <p:cNvSpPr txBox="1"/>
          <p:nvPr/>
        </p:nvSpPr>
        <p:spPr>
          <a:xfrm>
            <a:off x="1168400" y="4536877"/>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85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gravidade</a:t>
            </a:r>
          </a:p>
        </p:txBody>
      </p:sp>
      <p:sp>
        <p:nvSpPr>
          <p:cNvPr id="4" name="TextBox 3"/>
          <p:cNvSpPr txBox="1"/>
          <p:nvPr/>
        </p:nvSpPr>
        <p:spPr>
          <a:xfrm>
            <a:off x="1168400" y="2021483"/>
            <a:ext cx="10307828" cy="60444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com ou sem deficiência intelectual, com ou sem comprometimento de linguagem, condições associadas.</a:t>
            </a:r>
          </a:p>
        </p:txBody>
      </p:sp>
      <p:graphicFrame>
        <p:nvGraphicFramePr>
          <p:cNvPr id="5" name="Table 4"/>
          <p:cNvGraphicFramePr>
            <a:graphicFrameLocks noGrp="1"/>
          </p:cNvGraphicFramePr>
          <p:nvPr/>
        </p:nvGraphicFramePr>
        <p:xfrm>
          <a:off x="1168400" y="2879923"/>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Necessidade de apoio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apoio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151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necessidade de apoio, não “grau de autismo”.</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2758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92159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78519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de 100 por 10.000 em estudos de vários países)</a:t>
            </a:r>
          </a:p>
        </p:txBody>
      </p:sp>
      <p:sp>
        <p:nvSpPr>
          <p:cNvPr id="6" name="TextBox 5"/>
          <p:cNvSpPr txBox="1"/>
          <p:nvPr/>
        </p:nvSpPr>
        <p:spPr>
          <a:xfrm>
            <a:off x="6477000" y="292159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78519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9836"/>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15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409255"/>
            <a:ext cx="10307828" cy="1143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769342"/>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467148"/>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788198"/>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que não causam prejuízo (ex.: interesses intensos, estereotipias sem risco) não são alvo por si só.</a:t>
            </a:r>
          </a:p>
        </p:txBody>
      </p:sp>
      <p:sp>
        <p:nvSpPr>
          <p:cNvPr id="6" name="TextBox 5"/>
          <p:cNvSpPr txBox="1"/>
          <p:nvPr/>
        </p:nvSpPr>
        <p:spPr>
          <a:xfrm>
            <a:off x="1168400" y="5631359"/>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12b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0903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1976041"/>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Sete dimensões definem a Análise do Comportamento Aplicada:</a:t>
            </a:r>
          </a:p>
        </p:txBody>
      </p:sp>
      <p:graphicFrame>
        <p:nvGraphicFramePr>
          <p:cNvPr id="5" name="Table 4"/>
          <p:cNvGraphicFramePr>
            <a:graphicFrameLocks noGrp="1"/>
          </p:cNvGraphicFramePr>
          <p:nvPr/>
        </p:nvGraphicFramePr>
        <p:xfrm>
          <a:off x="1168400" y="2499221"/>
          <a:ext cx="10007600" cy="3359150"/>
        </p:xfrm>
        <a:graphic>
          <a:graphicData uri="http://schemas.openxmlformats.org/drawingml/2006/table">
            <a:tbl>
              <a:tblPr firstRow="0" bandRow="0">
                <a:tableStyleId>{2D5ABB26-0587-4C30-8999-92F81FD0307C}</a:tableStyleId>
              </a:tblPr>
              <a:tblGrid>
                <a:gridCol w="3202384"/>
                <a:gridCol w="6805216"/>
              </a:tblGrid>
              <a:tr h="412750">
                <a:tc>
                  <a:txBody>
                    <a:bodyPr wrap="square"/>
                    <a:lstStyle/>
                    <a:p>
                      <a:pPr>
                        <a:lnSpc>
                          <a:spcPct val="100000"/>
                        </a:lnSpc>
                      </a:pPr>
                      <a:r>
                        <a:rPr sz="1500" b="1" i="0">
                          <a:solidFill>
                            <a:srgbClr val="FFFFFF"/>
                          </a:solidFill>
                          <a:latin typeface="Montserrat"/>
                        </a:rPr>
                        <a:t>Dimensão</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O que significa</a:t>
                      </a:r>
                    </a:p>
                  </a:txBody>
                  <a:tcPr marL="114300" marR="114300" marT="68580" marB="68580" anchor="ctr">
                    <a:solidFill>
                      <a:srgbClr val="1B2F4B"/>
                    </a:solidFill>
                  </a:tcPr>
                </a:tc>
              </a:tr>
              <a:tr h="387350">
                <a:tc>
                  <a:txBody>
                    <a:bodyPr wrap="square"/>
                    <a:lstStyle/>
                    <a:p>
                      <a:pPr>
                        <a:lnSpc>
                          <a:spcPct val="100000"/>
                        </a:lnSpc>
                      </a:pPr>
                      <a:r>
                        <a:rPr sz="1500" b="1" i="0">
                          <a:solidFill>
                            <a:srgbClr val="2E3A4A"/>
                          </a:solidFill>
                          <a:latin typeface="Montserrat"/>
                        </a:rPr>
                        <a:t>Aplicada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Trata de comportamentos importantes para a vida da pessoa</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Comportamental</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Estuda o que a pessoa faz, de forma observável e mensurável</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Analítica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Mostra que a mudança veio da intervenção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Tecnológica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Descreve os procedimentos com clareza para que outros repitam</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Conceitualmente sistemática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Liga os procedimentos aos princípios do comportamento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Efetiva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Produz mudanças que fazem diferença no dia a dia</a:t>
                      </a:r>
                    </a:p>
                  </a:txBody>
                  <a:tcPr marL="114300" marR="114300" marT="68580" marB="68580" anchor="ctr">
                    <a:solidFill>
                      <a:srgbClr val="F1F4F6"/>
                    </a:solidFill>
                  </a:tcPr>
                </a:tc>
              </a:tr>
              <a:tr h="622300">
                <a:tc>
                  <a:txBody>
                    <a:bodyPr wrap="square"/>
                    <a:lstStyle/>
                    <a:p>
                      <a:pPr>
                        <a:lnSpc>
                          <a:spcPct val="100000"/>
                        </a:lnSpc>
                      </a:pPr>
                      <a:r>
                        <a:rPr sz="1500" b="1" i="0">
                          <a:solidFill>
                            <a:srgbClr val="2E3A4A"/>
                          </a:solidFill>
                          <a:latin typeface="Montserrat"/>
                        </a:rPr>
                        <a:t>Generalidade</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A mudança se mantém e aparece em outros lugares e com outras pessoas</a:t>
                      </a:r>
                    </a:p>
                  </a:txBody>
                  <a:tcPr marL="114300" marR="114300" marT="68580" marB="68580" anchor="ctr">
                    <a:solidFill>
                      <a:srgbClr val="FFFFFF"/>
                    </a:solidFill>
                  </a:tcPr>
                </a:tc>
              </a:tr>
            </a:tbl>
          </a:graphicData>
        </a:graphic>
      </p:graphicFrame>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Sono, dor, fome, rotina, ambiente sensorial.</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(desagradável, algo que a pessoa tende a evitar),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8824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431455"/>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785816"/>
            <a:ext cx="10307828" cy="693341"/>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 (consequência que diminui o comportamento).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9152"/>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1961257"/>
            <a:ext cx="10307828" cy="2286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Acesso a atenção</a:t>
            </a:r>
          </a:p>
          <a:p>
            <a:pPr algn="l" marL="279400" indent="-279400">
              <a:lnSpc>
                <a:spcPct val="123000"/>
              </a:lnSpc>
              <a:buAutoNum type="arabicPeriod" startAt="1"/>
            </a:pPr>
            <a:r>
              <a:rPr sz="2000" b="0" i="0">
                <a:solidFill>
                  <a:srgbClr val="2E3A4A"/>
                </a:solidFill>
                <a:latin typeface="Montserrat"/>
              </a:rPr>
              <a:t>Acesso a itens ou atividades</a:t>
            </a:r>
          </a:p>
          <a:p>
            <a:pPr algn="l" marL="279400" indent="-279400">
              <a:lnSpc>
                <a:spcPct val="123000"/>
              </a:lnSpc>
              <a:buAutoNum type="arabicPeriod" startAt="1"/>
            </a:pPr>
            <a:r>
              <a:rPr sz="2000" b="0" i="0">
                <a:solidFill>
                  <a:srgbClr val="2E3A4A"/>
                </a:solidFill>
                <a:latin typeface="Montserrat"/>
              </a:rPr>
              <a:t>Fuga (sair de algo) ou esquiva (evitar que comece) de demandas (pedidos e tarefas) ou estímulos</a:t>
            </a:r>
          </a:p>
          <a:p>
            <a:pPr algn="l" marL="279400" indent="-279400">
              <a:lnSpc>
                <a:spcPct val="123000"/>
              </a:lnSpc>
              <a:buAutoNum type="arabicPeriod" startAt="1"/>
            </a:pPr>
            <a:r>
              <a:rPr sz="2000" b="0" i="0">
                <a:solidFill>
                  <a:srgbClr val="2E3A4A"/>
                </a:solidFill>
                <a:latin typeface="Montserrat"/>
              </a:rPr>
              <a:t>Reforçamento automático: o próprio comportamento produz a consequência</a:t>
            </a:r>
          </a:p>
        </p:txBody>
      </p:sp>
      <p:sp>
        <p:nvSpPr>
          <p:cNvPr id="5" name="TextBox 4"/>
          <p:cNvSpPr txBox="1"/>
          <p:nvPr/>
        </p:nvSpPr>
        <p:spPr>
          <a:xfrm>
            <a:off x="1168400" y="4577457"/>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funcionais (explicações possíveis sobre para que o comportamento serve) a testar, não rótulos. Podem ser múltiplas ou combinadas.</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(para que o comportamento serve)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374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(forma), três hipóteses</a:t>
            </a:r>
          </a:p>
        </p:txBody>
      </p:sp>
      <p:graphicFrame>
        <p:nvGraphicFramePr>
          <p:cNvPr id="4" name="Table 3"/>
          <p:cNvGraphicFramePr>
            <a:graphicFrameLocks noGrp="1"/>
          </p:cNvGraphicFramePr>
          <p:nvPr/>
        </p:nvGraphicFramePr>
        <p:xfrm>
          <a:off x="1168400" y="2398712"/>
          <a:ext cx="10007600" cy="20320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5080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 (sair da tarefa)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p>
                  </a:txBody>
                  <a:tcPr marL="114300" marR="114300" marT="68580" marB="68580" anchor="ctr">
                    <a:solidFill>
                      <a:srgbClr val="FFFFFF"/>
                    </a:solidFill>
                  </a:tcPr>
                </a:tc>
              </a:tr>
            </a:tbl>
          </a:graphicData>
        </a:graphic>
      </p:graphicFrame>
      <p:sp>
        <p:nvSpPr>
          <p:cNvPr id="5" name="TextBox 4"/>
          <p:cNvSpPr txBox="1"/>
          <p:nvPr/>
        </p:nvSpPr>
        <p:spPr>
          <a:xfrm>
            <a:off x="1168400" y="47101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31011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(explicação sobre para que o comportamento serve) diferente.</a:t>
            </a:r>
          </a:p>
        </p:txBody>
      </p:sp>
      <p:sp>
        <p:nvSpPr>
          <p:cNvPr id="3" name="TextBox 2"/>
          <p:cNvSpPr txBox="1"/>
          <p:nvPr/>
        </p:nvSpPr>
        <p:spPr>
          <a:xfrm>
            <a:off x="1337965" y="33007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2810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642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compartilham compromissos empíricos</a:t>
            </a:r>
          </a:p>
        </p:txBody>
      </p:sp>
      <p:sp>
        <p:nvSpPr>
          <p:cNvPr id="4" name="TextBox 3"/>
          <p:cNvSpPr txBox="1"/>
          <p:nvPr/>
        </p:nvSpPr>
        <p:spPr>
          <a:xfrm>
            <a:off x="1168400" y="2158305"/>
            <a:ext cx="10307828" cy="3048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Avaliação de resultados com dados</a:t>
            </a:r>
          </a:p>
          <a:p>
            <a:pPr algn="l" marL="279400" indent="-279400">
              <a:lnSpc>
                <a:spcPct val="123000"/>
              </a:lnSpc>
              <a:buChar char="•"/>
            </a:pPr>
            <a:r>
              <a:rPr sz="2000" b="0" i="0">
                <a:solidFill>
                  <a:srgbClr val="2E3A4A"/>
                </a:solidFill>
                <a:latin typeface="Montserrat"/>
              </a:rPr>
              <a:t>Alvos definidos de forma operacional (descritos de modo observável e mensurável)</a:t>
            </a:r>
          </a:p>
          <a:p>
            <a:pPr algn="l" marL="279400" indent="-279400">
              <a:lnSpc>
                <a:spcPct val="123000"/>
              </a:lnSpc>
              <a:buChar char="•"/>
            </a:pPr>
            <a:r>
              <a:rPr sz="2000" b="0" i="0">
                <a:solidFill>
                  <a:srgbClr val="2E3A4A"/>
                </a:solidFill>
                <a:latin typeface="Montserrat"/>
              </a:rPr>
              <a:t>Formulação individualizada do caso</a:t>
            </a:r>
          </a:p>
          <a:p>
            <a:pPr algn="l" marL="279400" indent="-279400">
              <a:lnSpc>
                <a:spcPct val="123000"/>
              </a:lnSpc>
              <a:buChar char="•"/>
            </a:pPr>
            <a:r>
              <a:rPr sz="2000" b="0" i="0">
                <a:solidFill>
                  <a:srgbClr val="2E3A4A"/>
                </a:solidFill>
                <a:latin typeface="Montserrat"/>
              </a:rPr>
              <a:t>Procedimentos baseados em princípios de aprendizagem, como reforçamento (consequência que aumenta o comportamento), exposição (contato gradual com o que se teme), modelação (aprender observando um modelo) e treino de habilidades</a:t>
            </a:r>
          </a:p>
        </p:txBody>
      </p:sp>
      <p:sp>
        <p:nvSpPr>
          <p:cNvPr id="5" name="TextBox 4"/>
          <p:cNvSpPr txBox="1"/>
          <p:nvPr/>
        </p:nvSpPr>
        <p:spPr>
          <a:xfrm>
            <a:off x="1168400" y="5536505"/>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0082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diferentes</a:t>
            </a:r>
          </a:p>
        </p:txBody>
      </p:sp>
      <p:graphicFrame>
        <p:nvGraphicFramePr>
          <p:cNvPr id="4" name="Table 3"/>
          <p:cNvGraphicFramePr>
            <a:graphicFrameLocks noGrp="1"/>
          </p:cNvGraphicFramePr>
          <p:nvPr/>
        </p:nvGraphicFramePr>
        <p:xfrm>
          <a:off x="1168400" y="2294830"/>
          <a:ext cx="10007600" cy="3371850"/>
        </p:xfrm>
        <a:graphic>
          <a:graphicData uri="http://schemas.openxmlformats.org/drawingml/2006/table">
            <a:tbl>
              <a:tblPr firstRow="0" bandRow="0">
                <a:tableStyleId>{2D5ABB26-0587-4C30-8999-92F81FD0307C}</a:tableStyleId>
              </a:tblPr>
              <a:tblGrid>
                <a:gridCol w="2802037"/>
                <a:gridCol w="3602732"/>
                <a:gridCol w="3602831"/>
              </a:tblGrid>
              <a:tr h="47625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TCC (modelo de Beck)</a:t>
                      </a:r>
                    </a:p>
                  </a:txBody>
                  <a:tcPr marL="114300" marR="114300" marT="68580" marB="68580" anchor="ctr">
                    <a:solidFill>
                      <a:srgbClr val="1B2F4B"/>
                    </a:solidFill>
                  </a:tcPr>
                </a:tc>
              </a:tr>
              <a:tr h="723900">
                <a:tc>
                  <a:txBody>
                    <a:bodyPr wrap="square"/>
                    <a:lstStyle/>
                    <a:p>
                      <a:pPr>
                        <a:lnSpc>
                          <a:spcPct val="100000"/>
                        </a:lnSpc>
                      </a:pPr>
                      <a:r>
                        <a:rPr sz="16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Behaviorismo radical (filosofia de Skinner que fundamenta a ABA)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Modelo cognitivo</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Comportamentos a explicar</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Mediadores e alvo central</a:t>
                      </a:r>
                    </a:p>
                  </a:txBody>
                  <a:tcPr marL="114300" marR="114300" marT="68580" marB="68580" anchor="ctr">
                    <a:solidFill>
                      <a:srgbClr val="F1F4F6"/>
                    </a:solidFill>
                  </a:tcPr>
                </a:tc>
              </a:tr>
              <a:tr h="723900">
                <a:tc>
                  <a:txBody>
                    <a:bodyPr wrap="square"/>
                    <a:lstStyle/>
                    <a:p>
                      <a:pPr>
                        <a:lnSpc>
                          <a:spcPct val="100000"/>
                        </a:lnSpc>
                      </a:pPr>
                      <a:r>
                        <a:rPr sz="16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Situação, pensamento, emoção e comportamento</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Análise funcional (identificar o que mantém o comportamento)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Conceituação cognitiva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2333"/>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496344"/>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3225205"/>
            <a:ext cx="4839970" cy="2239863"/>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FCT (Treino de Comunicação Funcional), intervenções antecedentes (mudanças no que vem antes), reforçamento diferencial (reforçar um comportamento e não outro), intervenção naturalística (ensino em situações do dia a dia), entre outras.</a:t>
            </a:r>
          </a:p>
        </p:txBody>
      </p:sp>
      <p:sp>
        <p:nvSpPr>
          <p:cNvPr id="6" name="TextBox 5"/>
          <p:cNvSpPr txBox="1"/>
          <p:nvPr/>
        </p:nvSpPr>
        <p:spPr>
          <a:xfrm>
            <a:off x="6477000" y="249634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para autismo</a:t>
            </a:r>
          </a:p>
        </p:txBody>
      </p:sp>
      <p:sp>
        <p:nvSpPr>
          <p:cNvPr id="7" name="TextBox 6"/>
          <p:cNvSpPr txBox="1"/>
          <p:nvPr/>
        </p:nvSpPr>
        <p:spPr>
          <a:xfrm>
            <a:off x="6477000" y="2905224"/>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9662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81443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22332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81443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223320"/>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ela tem sobre falar em grupo (“vou falar algo errado”)? Como eles influenciam a ansiedade e a esquiva (evitar a situação)?</a:t>
            </a:r>
          </a:p>
        </p:txBody>
      </p:sp>
      <p:sp>
        <p:nvSpPr>
          <p:cNvPr id="8" name="TextBox 7"/>
          <p:cNvSpPr txBox="1"/>
          <p:nvPr/>
        </p:nvSpPr>
        <p:spPr>
          <a:xfrm>
            <a:off x="1168400" y="4757241"/>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1512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409130"/>
          <a:ext cx="10007600" cy="314325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9715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 (antes, comportamento, depois)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associação, não causa</a:t>
                      </a:r>
                    </a:p>
                  </a:txBody>
                  <a:tcPr marL="114300" marR="114300" marT="68580" marB="68580" anchor="ctr">
                    <a:solidFill>
                      <a:srgbClr val="F1F4F6"/>
                    </a:solidFill>
                  </a:tcPr>
                </a:tc>
              </a:tr>
              <a:tr h="12192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 (situações planejadas para ver o que mantém o comportamento)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21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4570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(mudanças no que vem antes do comportamento), escolhidas a partir da hipótese:</a:t>
            </a:r>
          </a:p>
        </p:txBody>
      </p:sp>
      <p:sp>
        <p:nvSpPr>
          <p:cNvPr id="5" name="TextBox 4"/>
          <p:cNvSpPr txBox="1"/>
          <p:nvPr/>
        </p:nvSpPr>
        <p:spPr>
          <a:xfrm>
            <a:off x="1168400" y="3422253"/>
            <a:ext cx="10307828" cy="1524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apoio visual</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duração, dificuldade, interesse</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752"/>
            <a:ext cx="10307828" cy="1445716"/>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(Treino de Comunicação Funcional): ensinar a pedir o que o comportamento conseguia</a:t>
            </a:r>
          </a:p>
        </p:txBody>
      </p:sp>
      <p:sp>
        <p:nvSpPr>
          <p:cNvPr id="4" name="TextBox 3"/>
          <p:cNvSpPr txBox="1"/>
          <p:nvPr/>
        </p:nvSpPr>
        <p:spPr>
          <a:xfrm>
            <a:off x="1168400" y="2950468"/>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918968"/>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5200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969816"/>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a:t>
            </a:r>
          </a:p>
        </p:txBody>
      </p:sp>
      <p:sp>
        <p:nvSpPr>
          <p:cNvPr id="5" name="TextBox 4"/>
          <p:cNvSpPr txBox="1"/>
          <p:nvPr/>
        </p:nvSpPr>
        <p:spPr>
          <a:xfrm>
            <a:off x="1168400" y="3543796"/>
            <a:ext cx="10307828" cy="13716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 (os dois escolhem e conduzem)</a:t>
            </a:r>
          </a:p>
          <a:p>
            <a:pPr algn="l" marL="279400" indent="-279400">
              <a:lnSpc>
                <a:spcPct val="123000"/>
              </a:lnSpc>
              <a:buChar char="•"/>
            </a:pPr>
            <a:r>
              <a:rPr sz="1800" b="0" i="0">
                <a:solidFill>
                  <a:srgbClr val="2E3A4A"/>
                </a:solidFill>
                <a:latin typeface="Montserrat"/>
              </a:rPr>
              <a:t>Consequências naturais (a recompensa vem da própria atividade)</a:t>
            </a:r>
          </a:p>
          <a:p>
            <a:pPr algn="l" marL="279400" indent="-279400">
              <a:lnSpc>
                <a:spcPct val="123000"/>
              </a:lnSpc>
              <a:buChar char="•"/>
            </a:pPr>
            <a:r>
              <a:rPr sz="1800" b="0" i="0">
                <a:solidFill>
                  <a:srgbClr val="2E3A4A"/>
                </a:solidFill>
                <a:latin typeface="Montserrat"/>
              </a:rPr>
              <a:t>Integração entre ciência comportamental e ciência do desenvolvimento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433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304653"/>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Generalização é usar o que aprendeu em outros lugares, com outras pessoas e materiais. Aprender na clínica não garante usar em casa, na escola ou com outras pessoas.</a:t>
            </a:r>
          </a:p>
        </p:txBody>
      </p:sp>
      <p:sp>
        <p:nvSpPr>
          <p:cNvPr id="5" name="TextBox 4"/>
          <p:cNvSpPr txBox="1"/>
          <p:nvPr/>
        </p:nvSpPr>
        <p:spPr>
          <a:xfrm>
            <a:off x="1168400" y="36508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5906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703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882503"/>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que não causam prejuízo</a:t>
            </a:r>
          </a:p>
          <a:p>
            <a:pPr algn="l" marL="279400" indent="-279400">
              <a:lnSpc>
                <a:spcPct val="123000"/>
              </a:lnSpc>
              <a:buChar char="•"/>
            </a:pPr>
            <a:r>
              <a:rPr sz="1800" b="0" i="0">
                <a:solidFill>
                  <a:srgbClr val="2E3A4A"/>
                </a:solidFill>
                <a:latin typeface="Montserrat"/>
              </a:rPr>
              <a:t>Revisar por dados, incluindo possíveis efeitos adversos (efeitos indesejados)</a:t>
            </a:r>
          </a:p>
          <a:p>
            <a:pPr algn="l" marL="279400" indent="-279400">
              <a:lnSpc>
                <a:spcPct val="123000"/>
              </a:lnSpc>
              <a:buChar char="•"/>
            </a:pPr>
            <a:r>
              <a:rPr sz="1800" b="0" i="0">
                <a:solidFill>
                  <a:srgbClr val="2E3A4A"/>
                </a:solidFill>
                <a:latin typeface="Montserrat"/>
              </a:rPr>
              <a:t>Supervisão e limites de atuação</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739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335212"/>
            <a:ext cx="10307828" cy="1219200"/>
          </a:xfrm>
          <a:prstGeom prst="rect">
            <a:avLst/>
          </a:prstGeom>
          <a:noFill/>
        </p:spPr>
        <p:txBody>
          <a:bodyPr wrap="square" lIns="0" rIns="0" tIns="0" bIns="0" anchor="t">
            <a:noAutofit/>
          </a:bodyPr>
          <a:lstStyle/>
          <a:p>
            <a:pPr algn="l" marL="279400" indent="-279400">
              <a:lnSpc>
                <a:spcPct val="131000"/>
              </a:lnSpc>
              <a:buAutoNum type="arabicPeriod" startAt="1"/>
            </a:pPr>
            <a:r>
              <a:rPr sz="2000" b="0" i="0">
                <a:solidFill>
                  <a:srgbClr val="2E3A4A"/>
                </a:solidFill>
                <a:latin typeface="Montserrat"/>
              </a:rPr>
              <a:t>Assistam ao vídeo: </a:t>
            </a:r>
            <a:r>
              <a:rPr sz="2000" b="1" i="0">
                <a:solidFill>
                  <a:srgbClr val="2E3A4A"/>
                </a:solidFill>
                <a:latin typeface="Montserrat"/>
              </a:rPr>
              <a:t>um episódio</a:t>
            </a:r>
            <a:r>
              <a:rPr sz="2000" b="0" i="0">
                <a:solidFill>
                  <a:srgbClr val="2E3A4A"/>
                </a:solidFill>
                <a:latin typeface="Montserrat"/>
              </a:rPr>
              <a:t> com o Theo</a:t>
            </a:r>
          </a:p>
          <a:p>
            <a:pPr algn="l" marL="279400" indent="-279400">
              <a:lnSpc>
                <a:spcPct val="131000"/>
              </a:lnSpc>
              <a:buAutoNum type="arabicPeriod" startAt="1"/>
            </a:pPr>
            <a:r>
              <a:rPr sz="2000" b="0" i="0">
                <a:solidFill>
                  <a:srgbClr val="2E3A4A"/>
                </a:solidFill>
                <a:latin typeface="Montserrat"/>
              </a:rPr>
              <a:t>Leiam a história: </a:t>
            </a:r>
            <a:r>
              <a:rPr sz="2000" b="1" i="0">
                <a:solidFill>
                  <a:srgbClr val="2E3A4A"/>
                </a:solidFill>
                <a:latin typeface="Montserrat"/>
              </a:rPr>
              <a:t>quatro semanas</a:t>
            </a:r>
            <a:r>
              <a:rPr sz="2000" b="0" i="0">
                <a:solidFill>
                  <a:srgbClr val="2E3A4A"/>
                </a:solidFill>
                <a:latin typeface="Montserrat"/>
              </a:rPr>
              <a:t> de registros</a:t>
            </a:r>
          </a:p>
          <a:p>
            <a:pPr algn="l" marL="279400" indent="-279400">
              <a:lnSpc>
                <a:spcPct val="131000"/>
              </a:lnSpc>
              <a:buAutoNum type="arabicPeriod" startAt="1"/>
            </a:pPr>
            <a:r>
              <a:rPr sz="2000" b="0" i="0">
                <a:solidFill>
                  <a:srgbClr val="2E3A4A"/>
                </a:solidFill>
                <a:latin typeface="Montserrat"/>
              </a:rPr>
              <a:t>Em grupo, respondam às perguntas</a:t>
            </a:r>
          </a:p>
        </p:txBody>
      </p:sp>
      <p:sp>
        <p:nvSpPr>
          <p:cNvPr id="5" name="TextBox 4"/>
          <p:cNvSpPr txBox="1"/>
          <p:nvPr/>
        </p:nvSpPr>
        <p:spPr>
          <a:xfrm>
            <a:off x="1168400" y="3833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6" name="TextBox 5"/>
          <p:cNvSpPr txBox="1"/>
          <p:nvPr/>
        </p:nvSpPr>
        <p:spPr>
          <a:xfrm>
            <a:off x="1168400" y="443319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 (para que o comportamento serve).</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29205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746673"/>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658938"/>
            <a:ext cx="5892800" cy="3314700"/>
          </a:xfrm>
          <a:prstGeom prst="rect">
            <a:avLst/>
          </a:prstGeom>
        </p:spPr>
      </p:pic>
      <p:sp>
        <p:nvSpPr>
          <p:cNvPr id="7" name="TextBox 6"/>
          <p:cNvSpPr txBox="1"/>
          <p:nvPr/>
        </p:nvSpPr>
        <p:spPr>
          <a:xfrm>
            <a:off x="1168400" y="5227638"/>
            <a:ext cx="10569448" cy="462161"/>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a história a seguir traz o registro de quatro semanas. As respostas vêm depois, em grupo.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6302"/>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75488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179042"/>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79511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219277"/>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 (grupos 1, 3, 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4910038"/>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 (grupos 2, 4, 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559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2516882"/>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3834904"/>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 (o que mantém o comportamento).</a:t>
            </a:r>
          </a:p>
        </p:txBody>
      </p:sp>
      <p:sp>
        <p:nvSpPr>
          <p:cNvPr id="11" name="TextBox 10"/>
          <p:cNvSpPr txBox="1"/>
          <p:nvPr/>
        </p:nvSpPr>
        <p:spPr>
          <a:xfrm>
            <a:off x="1168400" y="4678065"/>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E a terapeuta do vídeo?</a:t>
            </a:r>
            <a:r>
              <a:rPr sz="1500" b="0" i="0">
                <a:solidFill>
                  <a:srgbClr val="2E3A4A"/>
                </a:solidFill>
                <a:latin typeface="Montserrat"/>
              </a:rPr>
              <a:t> Devolver os trilhos faz o grito parar e alivia quem está com ele. Esse alívio pode reforçar (tornar mais provável) o comportamento do adulto, e o ciclo continua.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12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Respostas 4: explicações possíveis</a:t>
            </a:r>
          </a:p>
        </p:txBody>
      </p:sp>
      <p:graphicFrame>
        <p:nvGraphicFramePr>
          <p:cNvPr id="4" name="Table 3"/>
          <p:cNvGraphicFramePr>
            <a:graphicFrameLocks noGrp="1"/>
          </p:cNvGraphicFramePr>
          <p:nvPr/>
        </p:nvGraphicFramePr>
        <p:xfrm>
          <a:off x="1168400" y="1855192"/>
          <a:ext cx="10007600" cy="2819400"/>
        </p:xfrm>
        <a:graphic>
          <a:graphicData uri="http://schemas.openxmlformats.org/drawingml/2006/table">
            <a:tbl>
              <a:tblPr firstRow="0" bandRow="0">
                <a:tableStyleId>{2D5ABB26-0587-4C30-8999-92F81FD0307C}</a:tableStyleId>
              </a:tblPr>
              <a:tblGrid>
                <a:gridCol w="2201664"/>
                <a:gridCol w="4203105"/>
                <a:gridCol w="3602831"/>
              </a:tblGrid>
              <a:tr h="438150">
                <a:tc>
                  <a:txBody>
                    <a:bodyPr wrap="square"/>
                    <a:lstStyle/>
                    <a:p>
                      <a:pPr>
                        <a:lnSpc>
                          <a:spcPct val="100000"/>
                        </a:lnSpc>
                      </a:pPr>
                      <a:r>
                        <a:rPr sz="135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ajuda</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atrapalha</a:t>
                      </a:r>
                    </a:p>
                  </a:txBody>
                  <a:tcPr marL="114300" marR="114300" marT="68580" marB="68580" anchor="ctr">
                    <a:solidFill>
                      <a:srgbClr val="1B2F4B"/>
                    </a:solidFill>
                  </a:tcPr>
                </a:tc>
              </a:tr>
              <a:tr h="647700">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Acontece quando os trilhos são guardados; às vezes eles voltam; em casa, ao desligar a TV</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No lanche os trilhos também foram guardados, e não houve episódio</a:t>
                      </a:r>
                    </a:p>
                  </a:txBody>
                  <a:tcPr marL="114300" marR="114300" marT="68580" marB="68580" anchor="ctr">
                    <a:solidFill>
                      <a:srgbClr val="FFFFFF"/>
                    </a:solidFill>
                  </a:tcPr>
                </a:tc>
              </a:tr>
              <a:tr h="647700">
                <a:tc>
                  <a:txBody>
                    <a:bodyPr wrap="square"/>
                    <a:lstStyle/>
                    <a:p>
                      <a:pPr>
                        <a:lnSpc>
                          <a:spcPct val="100000"/>
                        </a:lnSpc>
                      </a:pPr>
                      <a:r>
                        <a:rPr sz="1350" b="1" i="0">
                          <a:solidFill>
                            <a:srgbClr val="2E3A4A"/>
                          </a:solidFill>
                          <a:latin typeface="Montserrat"/>
                        </a:rPr>
                        <a:t>Foge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Não acontece quando o próximo é o lanche; às vezes a mesa é adiada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Em casa, o antecedente (o que vem antes) é o banho</a:t>
                      </a:r>
                    </a:p>
                  </a:txBody>
                  <a:tcPr marL="114300" marR="114300" marT="68580" marB="68580" anchor="ctr">
                    <a:solidFill>
                      <a:srgbClr val="F1F4F6"/>
                    </a:solidFill>
                  </a:tcPr>
                </a:tc>
              </a:tr>
              <a:tr h="647700">
                <a:tc>
                  <a:txBody>
                    <a:bodyPr wrap="square"/>
                    <a:lstStyle/>
                    <a:p>
                      <a:pPr>
                        <a:lnSpc>
                          <a:spcPct val="100000"/>
                        </a:lnSpc>
                      </a:pPr>
                      <a:r>
                        <a:rPr sz="1350" b="1" i="0">
                          <a:solidFill>
                            <a:srgbClr val="2E3A4A"/>
                          </a:solidFill>
                          <a:latin typeface="Montserrat"/>
                        </a:rPr>
                        <a:t>As duas juntas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Os dois antecedentes acontecem ao mesmo tempo</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Precisa de avaliação</a:t>
                      </a:r>
                    </a:p>
                  </a:txBody>
                  <a:tcPr marL="114300" marR="114300" marT="68580" marB="68580" anchor="ctr">
                    <a:solidFill>
                      <a:srgbClr val="FFFFFF"/>
                    </a:solidFill>
                  </a:tcPr>
                </a:tc>
              </a:tr>
              <a:tr h="438150">
                <a:tc>
                  <a:txBody>
                    <a:bodyPr wrap="square"/>
                    <a:lstStyle/>
                    <a:p>
                      <a:pPr>
                        <a:lnSpc>
                          <a:spcPct val="100000"/>
                        </a:lnSpc>
                      </a:pPr>
                      <a:r>
                        <a:rPr sz="1350" b="1" i="0">
                          <a:solidFill>
                            <a:srgbClr val="2E3A4A"/>
                          </a:solidFill>
                          <a:latin typeface="Montserrat"/>
                        </a:rPr>
                        <a:t>Quer atenção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Possível atenção durante o episódio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Nenhum dado mostra isso</a:t>
                      </a:r>
                    </a:p>
                  </a:txBody>
                  <a:tcPr marL="114300" marR="114300" marT="68580" marB="68580" anchor="ctr">
                    <a:solidFill>
                      <a:srgbClr val="F1F4F6"/>
                    </a:solidFill>
                  </a:tcPr>
                </a:tc>
              </a:tr>
            </a:tbl>
          </a:graphicData>
        </a:graphic>
      </p:graphicFrame>
      <p:sp>
        <p:nvSpPr>
          <p:cNvPr id="5" name="TextBox 4"/>
          <p:cNvSpPr txBox="1"/>
          <p:nvPr/>
        </p:nvSpPr>
        <p:spPr>
          <a:xfrm>
            <a:off x="1168400" y="4865092"/>
            <a:ext cx="10307828" cy="561181"/>
          </a:xfrm>
          <a:prstGeom prst="rect">
            <a:avLst/>
          </a:prstGeom>
          <a:noFill/>
        </p:spPr>
        <p:txBody>
          <a:bodyPr wrap="square" lIns="0" rIns="0" tIns="0" bIns="0" anchor="t">
            <a:noAutofit/>
          </a:bodyPr>
          <a:lstStyle/>
          <a:p>
            <a:pPr algn="l">
              <a:lnSpc>
                <a:spcPct val="107000"/>
              </a:lnSpc>
            </a:pPr>
            <a:r>
              <a:rPr sz="1700" b="1" i="0">
                <a:solidFill>
                  <a:srgbClr val="0F7C86"/>
                </a:solidFill>
                <a:latin typeface="Montserrat"/>
              </a:rPr>
              <a:t>O lanche é a pista: enfraquece “quer os trilhos” e fortalece “foge da mesa” (ou as duas juntas).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36b</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3720"/>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Respostas 5: o que fazer, e se a explicação estiver errada?</a:t>
            </a:r>
          </a:p>
        </p:txBody>
      </p:sp>
      <p:graphicFrame>
        <p:nvGraphicFramePr>
          <p:cNvPr id="4" name="Table 3"/>
          <p:cNvGraphicFramePr>
            <a:graphicFrameLocks noGrp="1"/>
          </p:cNvGraphicFramePr>
          <p:nvPr/>
        </p:nvGraphicFramePr>
        <p:xfrm>
          <a:off x="1168400" y="2415480"/>
          <a:ext cx="10007600" cy="2324100"/>
        </p:xfrm>
        <a:graphic>
          <a:graphicData uri="http://schemas.openxmlformats.org/drawingml/2006/table">
            <a:tbl>
              <a:tblPr firstRow="0" bandRow="0">
                <a:tableStyleId>{2D5ABB26-0587-4C30-8999-92F81FD0307C}</a:tableStyleId>
              </a:tblPr>
              <a:tblGrid>
                <a:gridCol w="5203924"/>
                <a:gridCol w="4803676"/>
              </a:tblGrid>
              <a:tr h="463550">
                <a:tc>
                  <a:txBody>
                    <a:bodyPr wrap="square"/>
                    <a:lstStyle/>
                    <a:p>
                      <a:pPr>
                        <a:lnSpc>
                          <a:spcPct val="100000"/>
                        </a:lnSpc>
                      </a:pPr>
                      <a:r>
                        <a:rPr sz="1500" b="1" i="0">
                          <a:solidFill>
                            <a:srgbClr val="FFFFFF"/>
                          </a:solidFill>
                          <a:latin typeface="Montserrat"/>
                        </a:rPr>
                        <a:t>Se a explicação for…, podemos…</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Se a explicação estiver errada…</a:t>
                      </a:r>
                    </a:p>
                  </a:txBody>
                  <a:tcPr marL="114300" marR="114300" marT="68580" marB="68580" anchor="ctr">
                    <a:solidFill>
                      <a:srgbClr val="1B2F4B"/>
                    </a:solidFill>
                  </a:tcPr>
                </a:tc>
              </a:tr>
              <a:tr h="698500">
                <a:tc>
                  <a:txBody>
                    <a:bodyPr wrap="square"/>
                    <a:lstStyle/>
                    <a:p>
                      <a:pPr>
                        <a:lnSpc>
                          <a:spcPct val="100000"/>
                        </a:lnSpc>
                      </a:pPr>
                      <a:r>
                        <a:rPr sz="1500" b="1" i="0">
                          <a:solidFill>
                            <a:srgbClr val="2E3A4A"/>
                          </a:solidFill>
                          <a:latin typeface="Montserrat"/>
                        </a:rPr>
                        <a:t>Quer os trilhos:</a:t>
                      </a:r>
                      <a:r>
                        <a:rPr sz="1500" b="0" i="0">
                          <a:solidFill>
                            <a:srgbClr val="2E3A4A"/>
                          </a:solidFill>
                          <a:latin typeface="Montserrat"/>
                        </a:rPr>
                        <a:t> “primeiro mesa, depois trem”; ensinar a pedir “mais trem” e a esperar</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Se na verdade ele foge da mesa: pouco efeito, a mesa continua difícil</a:t>
                      </a:r>
                    </a:p>
                  </a:txBody>
                  <a:tcPr marL="114300" marR="114300" marT="68580" marB="68580" anchor="ctr">
                    <a:solidFill>
                      <a:srgbClr val="FFFFFF"/>
                    </a:solidFill>
                  </a:tcPr>
                </a:tc>
              </a:tr>
              <a:tr h="698500">
                <a:tc>
                  <a:txBody>
                    <a:bodyPr wrap="square"/>
                    <a:lstStyle/>
                    <a:p>
                      <a:pPr>
                        <a:lnSpc>
                          <a:spcPct val="100000"/>
                        </a:lnSpc>
                      </a:pPr>
                      <a:r>
                        <a:rPr sz="1500" b="1" i="0">
                          <a:solidFill>
                            <a:srgbClr val="2E3A4A"/>
                          </a:solidFill>
                          <a:latin typeface="Montserrat"/>
                        </a:rPr>
                        <a:t>Foge da mesa:</a:t>
                      </a:r>
                      <a:r>
                        <a:rPr sz="1500" b="0" i="0">
                          <a:solidFill>
                            <a:srgbClr val="2E3A4A"/>
                          </a:solidFill>
                          <a:latin typeface="Montserrat"/>
                        </a:rPr>
                        <a:t> tarefa mais curta, com tema de trens; ensinar a pedir “pausa”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Se na verdade ele quer os trilhos: o comportamento na hora de guardar continua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Adiar a mesa quando ele grita, “para acalmar”</a:t>
                      </a:r>
                    </a:p>
                  </a:txBody>
                  <a:tcPr marL="114300" marR="114300" marT="68580" marB="68580" anchor="ctr">
                    <a:solidFill>
                      <a:srgbClr val="FFFFFF"/>
                    </a:solidFill>
                  </a:tcPr>
                </a:tc>
                <a:tc>
                  <a:txBody>
                    <a:bodyPr wrap="square"/>
                    <a:lstStyle/>
                    <a:p>
                      <a:pPr>
                        <a:lnSpc>
                          <a:spcPct val="100000"/>
                        </a:lnSpc>
                      </a:pPr>
                      <a:r>
                        <a:rPr sz="1500" b="1" i="0">
                          <a:solidFill>
                            <a:srgbClr val="2E3A4A"/>
                          </a:solidFill>
                          <a:latin typeface="Montserrat"/>
                        </a:rPr>
                        <a:t>Piora:</a:t>
                      </a:r>
                      <a:r>
                        <a:rPr sz="1500" b="0" i="0">
                          <a:solidFill>
                            <a:srgbClr val="2E3A4A"/>
                          </a:solidFill>
                          <a:latin typeface="Montserrat"/>
                        </a:rPr>
                        <a:t> ele aprende que gritar funciona</a:t>
                      </a:r>
                    </a:p>
                  </a:txBody>
                  <a:tcPr marL="114300" marR="114300" marT="68580" marB="68580" anchor="ctr">
                    <a:solidFill>
                      <a:srgbClr val="FFFFFF"/>
                    </a:solidFill>
                  </a:tcPr>
                </a:tc>
              </a:tr>
            </a:tbl>
          </a:graphicData>
        </a:graphic>
      </p:graphicFrame>
      <p:sp>
        <p:nvSpPr>
          <p:cNvPr id="5" name="TextBox 4"/>
          <p:cNvSpPr txBox="1"/>
          <p:nvPr/>
        </p:nvSpPr>
        <p:spPr>
          <a:xfrm>
            <a:off x="1168400" y="4993580"/>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Errar a explicação pode ensinar o contrário do que queremos.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36c</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a função for fugir da mesa, o comportamento continua</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946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do comportamento à decisão</a:t>
            </a:r>
          </a:p>
        </p:txBody>
      </p:sp>
      <p:sp>
        <p:nvSpPr>
          <p:cNvPr id="4" name="TextBox 3"/>
          <p:cNvSpPr txBox="1"/>
          <p:nvPr/>
        </p:nvSpPr>
        <p:spPr>
          <a:xfrm>
            <a:off x="1168400" y="2906712"/>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3897312"/>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 (para que o comportamento serve)</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71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628503"/>
            <a:ext cx="10307828" cy="21717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(forma) descreve; função (para que serve)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0522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2117328"/>
          <a:ext cx="10007600" cy="32448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Lara, uma aula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Reserva: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 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(tornar mais provável)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Sempre sozinha na biblioteca?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(sair da situação)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Reserva: um dado novo sobre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“Foge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R2b</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