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22.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níveis descrevem necessidade de apoio, não "grau de autismo" nem valor da pessoa.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inofensivas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20 logo em seguida. Tempo: 0,5 min (10h13).</a:t>
            </a:r>
          </a:p>
          <a:p/>
          <a:p>
            <a:r>
              <a:t>RESPOSTAS: ver slide 21.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de projetar a vinheta. Se houver só 1 ou 2 grupos, cada um responde P1 a P4 mais as perguntas 5 e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a:t>
            </a:r>
          </a:p>
          <a:p/>
          <a:p>
            <a:r>
              <a:t>RESPOSTAS DO VÍDEO: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35, 35b e 36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Para grupos que terminarem antes: slide R2 (dado novo) ou R1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Mostrar os slides de respostas 36a a 36d conforme cada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Só para grupos que terminarem antes, ou como estudo posterior. Não entra no tempo. A comparação ABA × TCC com este caso já foi feita no slide 26.</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'foge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3.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4.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oto_circulo_pptx.png"/>
          <p:cNvPicPr>
            <a:picLocks noChangeAspect="1"/>
          </p:cNvPicPr>
          <p:nvPr/>
        </p:nvPicPr>
        <p:blipFill>
          <a:blip r:embed="rId2"/>
          <a:stretch>
            <a:fillRect/>
          </a:stretch>
        </p:blipFill>
        <p:spPr>
          <a:xfrm>
            <a:off x="8445500" y="1905000"/>
            <a:ext cx="2794000" cy="2794000"/>
          </a:xfrm>
          <a:prstGeom prst="rect">
            <a:avLst/>
          </a:prstGeom>
        </p:spPr>
      </p:pic>
      <p:sp>
        <p:nvSpPr>
          <p:cNvPr id="4" name="TextBox 3"/>
          <p:cNvSpPr txBox="1"/>
          <p:nvPr/>
        </p:nvSpPr>
        <p:spPr>
          <a:xfrm>
            <a:off x="1016000" y="1723430"/>
            <a:ext cx="745617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5" name="TextBox 4"/>
          <p:cNvSpPr txBox="1"/>
          <p:nvPr/>
        </p:nvSpPr>
        <p:spPr>
          <a:xfrm>
            <a:off x="1016000" y="2148880"/>
            <a:ext cx="745617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6" name="TextBox 5"/>
          <p:cNvSpPr txBox="1"/>
          <p:nvPr/>
        </p:nvSpPr>
        <p:spPr>
          <a:xfrm>
            <a:off x="1016000" y="3215680"/>
            <a:ext cx="745617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7" name="TextBox 6"/>
          <p:cNvSpPr txBox="1"/>
          <p:nvPr/>
        </p:nvSpPr>
        <p:spPr>
          <a:xfrm>
            <a:off x="1016000" y="4378920"/>
            <a:ext cx="745617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8" name="TextBox 7"/>
          <p:cNvSpPr txBox="1"/>
          <p:nvPr/>
        </p:nvSpPr>
        <p:spPr>
          <a:xfrm>
            <a:off x="1016000" y="4886920"/>
            <a:ext cx="745617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5986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89577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612033"/>
            <a:ext cx="6592824" cy="28956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55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501503"/>
            <a:ext cx="10307828" cy="24003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Explicar por que o TEA é heterogêneo</a:t>
            </a:r>
          </a:p>
          <a:p>
            <a:pPr algn="l" marL="279400" indent="-279400">
              <a:lnSpc>
                <a:spcPct val="123000"/>
              </a:lnSpc>
              <a:buAutoNum type="arabicPeriod" startAt="1"/>
            </a:pPr>
            <a:r>
              <a:rPr sz="1800" b="1" i="0">
                <a:solidFill>
                  <a:srgbClr val="2E3A4A"/>
                </a:solidFill>
                <a:latin typeface="Montserrat"/>
              </a:rPr>
              <a:t>Diferenciar topografia e função</a:t>
            </a:r>
          </a:p>
          <a:p>
            <a:pPr algn="l" marL="279400" indent="-279400">
              <a:lnSpc>
                <a:spcPct val="123000"/>
              </a:lnSpc>
              <a:buAutoNum type="arabicPeriod" startAt="1"/>
            </a:pPr>
            <a:r>
              <a:rPr sz="1800" b="1" i="0">
                <a:solidFill>
                  <a:srgbClr val="2E3A4A"/>
                </a:solidFill>
                <a:latin typeface="Montserrat"/>
              </a:rPr>
              <a:t>Identificar antecedentes, consequências e contexto</a:t>
            </a:r>
          </a:p>
          <a:p>
            <a:pPr algn="l" marL="279400" indent="-279400">
              <a:lnSpc>
                <a:spcPct val="123000"/>
              </a:lnSpc>
              <a:buAutoNum type="arabicPeriod" startAt="1"/>
            </a:pPr>
            <a:r>
              <a:rPr sz="1800" b="1" i="0">
                <a:solidFill>
                  <a:srgbClr val="2E3A4A"/>
                </a:solidFill>
                <a:latin typeface="Montserrat"/>
              </a:rPr>
              <a:t>Justificar por que avaliar vem antes de intervir</a:t>
            </a:r>
          </a:p>
          <a:p>
            <a:pPr algn="l" marL="279400" indent="-279400">
              <a:lnSpc>
                <a:spcPct val="123000"/>
              </a:lnSpc>
              <a:buAutoNum type="arabicPeriod" startAt="1"/>
            </a:pPr>
            <a:r>
              <a:rPr sz="1800" b="0" i="0">
                <a:solidFill>
                  <a:srgbClr val="2E3A4A"/>
                </a:solidFill>
                <a:latin typeface="Montserrat"/>
              </a:rPr>
              <a:t>Reconhecer estratégias baseadas em evidências e ligá-las à função</a:t>
            </a:r>
          </a:p>
          <a:p>
            <a:pPr algn="l" marL="279400" indent="-279400">
              <a:lnSpc>
                <a:spcPct val="123000"/>
              </a:lnSpc>
              <a:buAutoNum type="arabicPeriod" startAt="1"/>
            </a:pPr>
            <a:r>
              <a:rPr sz="1800" b="0" i="0">
                <a:solidFill>
                  <a:srgbClr val="2E3A4A"/>
                </a:solidFill>
                <a:latin typeface="Montserrat"/>
              </a:rPr>
              <a:t>Analisar uma vinheta e justificar decisões</a:t>
            </a:r>
          </a:p>
          <a:p>
            <a:pPr algn="l" marL="279400" indent="-279400">
              <a:lnSpc>
                <a:spcPct val="123000"/>
              </a:lnSpc>
              <a:buAutoNum type="arabicPeriod" startAt="1"/>
            </a:pPr>
            <a:r>
              <a:rPr sz="1800" b="0" i="0">
                <a:solidFill>
                  <a:srgbClr val="2E3A4A"/>
                </a:solidFill>
                <a:latin typeface="Montserrat"/>
              </a:rPr>
              <a:t>Reconhecer limites de atuação e a importância da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898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300196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5" name="TextBox 4"/>
          <p:cNvSpPr txBox="1"/>
          <p:nvPr/>
        </p:nvSpPr>
        <p:spPr>
          <a:xfrm>
            <a:off x="1168400" y="3410843"/>
            <a:ext cx="4839970"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aplicado ao TEA.</a:t>
            </a:r>
          </a:p>
        </p:txBody>
      </p:sp>
      <p:sp>
        <p:nvSpPr>
          <p:cNvPr id="6" name="TextBox 5"/>
          <p:cNvSpPr txBox="1"/>
          <p:nvPr/>
        </p:nvSpPr>
        <p:spPr>
          <a:xfrm>
            <a:off x="6477000" y="300196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7" name="TextBox 6"/>
          <p:cNvSpPr txBox="1"/>
          <p:nvPr/>
        </p:nvSpPr>
        <p:spPr>
          <a:xfrm>
            <a:off x="6477000" y="3410843"/>
            <a:ext cx="4839970"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Ele não habilita ninguém a avaliar ou intervir sem formação e supervisão.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0563"/>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de TEA se apoia em dois domínios</a:t>
            </a:r>
          </a:p>
        </p:txBody>
      </p:sp>
      <p:sp>
        <p:nvSpPr>
          <p:cNvPr id="4" name="TextBox 3"/>
          <p:cNvSpPr txBox="1"/>
          <p:nvPr/>
        </p:nvSpPr>
        <p:spPr>
          <a:xfrm>
            <a:off x="1168400" y="278457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Comunicação e interação social</a:t>
            </a:r>
          </a:p>
        </p:txBody>
      </p:sp>
      <p:sp>
        <p:nvSpPr>
          <p:cNvPr id="5" name="TextBox 4"/>
          <p:cNvSpPr txBox="1"/>
          <p:nvPr/>
        </p:nvSpPr>
        <p:spPr>
          <a:xfrm>
            <a:off x="1168400" y="319345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Diferenças persistentes, em vários contextos.</a:t>
            </a:r>
          </a:p>
        </p:txBody>
      </p:sp>
      <p:sp>
        <p:nvSpPr>
          <p:cNvPr id="6" name="TextBox 5"/>
          <p:cNvSpPr txBox="1"/>
          <p:nvPr/>
        </p:nvSpPr>
        <p:spPr>
          <a:xfrm>
            <a:off x="6477000" y="278457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Padrões restritos e repetitivos</a:t>
            </a:r>
          </a:p>
        </p:txBody>
      </p:sp>
      <p:sp>
        <p:nvSpPr>
          <p:cNvPr id="7" name="TextBox 6"/>
          <p:cNvSpPr txBox="1"/>
          <p:nvPr/>
        </p:nvSpPr>
        <p:spPr>
          <a:xfrm>
            <a:off x="6477000" y="3193455"/>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De comportamento, interesses ou atividades, incluindo respostas sensoriais.</a:t>
            </a:r>
          </a:p>
        </p:txBody>
      </p:sp>
      <p:sp>
        <p:nvSpPr>
          <p:cNvPr id="8" name="TextBox 7"/>
          <p:cNvSpPr txBox="1"/>
          <p:nvPr/>
        </p:nvSpPr>
        <p:spPr>
          <a:xfrm>
            <a:off x="1168400" y="4536877"/>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Os sinais aparecem no início do desenvolvimento e têm impacto significativo no funcionamento.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85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gravidade</a:t>
            </a:r>
          </a:p>
        </p:txBody>
      </p:sp>
      <p:sp>
        <p:nvSpPr>
          <p:cNvPr id="4" name="TextBox 3"/>
          <p:cNvSpPr txBox="1"/>
          <p:nvPr/>
        </p:nvSpPr>
        <p:spPr>
          <a:xfrm>
            <a:off x="1168400" y="2021483"/>
            <a:ext cx="10307828" cy="60444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com ou sem deficiência intelectual, com ou sem comprometimento de linguagem, condições associadas.</a:t>
            </a:r>
          </a:p>
        </p:txBody>
      </p:sp>
      <p:graphicFrame>
        <p:nvGraphicFramePr>
          <p:cNvPr id="5" name="Table 4"/>
          <p:cNvGraphicFramePr>
            <a:graphicFrameLocks noGrp="1"/>
          </p:cNvGraphicFramePr>
          <p:nvPr/>
        </p:nvGraphicFramePr>
        <p:xfrm>
          <a:off x="1168400" y="2879923"/>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Necessidade de apoio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apoio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1151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necessidade de apoio, não “grau de autismo”.</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2758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92159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78519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de 100 por 10.000 em estudos de vários países)</a:t>
            </a:r>
          </a:p>
        </p:txBody>
      </p:sp>
      <p:sp>
        <p:nvSpPr>
          <p:cNvPr id="6" name="TextBox 5"/>
          <p:cNvSpPr txBox="1"/>
          <p:nvPr/>
        </p:nvSpPr>
        <p:spPr>
          <a:xfrm>
            <a:off x="6477000" y="292159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78519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9836"/>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15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409255"/>
            <a:ext cx="10307828" cy="1143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262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624012"/>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94506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inofensivas não são alvo por si só.</a:t>
            </a:r>
          </a:p>
        </p:txBody>
      </p:sp>
      <p:sp>
        <p:nvSpPr>
          <p:cNvPr id="6" name="TextBox 5"/>
          <p:cNvSpPr txBox="1"/>
          <p:nvPr/>
        </p:nvSpPr>
        <p:spPr>
          <a:xfrm>
            <a:off x="1168400" y="547459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12b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580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2875855"/>
            <a:ext cx="10307828" cy="3556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Sete dimensões definem a Análise do Comportamento Aplicada:</a:t>
            </a:r>
          </a:p>
        </p:txBody>
      </p:sp>
      <p:sp>
        <p:nvSpPr>
          <p:cNvPr id="5" name="TextBox 4"/>
          <p:cNvSpPr txBox="1"/>
          <p:nvPr/>
        </p:nvSpPr>
        <p:spPr>
          <a:xfrm>
            <a:off x="1168400" y="3485455"/>
            <a:ext cx="2526575"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Aplicada</a:t>
            </a:r>
          </a:p>
          <a:p>
            <a:pPr algn="l" marL="279400" indent="-279400">
              <a:lnSpc>
                <a:spcPct val="123000"/>
              </a:lnSpc>
              <a:buChar char="•"/>
            </a:pPr>
            <a:r>
              <a:rPr sz="2000" b="0" i="0">
                <a:solidFill>
                  <a:srgbClr val="2E3A4A"/>
                </a:solidFill>
                <a:latin typeface="Montserrat"/>
              </a:rPr>
              <a:t>Comportamental</a:t>
            </a:r>
          </a:p>
          <a:p>
            <a:pPr algn="l" marL="279400" indent="-279400">
              <a:lnSpc>
                <a:spcPct val="123000"/>
              </a:lnSpc>
              <a:buChar char="•"/>
            </a:pPr>
            <a:r>
              <a:rPr sz="2000" b="0" i="0">
                <a:solidFill>
                  <a:srgbClr val="2E3A4A"/>
                </a:solidFill>
                <a:latin typeface="Montserrat"/>
              </a:rPr>
              <a:t>Analítica</a:t>
            </a:r>
          </a:p>
          <a:p>
            <a:pPr algn="l" marL="279400" indent="-279400">
              <a:lnSpc>
                <a:spcPct val="123000"/>
              </a:lnSpc>
              <a:buChar char="•"/>
            </a:pPr>
            <a:r>
              <a:rPr sz="2000" b="0" i="0">
                <a:solidFill>
                  <a:srgbClr val="2E3A4A"/>
                </a:solidFill>
                <a:latin typeface="Montserrat"/>
              </a:rPr>
              <a:t>Tecnológica</a:t>
            </a:r>
          </a:p>
        </p:txBody>
      </p:sp>
      <p:sp>
        <p:nvSpPr>
          <p:cNvPr id="6" name="TextBox 5"/>
          <p:cNvSpPr txBox="1"/>
          <p:nvPr/>
        </p:nvSpPr>
        <p:spPr>
          <a:xfrm>
            <a:off x="4230985" y="3485455"/>
            <a:ext cx="4095477"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Conceitualmente sistemática</a:t>
            </a:r>
          </a:p>
          <a:p>
            <a:pPr algn="l" marL="279400" indent="-279400">
              <a:lnSpc>
                <a:spcPct val="123000"/>
              </a:lnSpc>
              <a:buChar char="•"/>
            </a:pPr>
            <a:r>
              <a:rPr sz="2000" b="0" i="0">
                <a:solidFill>
                  <a:srgbClr val="2E3A4A"/>
                </a:solidFill>
                <a:latin typeface="Montserrat"/>
              </a:rPr>
              <a:t>Efetiva</a:t>
            </a:r>
          </a:p>
          <a:p>
            <a:pPr algn="l" marL="279400" indent="-279400">
              <a:lnSpc>
                <a:spcPct val="123000"/>
              </a:lnSpc>
              <a:buChar char="•"/>
            </a:pPr>
            <a:r>
              <a:rPr sz="2000" b="0" i="0">
                <a:solidFill>
                  <a:srgbClr val="2E3A4A"/>
                </a:solidFill>
                <a:latin typeface="Montserrat"/>
              </a:rPr>
              <a:t>Generalidade</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Sono, dor, fome, rotina, ambiente sensorial.</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1579"/>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604790"/>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595390"/>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4004270"/>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595390"/>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4004270"/>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959152"/>
            <a:ext cx="10307828" cy="346670"/>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53282"/>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2465388"/>
            <a:ext cx="10307828" cy="1905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Acesso a atenção</a:t>
            </a:r>
          </a:p>
          <a:p>
            <a:pPr algn="l" marL="279400" indent="-279400">
              <a:lnSpc>
                <a:spcPct val="123000"/>
              </a:lnSpc>
              <a:buAutoNum type="arabicPeriod" startAt="1"/>
            </a:pPr>
            <a:r>
              <a:rPr sz="2000" b="0" i="0">
                <a:solidFill>
                  <a:srgbClr val="2E3A4A"/>
                </a:solidFill>
                <a:latin typeface="Montserrat"/>
              </a:rPr>
              <a:t>Acesso a itens ou atividades</a:t>
            </a:r>
          </a:p>
          <a:p>
            <a:pPr algn="l" marL="279400" indent="-279400">
              <a:lnSpc>
                <a:spcPct val="123000"/>
              </a:lnSpc>
              <a:buAutoNum type="arabicPeriod" startAt="1"/>
            </a:pPr>
            <a:r>
              <a:rPr sz="2000" b="0" i="0">
                <a:solidFill>
                  <a:srgbClr val="2E3A4A"/>
                </a:solidFill>
                <a:latin typeface="Montserrat"/>
              </a:rPr>
              <a:t>Fuga ou esquiva de demandas ou estímulos</a:t>
            </a:r>
          </a:p>
          <a:p>
            <a:pPr algn="l" marL="279400" indent="-279400">
              <a:lnSpc>
                <a:spcPct val="123000"/>
              </a:lnSpc>
              <a:buAutoNum type="arabicPeriod" startAt="1"/>
            </a:pPr>
            <a:r>
              <a:rPr sz="2000" b="0" i="0">
                <a:solidFill>
                  <a:srgbClr val="2E3A4A"/>
                </a:solidFill>
                <a:latin typeface="Montserrat"/>
              </a:rPr>
              <a:t>Reforçamento automático: o próprio comportamento produz a consequência</a:t>
            </a:r>
          </a:p>
        </p:txBody>
      </p:sp>
      <p:sp>
        <p:nvSpPr>
          <p:cNvPr id="5" name="TextBox 4"/>
          <p:cNvSpPr txBox="1"/>
          <p:nvPr/>
        </p:nvSpPr>
        <p:spPr>
          <a:xfrm>
            <a:off x="1168400" y="4700588"/>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a testar, não rótulos. Podem ser múltiplas ou combinadas.</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374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três hipóteses</a:t>
            </a:r>
          </a:p>
        </p:txBody>
      </p:sp>
      <p:graphicFrame>
        <p:nvGraphicFramePr>
          <p:cNvPr id="4" name="Table 3"/>
          <p:cNvGraphicFramePr>
            <a:graphicFrameLocks noGrp="1"/>
          </p:cNvGraphicFramePr>
          <p:nvPr/>
        </p:nvGraphicFramePr>
        <p:xfrm>
          <a:off x="1168400" y="2398712"/>
          <a:ext cx="10007600" cy="20320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5080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p>
                  </a:txBody>
                  <a:tcPr marL="114300" marR="114300" marT="68580" marB="68580" anchor="ctr">
                    <a:solidFill>
                      <a:srgbClr val="FFFFFF"/>
                    </a:solidFill>
                  </a:tcPr>
                </a:tc>
              </a:tr>
            </a:tbl>
          </a:graphicData>
        </a:graphic>
      </p:graphicFrame>
      <p:sp>
        <p:nvSpPr>
          <p:cNvPr id="5" name="TextBox 4"/>
          <p:cNvSpPr txBox="1"/>
          <p:nvPr/>
        </p:nvSpPr>
        <p:spPr>
          <a:xfrm>
            <a:off x="1168400" y="47101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221012" y="2487910"/>
            <a:ext cx="7982374"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diferente.</a:t>
            </a:r>
          </a:p>
        </p:txBody>
      </p:sp>
      <p:sp>
        <p:nvSpPr>
          <p:cNvPr id="3" name="TextBox 2"/>
          <p:cNvSpPr txBox="1"/>
          <p:nvPr/>
        </p:nvSpPr>
        <p:spPr>
          <a:xfrm>
            <a:off x="1337965" y="31229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1032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357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compartilham compromissos empíricos</a:t>
            </a:r>
          </a:p>
        </p:txBody>
      </p:sp>
      <p:sp>
        <p:nvSpPr>
          <p:cNvPr id="4" name="TextBox 3"/>
          <p:cNvSpPr txBox="1"/>
          <p:nvPr/>
        </p:nvSpPr>
        <p:spPr>
          <a:xfrm>
            <a:off x="1168400" y="2729805"/>
            <a:ext cx="10307828" cy="1905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Avaliação de resultados com dados</a:t>
            </a:r>
          </a:p>
          <a:p>
            <a:pPr algn="l" marL="279400" indent="-279400">
              <a:lnSpc>
                <a:spcPct val="123000"/>
              </a:lnSpc>
              <a:buChar char="•"/>
            </a:pPr>
            <a:r>
              <a:rPr sz="2000" b="0" i="0">
                <a:solidFill>
                  <a:srgbClr val="2E3A4A"/>
                </a:solidFill>
                <a:latin typeface="Montserrat"/>
              </a:rPr>
              <a:t>Alvos definidos de forma operacional</a:t>
            </a:r>
          </a:p>
          <a:p>
            <a:pPr algn="l" marL="279400" indent="-279400">
              <a:lnSpc>
                <a:spcPct val="123000"/>
              </a:lnSpc>
              <a:buChar char="•"/>
            </a:pPr>
            <a:r>
              <a:rPr sz="2000" b="0" i="0">
                <a:solidFill>
                  <a:srgbClr val="2E3A4A"/>
                </a:solidFill>
                <a:latin typeface="Montserrat"/>
              </a:rPr>
              <a:t>Formulação individualizada do caso</a:t>
            </a:r>
          </a:p>
          <a:p>
            <a:pPr algn="l" marL="279400" indent="-279400">
              <a:lnSpc>
                <a:spcPct val="123000"/>
              </a:lnSpc>
              <a:buChar char="•"/>
            </a:pPr>
            <a:r>
              <a:rPr sz="2000" b="0" i="0">
                <a:solidFill>
                  <a:srgbClr val="2E3A4A"/>
                </a:solidFill>
                <a:latin typeface="Montserrat"/>
              </a:rPr>
              <a:t>Procedimentos baseados em princípios de aprendizagem, como reforçamento, exposição, modelação e treino de habilidades</a:t>
            </a:r>
          </a:p>
        </p:txBody>
      </p:sp>
      <p:sp>
        <p:nvSpPr>
          <p:cNvPr id="5" name="TextBox 4"/>
          <p:cNvSpPr txBox="1"/>
          <p:nvPr/>
        </p:nvSpPr>
        <p:spPr>
          <a:xfrm>
            <a:off x="1168400" y="4965005"/>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847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diferentes</a:t>
            </a:r>
          </a:p>
        </p:txBody>
      </p:sp>
      <p:graphicFrame>
        <p:nvGraphicFramePr>
          <p:cNvPr id="4" name="Table 3"/>
          <p:cNvGraphicFramePr>
            <a:graphicFrameLocks noGrp="1"/>
          </p:cNvGraphicFramePr>
          <p:nvPr/>
        </p:nvGraphicFramePr>
        <p:xfrm>
          <a:off x="1168400" y="2542480"/>
          <a:ext cx="10007600" cy="2876550"/>
        </p:xfrm>
        <a:graphic>
          <a:graphicData uri="http://schemas.openxmlformats.org/drawingml/2006/table">
            <a:tbl>
              <a:tblPr firstRow="0" bandRow="0">
                <a:tableStyleId>{2D5ABB26-0587-4C30-8999-92F81FD0307C}</a:tableStyleId>
              </a:tblPr>
              <a:tblGrid>
                <a:gridCol w="2802037"/>
                <a:gridCol w="3602732"/>
                <a:gridCol w="3602831"/>
              </a:tblGrid>
              <a:tr h="47625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TCC (modelo de Beck)</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Behaviorismo radical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Modelo cognitivo</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Comportamentos a explicar</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Mediadores e alvo central</a:t>
                      </a:r>
                    </a:p>
                  </a:txBody>
                  <a:tcPr marL="114300" marR="114300" marT="68580" marB="68580" anchor="ctr">
                    <a:solidFill>
                      <a:srgbClr val="F1F4F6"/>
                    </a:solidFill>
                  </a:tcPr>
                </a:tc>
              </a:tr>
              <a:tr h="723900">
                <a:tc>
                  <a:txBody>
                    <a:bodyPr wrap="square"/>
                    <a:lstStyle/>
                    <a:p>
                      <a:pPr>
                        <a:lnSpc>
                          <a:spcPct val="100000"/>
                        </a:lnSpc>
                      </a:pPr>
                      <a:r>
                        <a:rPr sz="16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Situação, pensamento, emoção e comportamento</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Análise funcional</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Conceituação cognitiva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2353"/>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976364"/>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3705225"/>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FCT, intervenções antecedentes, reforçamento diferencial, intervenção naturalística, entre outras.</a:t>
            </a:r>
          </a:p>
        </p:txBody>
      </p:sp>
      <p:sp>
        <p:nvSpPr>
          <p:cNvPr id="6" name="TextBox 5"/>
          <p:cNvSpPr txBox="1"/>
          <p:nvPr/>
        </p:nvSpPr>
        <p:spPr>
          <a:xfrm>
            <a:off x="6477000" y="297636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para autismo</a:t>
            </a:r>
          </a:p>
        </p:txBody>
      </p:sp>
      <p:sp>
        <p:nvSpPr>
          <p:cNvPr id="7" name="TextBox 6"/>
          <p:cNvSpPr txBox="1"/>
          <p:nvPr/>
        </p:nvSpPr>
        <p:spPr>
          <a:xfrm>
            <a:off x="6477000" y="3385245"/>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9662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81443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22332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81443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223320"/>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ela tem sobre falar em grupo (“vou falar algo errado”)? Como eles influenciam a ansiedade e a esquiva?</a:t>
            </a:r>
          </a:p>
        </p:txBody>
      </p:sp>
      <p:sp>
        <p:nvSpPr>
          <p:cNvPr id="8" name="TextBox 7"/>
          <p:cNvSpPr txBox="1"/>
          <p:nvPr/>
        </p:nvSpPr>
        <p:spPr>
          <a:xfrm>
            <a:off x="1168400" y="4757241"/>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1042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904430"/>
          <a:ext cx="10007600" cy="215265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associação, não causa</a:t>
                      </a:r>
                    </a:p>
                  </a:txBody>
                  <a:tcPr marL="114300" marR="114300" marT="68580" marB="68580" anchor="ctr">
                    <a:solidFill>
                      <a:srgbClr val="F1F4F6"/>
                    </a:solidFill>
                  </a:tcPr>
                </a:tc>
              </a:tr>
              <a:tr h="7239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989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634853"/>
            <a:ext cx="10307828" cy="3556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escolhidas a partir da hipótese:</a:t>
            </a:r>
          </a:p>
        </p:txBody>
      </p:sp>
      <p:sp>
        <p:nvSpPr>
          <p:cNvPr id="5" name="TextBox 4"/>
          <p:cNvSpPr txBox="1"/>
          <p:nvPr/>
        </p:nvSpPr>
        <p:spPr>
          <a:xfrm>
            <a:off x="1168400" y="3244453"/>
            <a:ext cx="10307828" cy="1524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apoio visual</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duração, dificuldade, interesse</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175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ensinar a pedir o que o comportamento conseguia</a:t>
            </a:r>
          </a:p>
        </p:txBody>
      </p:sp>
      <p:sp>
        <p:nvSpPr>
          <p:cNvPr id="4" name="TextBox 3"/>
          <p:cNvSpPr txBox="1"/>
          <p:nvPr/>
        </p:nvSpPr>
        <p:spPr>
          <a:xfrm>
            <a:off x="1168400" y="2709565"/>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678065"/>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5200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969816"/>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a:t>
            </a:r>
          </a:p>
        </p:txBody>
      </p:sp>
      <p:sp>
        <p:nvSpPr>
          <p:cNvPr id="5" name="TextBox 4"/>
          <p:cNvSpPr txBox="1"/>
          <p:nvPr/>
        </p:nvSpPr>
        <p:spPr>
          <a:xfrm>
            <a:off x="1168400" y="3543796"/>
            <a:ext cx="10307828" cy="13716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a:t>
            </a:r>
          </a:p>
          <a:p>
            <a:pPr algn="l" marL="279400" indent="-279400">
              <a:lnSpc>
                <a:spcPct val="123000"/>
              </a:lnSpc>
              <a:buChar char="•"/>
            </a:pPr>
            <a:r>
              <a:rPr sz="1800" b="0" i="0">
                <a:solidFill>
                  <a:srgbClr val="2E3A4A"/>
                </a:solidFill>
                <a:latin typeface="Montserrat"/>
              </a:rPr>
              <a:t>Consequências naturais</a:t>
            </a:r>
          </a:p>
          <a:p>
            <a:pPr algn="l" marL="279400" indent="-279400">
              <a:lnSpc>
                <a:spcPct val="123000"/>
              </a:lnSpc>
              <a:buChar char="•"/>
            </a:pPr>
            <a:r>
              <a:rPr sz="1800" b="0" i="0">
                <a:solidFill>
                  <a:srgbClr val="2E3A4A"/>
                </a:solidFill>
                <a:latin typeface="Montserrat"/>
              </a:rPr>
              <a:t>Integração entre ciência comportamental e ciência do desenvolvimento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21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4824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Aprender na clínica não garante usar em casa, na escola ou com outras pessoas.</a:t>
            </a:r>
          </a:p>
        </p:txBody>
      </p:sp>
      <p:sp>
        <p:nvSpPr>
          <p:cNvPr id="5" name="TextBox 4"/>
          <p:cNvSpPr txBox="1"/>
          <p:nvPr/>
        </p:nvSpPr>
        <p:spPr>
          <a:xfrm>
            <a:off x="1168400" y="34730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4128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703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882503"/>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inofensivas</a:t>
            </a:r>
          </a:p>
          <a:p>
            <a:pPr algn="l" marL="279400" indent="-279400">
              <a:lnSpc>
                <a:spcPct val="123000"/>
              </a:lnSpc>
              <a:buChar char="•"/>
            </a:pPr>
            <a:r>
              <a:rPr sz="1800" b="0" i="0">
                <a:solidFill>
                  <a:srgbClr val="2E3A4A"/>
                </a:solidFill>
                <a:latin typeface="Montserrat"/>
              </a:rPr>
              <a:t>Revisar por dados, incluindo possíveis efeitos adversos</a:t>
            </a:r>
          </a:p>
          <a:p>
            <a:pPr algn="l" marL="279400" indent="-279400">
              <a:lnSpc>
                <a:spcPct val="123000"/>
              </a:lnSpc>
              <a:buChar char="•"/>
            </a:pPr>
            <a:r>
              <a:rPr sz="1800" b="0" i="0">
                <a:solidFill>
                  <a:srgbClr val="2E3A4A"/>
                </a:solidFill>
                <a:latin typeface="Montserrat"/>
              </a:rPr>
              <a:t>Supervisão e limites de atuação</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063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56768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Todos os grupos</a:t>
            </a:r>
          </a:p>
        </p:txBody>
      </p:sp>
      <p:sp>
        <p:nvSpPr>
          <p:cNvPr id="5" name="TextBox 4"/>
          <p:cNvSpPr txBox="1"/>
          <p:nvPr/>
        </p:nvSpPr>
        <p:spPr>
          <a:xfrm>
            <a:off x="1168400" y="2976562"/>
            <a:ext cx="4839970" cy="33774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Perguntas 1 a 4</a:t>
            </a:r>
          </a:p>
        </p:txBody>
      </p:sp>
      <p:sp>
        <p:nvSpPr>
          <p:cNvPr id="6" name="TextBox 5"/>
          <p:cNvSpPr txBox="1"/>
          <p:nvPr/>
        </p:nvSpPr>
        <p:spPr>
          <a:xfrm>
            <a:off x="6477000" y="256768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Cada grupo, mais uma</a:t>
            </a:r>
          </a:p>
        </p:txBody>
      </p:sp>
      <p:sp>
        <p:nvSpPr>
          <p:cNvPr id="7" name="TextBox 6"/>
          <p:cNvSpPr txBox="1"/>
          <p:nvPr/>
        </p:nvSpPr>
        <p:spPr>
          <a:xfrm>
            <a:off x="6477000" y="297656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Grupos 1, 3, 5…: pergunta 5. Grupos 2, 4, 6…: pergunta 6.</a:t>
            </a:r>
          </a:p>
        </p:txBody>
      </p:sp>
      <p:sp>
        <p:nvSpPr>
          <p:cNvPr id="8" name="TextBox 7"/>
          <p:cNvSpPr txBox="1"/>
          <p:nvPr/>
        </p:nvSpPr>
        <p:spPr>
          <a:xfrm>
            <a:off x="1168400" y="3931444"/>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9" name="TextBox 8"/>
          <p:cNvSpPr txBox="1"/>
          <p:nvPr/>
        </p:nvSpPr>
        <p:spPr>
          <a:xfrm>
            <a:off x="1168400" y="453082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40764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862262"/>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o padrão está na vinheta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748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vídeo</a:t>
            </a:r>
          </a:p>
        </p:txBody>
      </p:sp>
      <p:sp>
        <p:nvSpPr>
          <p:cNvPr id="4" name="TextBox 3"/>
          <p:cNvSpPr txBox="1"/>
          <p:nvPr/>
        </p:nvSpPr>
        <p:spPr>
          <a:xfrm>
            <a:off x="1168400" y="2210792"/>
            <a:ext cx="3156915" cy="304800"/>
          </a:xfrm>
          <a:prstGeom prst="rect">
            <a:avLst/>
          </a:prstGeom>
          <a:noFill/>
        </p:spPr>
        <p:txBody>
          <a:bodyPr wrap="square" lIns="0" rIns="0" tIns="0" bIns="0" anchor="t">
            <a:noAutofit/>
          </a:bodyPr>
          <a:lstStyle/>
          <a:p>
            <a:pPr algn="l">
              <a:lnSpc>
                <a:spcPct val="98000"/>
              </a:lnSpc>
            </a:pPr>
            <a:r>
              <a:rPr sz="2000" b="1" i="0">
                <a:solidFill>
                  <a:srgbClr val="0F7C86"/>
                </a:solidFill>
                <a:latin typeface="Montserrat"/>
              </a:rPr>
              <a:t>Antes</a:t>
            </a:r>
          </a:p>
        </p:txBody>
      </p:sp>
      <p:sp>
        <p:nvSpPr>
          <p:cNvPr id="5" name="TextBox 4"/>
          <p:cNvSpPr txBox="1"/>
          <p:nvPr/>
        </p:nvSpPr>
        <p:spPr>
          <a:xfrm>
            <a:off x="1168400" y="2604492"/>
            <a:ext cx="3156915" cy="120888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A terapeuta guarda os trilhos e aponta a mesa: “Agora acabou. Vamos para a mesa.”</a:t>
            </a:r>
          </a:p>
        </p:txBody>
      </p:sp>
      <p:sp>
        <p:nvSpPr>
          <p:cNvPr id="6" name="TextBox 5"/>
          <p:cNvSpPr txBox="1"/>
          <p:nvPr/>
        </p:nvSpPr>
        <p:spPr>
          <a:xfrm>
            <a:off x="4639766" y="2210792"/>
            <a:ext cx="3156915" cy="304800"/>
          </a:xfrm>
          <a:prstGeom prst="rect">
            <a:avLst/>
          </a:prstGeom>
          <a:noFill/>
        </p:spPr>
        <p:txBody>
          <a:bodyPr wrap="square" lIns="0" rIns="0" tIns="0" bIns="0" anchor="t">
            <a:noAutofit/>
          </a:bodyPr>
          <a:lstStyle/>
          <a:p>
            <a:pPr algn="l">
              <a:lnSpc>
                <a:spcPct val="98000"/>
              </a:lnSpc>
            </a:pPr>
            <a:r>
              <a:rPr sz="2000" b="1" i="0">
                <a:solidFill>
                  <a:srgbClr val="0F7C86"/>
                </a:solidFill>
                <a:latin typeface="Montserrat"/>
              </a:rPr>
              <a:t>O que ele faz</a:t>
            </a:r>
          </a:p>
        </p:txBody>
      </p:sp>
      <p:sp>
        <p:nvSpPr>
          <p:cNvPr id="7" name="TextBox 6"/>
          <p:cNvSpPr txBox="1"/>
          <p:nvPr/>
        </p:nvSpPr>
        <p:spPr>
          <a:xfrm>
            <a:off x="4639766" y="2604492"/>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Grita, se joga no chão e chuta o ar.</a:t>
            </a:r>
          </a:p>
        </p:txBody>
      </p:sp>
      <p:sp>
        <p:nvSpPr>
          <p:cNvPr id="8" name="TextBox 7"/>
          <p:cNvSpPr txBox="1"/>
          <p:nvPr/>
        </p:nvSpPr>
        <p:spPr>
          <a:xfrm>
            <a:off x="8111133" y="2210792"/>
            <a:ext cx="3156915" cy="304800"/>
          </a:xfrm>
          <a:prstGeom prst="rect">
            <a:avLst/>
          </a:prstGeom>
          <a:noFill/>
        </p:spPr>
        <p:txBody>
          <a:bodyPr wrap="square" lIns="0" rIns="0" tIns="0" bIns="0" anchor="t">
            <a:noAutofit/>
          </a:bodyPr>
          <a:lstStyle/>
          <a:p>
            <a:pPr algn="l">
              <a:lnSpc>
                <a:spcPct val="98000"/>
              </a:lnSpc>
            </a:pPr>
            <a:r>
              <a:rPr sz="2000" b="1" i="0">
                <a:solidFill>
                  <a:srgbClr val="0F7C86"/>
                </a:solidFill>
                <a:latin typeface="Montserrat"/>
              </a:rPr>
              <a:t>Depois</a:t>
            </a:r>
          </a:p>
        </p:txBody>
      </p:sp>
      <p:sp>
        <p:nvSpPr>
          <p:cNvPr id="9" name="TextBox 8"/>
          <p:cNvSpPr txBox="1"/>
          <p:nvPr/>
        </p:nvSpPr>
        <p:spPr>
          <a:xfrm>
            <a:off x="8111133" y="2604492"/>
            <a:ext cx="3156915" cy="90666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A terapeuta não sabe o que fazer e devolve os trilhos. Ele volta a brincar.</a:t>
            </a:r>
          </a:p>
        </p:txBody>
      </p:sp>
      <p:sp>
        <p:nvSpPr>
          <p:cNvPr id="10" name="TextBox 9"/>
          <p:cNvSpPr txBox="1"/>
          <p:nvPr/>
        </p:nvSpPr>
        <p:spPr>
          <a:xfrm>
            <a:off x="1168400" y="4067373"/>
            <a:ext cx="10307828" cy="60444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 a terapeuta?</a:t>
            </a:r>
            <a:r>
              <a:rPr sz="1700" b="0" i="0">
                <a:solidFill>
                  <a:srgbClr val="2E3A4A"/>
                </a:solidFill>
                <a:latin typeface="Montserrat"/>
              </a:rPr>
              <a:t> Devolver os trilhos faz o grito parar e alivia quem está com ele. Esse alívio também pode reforçar o comportamento do adulto, e o ciclo continua.</a:t>
            </a:r>
          </a:p>
        </p:txBody>
      </p:sp>
      <p:sp>
        <p:nvSpPr>
          <p:cNvPr id="11" name="TextBox 10"/>
          <p:cNvSpPr txBox="1"/>
          <p:nvPr/>
        </p:nvSpPr>
        <p:spPr>
          <a:xfrm>
            <a:off x="1168400" y="49258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Vocês viram um episódio. Os registros de quatro semanas, na vinheta, mudam essa leitura.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35b</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4116"/>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89269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316857"/>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93293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357092"/>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5047853"/>
            <a:ext cx="10307828" cy="275530"/>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49351"/>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685256"/>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3048397"/>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685256"/>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3048397"/>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685256"/>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3048397"/>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4404519"/>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12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Respostas 4: explicações possíveis</a:t>
            </a:r>
          </a:p>
        </p:txBody>
      </p:sp>
      <p:graphicFrame>
        <p:nvGraphicFramePr>
          <p:cNvPr id="4" name="Table 3"/>
          <p:cNvGraphicFramePr>
            <a:graphicFrameLocks noGrp="1"/>
          </p:cNvGraphicFramePr>
          <p:nvPr/>
        </p:nvGraphicFramePr>
        <p:xfrm>
          <a:off x="1168400" y="1855192"/>
          <a:ext cx="10007600" cy="2819400"/>
        </p:xfrm>
        <a:graphic>
          <a:graphicData uri="http://schemas.openxmlformats.org/drawingml/2006/table">
            <a:tbl>
              <a:tblPr firstRow="0" bandRow="0">
                <a:tableStyleId>{2D5ABB26-0587-4C30-8999-92F81FD0307C}</a:tableStyleId>
              </a:tblPr>
              <a:tblGrid>
                <a:gridCol w="2201664"/>
                <a:gridCol w="4203105"/>
                <a:gridCol w="3602831"/>
              </a:tblGrid>
              <a:tr h="438150">
                <a:tc>
                  <a:txBody>
                    <a:bodyPr wrap="square"/>
                    <a:lstStyle/>
                    <a:p>
                      <a:pPr>
                        <a:lnSpc>
                          <a:spcPct val="100000"/>
                        </a:lnSpc>
                      </a:pPr>
                      <a:r>
                        <a:rPr sz="135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ajuda</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atrapalha</a:t>
                      </a:r>
                    </a:p>
                  </a:txBody>
                  <a:tcPr marL="114300" marR="114300" marT="68580" marB="68580" anchor="ctr">
                    <a:solidFill>
                      <a:srgbClr val="1B2F4B"/>
                    </a:solidFill>
                  </a:tcPr>
                </a:tc>
              </a:tr>
              <a:tr h="647700">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Acontece quando os trilhos são guardados; às vezes eles voltam; em casa, ao desligar a TV</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No lanche os trilhos também foram guardados, e não houve episódio</a:t>
                      </a:r>
                    </a:p>
                  </a:txBody>
                  <a:tcPr marL="114300" marR="114300" marT="68580" marB="68580" anchor="ctr">
                    <a:solidFill>
                      <a:srgbClr val="FFFFFF"/>
                    </a:solidFill>
                  </a:tcPr>
                </a:tc>
              </a:tr>
              <a:tr h="647700">
                <a:tc>
                  <a:txBody>
                    <a:bodyPr wrap="square"/>
                    <a:lstStyle/>
                    <a:p>
                      <a:pPr>
                        <a:lnSpc>
                          <a:spcPct val="100000"/>
                        </a:lnSpc>
                      </a:pPr>
                      <a:r>
                        <a:rPr sz="1350" b="1" i="0">
                          <a:solidFill>
                            <a:srgbClr val="2E3A4A"/>
                          </a:solidFill>
                          <a:latin typeface="Montserrat"/>
                        </a:rPr>
                        <a:t>Foge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Não acontece quando o próximo é o lanche; às vezes a mesa é adiada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Em casa, o antecedente é o banho</a:t>
                      </a:r>
                    </a:p>
                  </a:txBody>
                  <a:tcPr marL="114300" marR="114300" marT="68580" marB="68580" anchor="ctr">
                    <a:solidFill>
                      <a:srgbClr val="F1F4F6"/>
                    </a:solidFill>
                  </a:tcPr>
                </a:tc>
              </a:tr>
              <a:tr h="647700">
                <a:tc>
                  <a:txBody>
                    <a:bodyPr wrap="square"/>
                    <a:lstStyle/>
                    <a:p>
                      <a:pPr>
                        <a:lnSpc>
                          <a:spcPct val="100000"/>
                        </a:lnSpc>
                      </a:pPr>
                      <a:r>
                        <a:rPr sz="1350" b="1" i="0">
                          <a:solidFill>
                            <a:srgbClr val="2E3A4A"/>
                          </a:solidFill>
                          <a:latin typeface="Montserrat"/>
                        </a:rPr>
                        <a:t>As duas juntas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Os dois antecedentes acontecem ao mesmo tempo</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Precisa de avaliação</a:t>
                      </a:r>
                    </a:p>
                  </a:txBody>
                  <a:tcPr marL="114300" marR="114300" marT="68580" marB="68580" anchor="ctr">
                    <a:solidFill>
                      <a:srgbClr val="FFFFFF"/>
                    </a:solidFill>
                  </a:tcPr>
                </a:tc>
              </a:tr>
              <a:tr h="438150">
                <a:tc>
                  <a:txBody>
                    <a:bodyPr wrap="square"/>
                    <a:lstStyle/>
                    <a:p>
                      <a:pPr>
                        <a:lnSpc>
                          <a:spcPct val="100000"/>
                        </a:lnSpc>
                      </a:pPr>
                      <a:r>
                        <a:rPr sz="1350" b="1" i="0">
                          <a:solidFill>
                            <a:srgbClr val="2E3A4A"/>
                          </a:solidFill>
                          <a:latin typeface="Montserrat"/>
                        </a:rPr>
                        <a:t>Quer atenção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Possível atenção durante o episódio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Nenhum dado mostra isso</a:t>
                      </a:r>
                    </a:p>
                  </a:txBody>
                  <a:tcPr marL="114300" marR="114300" marT="68580" marB="68580" anchor="ctr">
                    <a:solidFill>
                      <a:srgbClr val="F1F4F6"/>
                    </a:solidFill>
                  </a:tcPr>
                </a:tc>
              </a:tr>
            </a:tbl>
          </a:graphicData>
        </a:graphic>
      </p:graphicFrame>
      <p:sp>
        <p:nvSpPr>
          <p:cNvPr id="5" name="TextBox 4"/>
          <p:cNvSpPr txBox="1"/>
          <p:nvPr/>
        </p:nvSpPr>
        <p:spPr>
          <a:xfrm>
            <a:off x="1168400" y="4865092"/>
            <a:ext cx="10307828" cy="561181"/>
          </a:xfrm>
          <a:prstGeom prst="rect">
            <a:avLst/>
          </a:prstGeom>
          <a:noFill/>
        </p:spPr>
        <p:txBody>
          <a:bodyPr wrap="square" lIns="0" rIns="0" tIns="0" bIns="0" anchor="t">
            <a:noAutofit/>
          </a:bodyPr>
          <a:lstStyle/>
          <a:p>
            <a:pPr algn="l">
              <a:lnSpc>
                <a:spcPct val="107000"/>
              </a:lnSpc>
            </a:pPr>
            <a:r>
              <a:rPr sz="1700" b="1" i="0">
                <a:solidFill>
                  <a:srgbClr val="0F7C86"/>
                </a:solidFill>
                <a:latin typeface="Montserrat"/>
              </a:rPr>
              <a:t>O lanche é a pista: enfraquece “quer os trilhos” e fortalece “foge da mesa” (ou as duas juntas).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3720"/>
            <a:ext cx="10307828" cy="817761"/>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Respostas 5: o que fazer, e se a explicação estiver errada?</a:t>
            </a:r>
          </a:p>
        </p:txBody>
      </p:sp>
      <p:graphicFrame>
        <p:nvGraphicFramePr>
          <p:cNvPr id="4" name="Table 3"/>
          <p:cNvGraphicFramePr>
            <a:graphicFrameLocks noGrp="1"/>
          </p:cNvGraphicFramePr>
          <p:nvPr/>
        </p:nvGraphicFramePr>
        <p:xfrm>
          <a:off x="1168400" y="2415480"/>
          <a:ext cx="10007600" cy="2324100"/>
        </p:xfrm>
        <a:graphic>
          <a:graphicData uri="http://schemas.openxmlformats.org/drawingml/2006/table">
            <a:tbl>
              <a:tblPr firstRow="0" bandRow="0">
                <a:tableStyleId>{2D5ABB26-0587-4C30-8999-92F81FD0307C}</a:tableStyleId>
              </a:tblPr>
              <a:tblGrid>
                <a:gridCol w="5203924"/>
                <a:gridCol w="4803676"/>
              </a:tblGrid>
              <a:tr h="463550">
                <a:tc>
                  <a:txBody>
                    <a:bodyPr wrap="square"/>
                    <a:lstStyle/>
                    <a:p>
                      <a:pPr>
                        <a:lnSpc>
                          <a:spcPct val="100000"/>
                        </a:lnSpc>
                      </a:pPr>
                      <a:r>
                        <a:rPr sz="1500" b="1" i="0">
                          <a:solidFill>
                            <a:srgbClr val="FFFFFF"/>
                          </a:solidFill>
                          <a:latin typeface="Montserrat"/>
                        </a:rPr>
                        <a:t>Se a explicação for…, podemos…</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Se a explicação estiver errada…</a:t>
                      </a:r>
                    </a:p>
                  </a:txBody>
                  <a:tcPr marL="114300" marR="114300" marT="68580" marB="68580" anchor="ctr">
                    <a:solidFill>
                      <a:srgbClr val="1B2F4B"/>
                    </a:solidFill>
                  </a:tcPr>
                </a:tc>
              </a:tr>
              <a:tr h="698500">
                <a:tc>
                  <a:txBody>
                    <a:bodyPr wrap="square"/>
                    <a:lstStyle/>
                    <a:p>
                      <a:pPr>
                        <a:lnSpc>
                          <a:spcPct val="100000"/>
                        </a:lnSpc>
                      </a:pPr>
                      <a:r>
                        <a:rPr sz="1500" b="1" i="0">
                          <a:solidFill>
                            <a:srgbClr val="2E3A4A"/>
                          </a:solidFill>
                          <a:latin typeface="Montserrat"/>
                        </a:rPr>
                        <a:t>Quer os trilhos:</a:t>
                      </a:r>
                      <a:r>
                        <a:rPr sz="1500" b="0" i="0">
                          <a:solidFill>
                            <a:srgbClr val="2E3A4A"/>
                          </a:solidFill>
                          <a:latin typeface="Montserrat"/>
                        </a:rPr>
                        <a:t> “primeiro mesa, depois trem”; ensinar a pedir “mais trem” e a esperar</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Se na verdade ele foge da mesa: pouco efeito, a mesa continua difícil</a:t>
                      </a:r>
                    </a:p>
                  </a:txBody>
                  <a:tcPr marL="114300" marR="114300" marT="68580" marB="68580" anchor="ctr">
                    <a:solidFill>
                      <a:srgbClr val="FFFFFF"/>
                    </a:solidFill>
                  </a:tcPr>
                </a:tc>
              </a:tr>
              <a:tr h="698500">
                <a:tc>
                  <a:txBody>
                    <a:bodyPr wrap="square"/>
                    <a:lstStyle/>
                    <a:p>
                      <a:pPr>
                        <a:lnSpc>
                          <a:spcPct val="100000"/>
                        </a:lnSpc>
                      </a:pPr>
                      <a:r>
                        <a:rPr sz="1500" b="1" i="0">
                          <a:solidFill>
                            <a:srgbClr val="2E3A4A"/>
                          </a:solidFill>
                          <a:latin typeface="Montserrat"/>
                        </a:rPr>
                        <a:t>Foge da mesa:</a:t>
                      </a:r>
                      <a:r>
                        <a:rPr sz="1500" b="0" i="0">
                          <a:solidFill>
                            <a:srgbClr val="2E3A4A"/>
                          </a:solidFill>
                          <a:latin typeface="Montserrat"/>
                        </a:rPr>
                        <a:t> tarefa mais curta, com tema de trens; ensinar a pedir “pausa”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Se na verdade ele quer os trilhos: o comportamento na hora de guardar continua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Adiar a mesa quando ele grita, “para acalmar”</a:t>
                      </a:r>
                    </a:p>
                  </a:txBody>
                  <a:tcPr marL="114300" marR="114300" marT="68580" marB="68580" anchor="ctr">
                    <a:solidFill>
                      <a:srgbClr val="FFFFFF"/>
                    </a:solidFill>
                  </a:tcPr>
                </a:tc>
                <a:tc>
                  <a:txBody>
                    <a:bodyPr wrap="square"/>
                    <a:lstStyle/>
                    <a:p>
                      <a:pPr>
                        <a:lnSpc>
                          <a:spcPct val="100000"/>
                        </a:lnSpc>
                      </a:pPr>
                      <a:r>
                        <a:rPr sz="1500" b="1" i="0">
                          <a:solidFill>
                            <a:srgbClr val="2E3A4A"/>
                          </a:solidFill>
                          <a:latin typeface="Montserrat"/>
                        </a:rPr>
                        <a:t>Piora:</a:t>
                      </a:r>
                      <a:r>
                        <a:rPr sz="1500" b="0" i="0">
                          <a:solidFill>
                            <a:srgbClr val="2E3A4A"/>
                          </a:solidFill>
                          <a:latin typeface="Montserrat"/>
                        </a:rPr>
                        <a:t> ele aprende que gritar funciona</a:t>
                      </a:r>
                    </a:p>
                  </a:txBody>
                  <a:tcPr marL="114300" marR="114300" marT="68580" marB="68580" anchor="ctr">
                    <a:solidFill>
                      <a:srgbClr val="FFFFFF"/>
                    </a:solidFill>
                  </a:tcPr>
                </a:tc>
              </a:tr>
            </a:tbl>
          </a:graphicData>
        </a:graphic>
      </p:graphicFrame>
      <p:sp>
        <p:nvSpPr>
          <p:cNvPr id="5" name="TextBox 4"/>
          <p:cNvSpPr txBox="1"/>
          <p:nvPr/>
        </p:nvSpPr>
        <p:spPr>
          <a:xfrm>
            <a:off x="1168400" y="4993580"/>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Errar a explicação pode ensinar o contrário do que queremos.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a função for fugir da mesa, o comportamento continua</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946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do comportamento à decisão</a:t>
            </a:r>
          </a:p>
        </p:txBody>
      </p:sp>
      <p:sp>
        <p:nvSpPr>
          <p:cNvPr id="4" name="TextBox 3"/>
          <p:cNvSpPr txBox="1"/>
          <p:nvPr/>
        </p:nvSpPr>
        <p:spPr>
          <a:xfrm>
            <a:off x="1168400" y="2906712"/>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3897312"/>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71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628503"/>
            <a:ext cx="10307828" cy="21717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descreve; função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0522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2117328"/>
          <a:ext cx="10007600" cy="32448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pic>
        <p:nvPicPr>
          <p:cNvPr id="2" name="Picture 1" descr="foto_circulo_pptx.png"/>
          <p:cNvPicPr>
            <a:picLocks noChangeAspect="1"/>
          </p:cNvPicPr>
          <p:nvPr/>
        </p:nvPicPr>
        <p:blipFill>
          <a:blip r:embed="rId2"/>
          <a:stretch>
            <a:fillRect/>
          </a:stretch>
        </p:blipFill>
        <p:spPr>
          <a:xfrm>
            <a:off x="5270500" y="1401762"/>
            <a:ext cx="1651000" cy="1651000"/>
          </a:xfrm>
          <a:prstGeom prst="rect">
            <a:avLst/>
          </a:prstGeom>
        </p:spPr>
      </p:pic>
      <p:sp>
        <p:nvSpPr>
          <p:cNvPr id="3" name="TextBox 2"/>
          <p:cNvSpPr txBox="1"/>
          <p:nvPr/>
        </p:nvSpPr>
        <p:spPr>
          <a:xfrm>
            <a:off x="5217517" y="32813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4" name="TextBox 3"/>
          <p:cNvSpPr txBox="1"/>
          <p:nvPr/>
        </p:nvSpPr>
        <p:spPr>
          <a:xfrm>
            <a:off x="3589933" y="38655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5" name="TextBox 4"/>
          <p:cNvSpPr txBox="1"/>
          <p:nvPr/>
        </p:nvSpPr>
        <p:spPr>
          <a:xfrm>
            <a:off x="3269655" y="5189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Lara, uma aula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Reserva: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 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Sempre sozinha na biblioteca?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R1b</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Reserva: um dado novo sobre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“Foge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R2b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