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24.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Se perguntarem "só duas áreas?": sim. No DSM-IV havia a tríade (interação social, comunicação, comportamentos repetitivos); o DSM-5 juntou interação social e comunicação em um domínio, e o atraso de linguagem passou a ser especificador. Os outros critérios (C, D e E) são: sinais no início do desenvolvimento, prejuízo significativo e não ser melhor explicado por deficiência intelectual.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Usamos "níveis de suporte" porque descrevem o suporte necessário, não "grau de autismo" nem valor da pessoa; o nome oficial no DSM-5-TR é "níveis de gravidade" (citado no slide para não parecer erro).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Se perguntarem pela função "sensorial": é o item 4. Na literatura atual se prefere "reforçamento automático", porque nem sempre é estimulação sensorial: pode ser alívio de dor ou desconforto (reforçamento automático negativo). O que define é que a consequência não depende de outra pessoa.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21 logo em seguida. Tempo: 0,5 min (10h13).</a:t>
            </a:r>
          </a:p>
          <a:p/>
          <a:p>
            <a:r>
              <a:t>RESPOSTAS: ver slide 22.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43).</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39, 40 e 41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Grupos que terminarem antes podem aprofundar a pergunta 4. Depois das respostas vêm um dado novo sobre o Theo e, se houver tempo, o caso extra da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Logo depois deste slide vêm os slides de respostas, na ordem das perguntas: mostrar cada um conforme 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 Ler linha por linha: explicação, o que a favor, o que contra. Destacar que o lanche é o dado que mais ajuda a decidir.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 Pedir que um grupo que escolheu "trilhos" e um que escolheu "mesa" digam o que fariam; usar a terceira coluna para mostrar o risco de errar.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'escapar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só se houver tempo; caso contrário, pular para "Cinco mensagens para levar". Lara tem 14 anos: mostra que o raciocínio vale também para adolescentes e para a escola.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extra: usar só se houver tempo (não entra nos 120 minutos) ou indicar como estudo depois do workshop. Mesma sequência do Theo: vídeo, história, perguntas, respostas. A comparação ABA × TCC com este caso já foi feita no slide 28.</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306215"/>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1731665"/>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2798465"/>
            <a:ext cx="10464800" cy="247650"/>
          </a:xfrm>
          <a:prstGeom prst="rect">
            <a:avLst/>
          </a:prstGeom>
          <a:noFill/>
        </p:spPr>
        <p:txBody>
          <a:bodyPr wrap="square" lIns="0" rIns="0" tIns="0" bIns="0" anchor="t">
            <a:noAutofit/>
          </a:bodyPr>
          <a:lstStyle/>
          <a:p>
            <a:pPr algn="l">
              <a:lnSpc>
                <a:spcPct val="107000"/>
              </a:lnSpc>
            </a:pPr>
            <a:r>
              <a:rPr sz="1500" b="0" i="0">
                <a:solidFill>
                  <a:srgbClr val="9FD3D8"/>
                </a:solidFill>
                <a:latin typeface="Montserrat"/>
              </a:rPr>
              <a:t>ABA (Análise do Comportamento Aplicada) e TEA (Transtorno do Espectro Autista)</a:t>
            </a:r>
          </a:p>
        </p:txBody>
      </p:sp>
      <p:sp>
        <p:nvSpPr>
          <p:cNvPr id="6" name="TextBox 5"/>
          <p:cNvSpPr txBox="1"/>
          <p:nvPr/>
        </p:nvSpPr>
        <p:spPr>
          <a:xfrm>
            <a:off x="1016000" y="3223915"/>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3828355"/>
            <a:ext cx="10464800" cy="231080"/>
          </a:xfrm>
          <a:prstGeom prst="rect">
            <a:avLst/>
          </a:prstGeom>
          <a:noFill/>
        </p:spPr>
        <p:txBody>
          <a:bodyPr wrap="square" lIns="0" rIns="0" tIns="0" bIns="0" anchor="t">
            <a:noAutofit/>
          </a:bodyPr>
          <a:lstStyle/>
          <a:p>
            <a:pPr algn="l">
              <a:lnSpc>
                <a:spcPct val="107000"/>
              </a:lnSpc>
            </a:pPr>
            <a:r>
              <a:rPr sz="1400" b="0" i="0">
                <a:solidFill>
                  <a:srgbClr val="C9D3DE"/>
                </a:solidFill>
                <a:latin typeface="Montserrat"/>
              </a:rPr>
              <a:t>(análise funcional: identificar o que mantém um comportamento)</a:t>
            </a:r>
          </a:p>
        </p:txBody>
      </p:sp>
      <p:sp>
        <p:nvSpPr>
          <p:cNvPr id="8" name="TextBox 7"/>
          <p:cNvSpPr txBox="1"/>
          <p:nvPr/>
        </p:nvSpPr>
        <p:spPr>
          <a:xfrm>
            <a:off x="1016000" y="4796036"/>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9" name="TextBox 8"/>
          <p:cNvSpPr txBox="1"/>
          <p:nvPr/>
        </p:nvSpPr>
        <p:spPr>
          <a:xfrm>
            <a:off x="1016000" y="5304036"/>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9791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53382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250083"/>
            <a:ext cx="6592824" cy="36195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 (funcionamentos do cérebro diferentes do típico, como autismo e TDAH)</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6709"/>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182614"/>
            <a:ext cx="10307828" cy="3038078"/>
          </a:xfrm>
          <a:prstGeom prst="rect">
            <a:avLst/>
          </a:prstGeom>
          <a:noFill/>
        </p:spPr>
        <p:txBody>
          <a:bodyPr wrap="square" lIns="0" rIns="0" tIns="0" bIns="0" anchor="t">
            <a:noAutofit/>
          </a:bodyPr>
          <a:lstStyle/>
          <a:p>
            <a:pPr algn="l" marL="279400" indent="-279400">
              <a:lnSpc>
                <a:spcPct val="119000"/>
              </a:lnSpc>
              <a:buAutoNum type="arabicPeriod" startAt="1"/>
            </a:pPr>
            <a:r>
              <a:rPr sz="1650" b="0" i="0">
                <a:solidFill>
                  <a:srgbClr val="2E3A4A"/>
                </a:solidFill>
                <a:latin typeface="Montserrat"/>
              </a:rPr>
              <a:t>Explicar por que o TEA é heterogêneo (aparece de formas muito diferentes)</a:t>
            </a:r>
          </a:p>
          <a:p>
            <a:pPr algn="l" marL="279400" indent="-279400">
              <a:lnSpc>
                <a:spcPct val="119000"/>
              </a:lnSpc>
              <a:buAutoNum type="arabicPeriod" startAt="1"/>
            </a:pPr>
            <a:r>
              <a:rPr sz="1650" b="1" i="0">
                <a:solidFill>
                  <a:srgbClr val="2E3A4A"/>
                </a:solidFill>
                <a:latin typeface="Montserrat"/>
              </a:rPr>
              <a:t>Diferenciar topografia (a forma do comportamento) e função (para que ele serve)</a:t>
            </a:r>
          </a:p>
          <a:p>
            <a:pPr algn="l" marL="279400" indent="-279400">
              <a:lnSpc>
                <a:spcPct val="119000"/>
              </a:lnSpc>
              <a:buAutoNum type="arabicPeriod" startAt="1"/>
            </a:pPr>
            <a:r>
              <a:rPr sz="1650" b="1" i="0">
                <a:solidFill>
                  <a:srgbClr val="2E3A4A"/>
                </a:solidFill>
                <a:latin typeface="Montserrat"/>
              </a:rPr>
              <a:t>Identificar antecedentes (o que vem antes), consequências (o que vem depois) e contexto</a:t>
            </a:r>
          </a:p>
          <a:p>
            <a:pPr algn="l" marL="279400" indent="-279400">
              <a:lnSpc>
                <a:spcPct val="119000"/>
              </a:lnSpc>
              <a:buAutoNum type="arabicPeriod" startAt="1"/>
            </a:pPr>
            <a:r>
              <a:rPr sz="1650" b="1" i="0">
                <a:solidFill>
                  <a:srgbClr val="2E3A4A"/>
                </a:solidFill>
                <a:latin typeface="Montserrat"/>
              </a:rPr>
              <a:t>Justificar por que avaliar vem antes de intervir</a:t>
            </a:r>
          </a:p>
          <a:p>
            <a:pPr algn="l" marL="279400" indent="-279400">
              <a:lnSpc>
                <a:spcPct val="119000"/>
              </a:lnSpc>
              <a:buAutoNum type="arabicPeriod" startAt="1"/>
            </a:pPr>
            <a:r>
              <a:rPr sz="1650" b="0" i="0">
                <a:solidFill>
                  <a:srgbClr val="2E3A4A"/>
                </a:solidFill>
                <a:latin typeface="Montserrat"/>
              </a:rPr>
              <a:t>Reconhecer estratégias baseadas em evidências (com eficácia mostrada em pesquisas) e ligá-las à função</a:t>
            </a:r>
          </a:p>
          <a:p>
            <a:pPr algn="l" marL="279400" indent="-279400">
              <a:lnSpc>
                <a:spcPct val="119000"/>
              </a:lnSpc>
              <a:buAutoNum type="arabicPeriod" startAt="1"/>
            </a:pPr>
            <a:r>
              <a:rPr sz="1650" b="0" i="0">
                <a:solidFill>
                  <a:srgbClr val="2E3A4A"/>
                </a:solidFill>
                <a:latin typeface="Montserrat"/>
              </a:rPr>
              <a:t>Analisar uma vinheta (caso fictício curto) e justificar decisões</a:t>
            </a:r>
          </a:p>
          <a:p>
            <a:pPr algn="l" marL="279400" indent="-279400">
              <a:lnSpc>
                <a:spcPct val="119000"/>
              </a:lnSpc>
              <a:buAutoNum type="arabicPeriod" startAt="1"/>
            </a:pPr>
            <a:r>
              <a:rPr sz="1650" b="0" i="0">
                <a:solidFill>
                  <a:srgbClr val="2E3A4A"/>
                </a:solidFill>
                <a:latin typeface="Montserrat"/>
              </a:rPr>
              <a:t>Reconhecer limites de atuação (o que cada profissional pode fazer) e a importância da supervisão (acompanhamento por profissional mais experiente)</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268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338983"/>
            <a:ext cx="10307828" cy="284460"/>
          </a:xfrm>
          <a:prstGeom prst="rect">
            <a:avLst/>
          </a:prstGeom>
          <a:noFill/>
        </p:spPr>
        <p:txBody>
          <a:bodyPr wrap="square" lIns="0" rIns="0" tIns="0" bIns="0" anchor="t">
            <a:noAutofit/>
          </a:bodyPr>
          <a:lstStyle/>
          <a:p>
            <a:pPr algn="l">
              <a:lnSpc>
                <a:spcPct val="115000"/>
              </a:lnSpc>
            </a:pPr>
            <a:r>
              <a:rPr sz="1600" b="0" i="1">
                <a:solidFill>
                  <a:srgbClr val="66717F"/>
                </a:solidFill>
                <a:latin typeface="Montserrat"/>
              </a:rPr>
              <a:t>(aplicadores: profissionais que executam a intervenção no dia a dia)</a:t>
            </a:r>
          </a:p>
        </p:txBody>
      </p:sp>
      <p:sp>
        <p:nvSpPr>
          <p:cNvPr id="5" name="TextBox 4"/>
          <p:cNvSpPr txBox="1"/>
          <p:nvPr/>
        </p:nvSpPr>
        <p:spPr>
          <a:xfrm>
            <a:off x="11684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6" name="TextBox 5"/>
          <p:cNvSpPr txBox="1"/>
          <p:nvPr/>
        </p:nvSpPr>
        <p:spPr>
          <a:xfrm>
            <a:off x="1168400" y="336252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7" name="TextBox 6"/>
          <p:cNvSpPr txBox="1"/>
          <p:nvPr/>
        </p:nvSpPr>
        <p:spPr>
          <a:xfrm>
            <a:off x="64770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8" name="TextBox 7"/>
          <p:cNvSpPr txBox="1"/>
          <p:nvPr/>
        </p:nvSpPr>
        <p:spPr>
          <a:xfrm>
            <a:off x="6477000" y="336252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 (áreas)</a:t>
            </a:r>
          </a:p>
        </p:txBody>
      </p:sp>
      <p:sp>
        <p:nvSpPr>
          <p:cNvPr id="4" name="TextBox 3"/>
          <p:cNvSpPr txBox="1"/>
          <p:nvPr/>
        </p:nvSpPr>
        <p:spPr>
          <a:xfrm>
            <a:off x="11684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2604294"/>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2604294"/>
            <a:ext cx="4839970" cy="135096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 (reações a sons, luzes, texturas).</a:t>
            </a:r>
          </a:p>
        </p:txBody>
      </p:sp>
      <p:sp>
        <p:nvSpPr>
          <p:cNvPr id="8" name="TextBox 7"/>
          <p:cNvSpPr txBox="1"/>
          <p:nvPr/>
        </p:nvSpPr>
        <p:spPr>
          <a:xfrm>
            <a:off x="1168400" y="4209256"/>
            <a:ext cx="10307828"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 (DSM-5-TR: manual de diagnóstico da Associação Americana de Psiquiatria).</a:t>
            </a:r>
          </a:p>
        </p:txBody>
      </p:sp>
      <p:sp>
        <p:nvSpPr>
          <p:cNvPr id="9" name="TextBox 8"/>
          <p:cNvSpPr txBox="1"/>
          <p:nvPr/>
        </p:nvSpPr>
        <p:spPr>
          <a:xfrm>
            <a:off x="1168400" y="5423198"/>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No DSM-IV eram três áreas. Desde o DSM-5, comunicação e interação social formam um único domínio.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0111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suporte</a:t>
            </a:r>
          </a:p>
        </p:txBody>
      </p:sp>
      <p:sp>
        <p:nvSpPr>
          <p:cNvPr id="4" name="TextBox 3"/>
          <p:cNvSpPr txBox="1"/>
          <p:nvPr/>
        </p:nvSpPr>
        <p:spPr>
          <a:xfrm>
            <a:off x="1168400" y="1737023"/>
            <a:ext cx="10307828" cy="90666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informações que se somam ao diagnóstico: com ou sem deficiência intelectual, com ou sem comprometimento de linguagem, condições associadas (ex.: epilepsia).</a:t>
            </a:r>
          </a:p>
        </p:txBody>
      </p:sp>
      <p:graphicFrame>
        <p:nvGraphicFramePr>
          <p:cNvPr id="5" name="Table 4"/>
          <p:cNvGraphicFramePr>
            <a:graphicFrameLocks noGrp="1"/>
          </p:cNvGraphicFramePr>
          <p:nvPr/>
        </p:nvGraphicFramePr>
        <p:xfrm>
          <a:off x="1168400" y="2897684"/>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Suporte necessário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suporte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3288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o suporte necessário, não um “grau de autismo”. No texto do DSM-5-TR, o nome oficial é “níveis de gravidade”.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(outros diagnósticos ao mesmo tempo, como TDAH ou ansiedade),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1653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474145"/>
            <a:ext cx="4839970"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o valor do meio, de 100 por 10.000 em estudos de vários países)</a:t>
            </a:r>
          </a:p>
        </p:txBody>
      </p:sp>
      <p:sp>
        <p:nvSpPr>
          <p:cNvPr id="6" name="TextBox 5"/>
          <p:cNvSpPr txBox="1"/>
          <p:nvPr/>
        </p:nvSpPr>
        <p:spPr>
          <a:xfrm>
            <a:off x="64770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47414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100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Prevalência é quantas pessoas têm o diagnóstico. 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4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02825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Neurodiversidade (variação natural no funcionamento do cérebro): 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 (interesses intensos e específicos)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612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31038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631432"/>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(movimentos ou falas repetitivos) sem risco) não são alvo por si só.</a:t>
            </a:r>
          </a:p>
        </p:txBody>
      </p:sp>
      <p:sp>
        <p:nvSpPr>
          <p:cNvPr id="6" name="TextBox 5"/>
          <p:cNvSpPr txBox="1"/>
          <p:nvPr/>
        </p:nvSpPr>
        <p:spPr>
          <a:xfrm>
            <a:off x="1168400" y="57882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Condições do momento: sono, dor, fome, rotina, ambiente sensorial (sons, luzes, cheiros).</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32284"/>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44390"/>
            <a:ext cx="10307828" cy="2319734"/>
          </a:xfrm>
          <a:prstGeom prst="rect">
            <a:avLst/>
          </a:prstGeom>
          <a:noFill/>
        </p:spPr>
        <p:txBody>
          <a:bodyPr wrap="square" lIns="0" rIns="0" tIns="0" bIns="0" anchor="t">
            <a:noAutofit/>
          </a:bodyPr>
          <a:lstStyle/>
          <a:p>
            <a:pPr algn="l" marL="279400" indent="-279400">
              <a:lnSpc>
                <a:spcPct val="119000"/>
              </a:lnSpc>
              <a:buAutoNum type="arabicPeriod" startAt="1"/>
            </a:pPr>
            <a:r>
              <a:rPr sz="1800" b="0" i="0">
                <a:solidFill>
                  <a:srgbClr val="2E3A4A"/>
                </a:solidFill>
                <a:latin typeface="Montserrat"/>
              </a:rPr>
              <a:t>Acesso a atenção (conseguir atenção de alguém)</a:t>
            </a:r>
          </a:p>
          <a:p>
            <a:pPr algn="l" marL="279400" indent="-279400">
              <a:lnSpc>
                <a:spcPct val="119000"/>
              </a:lnSpc>
              <a:buAutoNum type="arabicPeriod" startAt="1"/>
            </a:pPr>
            <a:r>
              <a:rPr sz="1800" b="0" i="0">
                <a:solidFill>
                  <a:srgbClr val="2E3A4A"/>
                </a:solidFill>
                <a:latin typeface="Montserrat"/>
              </a:rPr>
              <a:t>Acesso a itens ou atividades (conseguir um objeto ou atividade)</a:t>
            </a:r>
          </a:p>
          <a:p>
            <a:pPr algn="l" marL="279400" indent="-279400">
              <a:lnSpc>
                <a:spcPct val="119000"/>
              </a:lnSpc>
              <a:buAutoNum type="arabicPeriod" startAt="1"/>
            </a:pPr>
            <a:r>
              <a:rPr sz="1800" b="0" i="0">
                <a:solidFill>
                  <a:srgbClr val="2E3A4A"/>
                </a:solidFill>
                <a:latin typeface="Montserrat"/>
              </a:rPr>
              <a:t>Fuga (sair de algo) ou esquiva (evitar que comece) de demandas (pedidos e tarefas) ou estímulos (sons, luzes, situações)</a:t>
            </a:r>
          </a:p>
          <a:p>
            <a:pPr algn="l" marL="279400" indent="-279400">
              <a:lnSpc>
                <a:spcPct val="119000"/>
              </a:lnSpc>
              <a:buAutoNum type="arabicPeriod" startAt="1"/>
            </a:pPr>
            <a:r>
              <a:rPr sz="1800" b="0" i="0">
                <a:solidFill>
                  <a:srgbClr val="2E3A4A"/>
                </a:solidFill>
                <a:latin typeface="Montserrat"/>
              </a:rPr>
              <a:t>Reforçamento automático (a função que muitos chamam de “sensorial”): o próprio comportamento produz a consequência, como uma sensação agradável ou o alívio de um desconforto</a:t>
            </a:r>
          </a:p>
        </p:txBody>
      </p:sp>
      <p:sp>
        <p:nvSpPr>
          <p:cNvPr id="5" name="TextBox 4"/>
          <p:cNvSpPr txBox="1"/>
          <p:nvPr/>
        </p:nvSpPr>
        <p:spPr>
          <a:xfrm>
            <a:off x="1168400" y="4594324"/>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Um comportamento pode ter mais de uma função.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77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259012"/>
          <a:ext cx="10007600" cy="23114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7874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r>
                        <a:rPr sz="1800" b="0" i="0">
                          <a:solidFill>
                            <a:srgbClr val="2E3A4A"/>
                          </a:solidFill>
                          <a:latin typeface="Montserrat"/>
                        </a:rPr>
                        <a:t> (conseguir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r>
                        <a:rPr sz="1800" b="0" i="0">
                          <a:solidFill>
                            <a:srgbClr val="2E3A4A"/>
                          </a:solidFill>
                          <a:latin typeface="Montserrat"/>
                        </a:rPr>
                        <a:t>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r>
                        <a:rPr sz="1800" b="0" i="0">
                          <a:solidFill>
                            <a:srgbClr val="2E3A4A"/>
                          </a:solidFill>
                          <a:latin typeface="Montserrat"/>
                        </a:rPr>
                        <a:t> (conseguir o tablet)</a:t>
                      </a:r>
                    </a:p>
                  </a:txBody>
                  <a:tcPr marL="114300" marR="114300" marT="68580" marB="68580" anchor="ctr">
                    <a:solidFill>
                      <a:srgbClr val="FFFFFF"/>
                    </a:solidFill>
                  </a:tcPr>
                </a:tc>
              </a:tr>
            </a:tbl>
          </a:graphicData>
        </a:graphic>
      </p:graphicFrame>
      <p:sp>
        <p:nvSpPr>
          <p:cNvPr id="5" name="TextBox 4"/>
          <p:cNvSpPr txBox="1"/>
          <p:nvPr/>
        </p:nvSpPr>
        <p:spPr>
          <a:xfrm>
            <a:off x="1168400" y="4849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67581"/>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(Terapia Cognitivo-Comportamental) se apoiam em dados</a:t>
            </a:r>
          </a:p>
        </p:txBody>
      </p:sp>
      <p:sp>
        <p:nvSpPr>
          <p:cNvPr id="4" name="TextBox 3"/>
          <p:cNvSpPr txBox="1"/>
          <p:nvPr/>
        </p:nvSpPr>
        <p:spPr>
          <a:xfrm>
            <a:off x="1168400" y="226159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Compromissos empíricos (baseados em dados e observação) em comum:</a:t>
            </a:r>
          </a:p>
        </p:txBody>
      </p:sp>
      <p:sp>
        <p:nvSpPr>
          <p:cNvPr id="5" name="TextBox 4"/>
          <p:cNvSpPr txBox="1"/>
          <p:nvPr/>
        </p:nvSpPr>
        <p:spPr>
          <a:xfrm>
            <a:off x="1168400" y="2911773"/>
            <a:ext cx="10307828" cy="2191246"/>
          </a:xfrm>
          <a:prstGeom prst="rect">
            <a:avLst/>
          </a:prstGeom>
          <a:noFill/>
        </p:spPr>
        <p:txBody>
          <a:bodyPr wrap="square" lIns="0" rIns="0" tIns="0" bIns="0" anchor="t">
            <a:noAutofit/>
          </a:bodyPr>
          <a:lstStyle/>
          <a:p>
            <a:pPr algn="l" marL="279400" indent="-279400">
              <a:lnSpc>
                <a:spcPct val="119000"/>
              </a:lnSpc>
              <a:buChar char="•"/>
            </a:pPr>
            <a:r>
              <a:rPr sz="1700" b="0" i="0">
                <a:solidFill>
                  <a:srgbClr val="2E3A4A"/>
                </a:solidFill>
                <a:latin typeface="Montserrat"/>
              </a:rPr>
              <a:t>Avaliação de resultados com dados</a:t>
            </a:r>
          </a:p>
          <a:p>
            <a:pPr algn="l" marL="279400" indent="-279400">
              <a:lnSpc>
                <a:spcPct val="119000"/>
              </a:lnSpc>
              <a:buChar char="•"/>
            </a:pPr>
            <a:r>
              <a:rPr sz="1700" b="0" i="0">
                <a:solidFill>
                  <a:srgbClr val="2E3A4A"/>
                </a:solidFill>
                <a:latin typeface="Montserrat"/>
              </a:rPr>
              <a:t>Alvos definidos de forma operacional (descritos de modo observável e mensurável)</a:t>
            </a:r>
          </a:p>
          <a:p>
            <a:pPr algn="l" marL="279400" indent="-279400">
              <a:lnSpc>
                <a:spcPct val="119000"/>
              </a:lnSpc>
              <a:buChar char="•"/>
            </a:pPr>
            <a:r>
              <a:rPr sz="1700" b="0" i="0">
                <a:solidFill>
                  <a:srgbClr val="2E3A4A"/>
                </a:solidFill>
                <a:latin typeface="Montserrat"/>
              </a:rPr>
              <a:t>Formulação individualizada do caso (explicação do caso feita para aquela pessoa)</a:t>
            </a:r>
          </a:p>
          <a:p>
            <a:pPr algn="l" marL="279400" indent="-279400">
              <a:lnSpc>
                <a:spcPct val="119000"/>
              </a:lnSpc>
              <a:buChar char="•"/>
            </a:pPr>
            <a:r>
              <a:rPr sz="17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 (ensino passo a passo, com prática)</a:t>
            </a:r>
          </a:p>
        </p:txBody>
      </p:sp>
      <p:sp>
        <p:nvSpPr>
          <p:cNvPr id="6" name="TextBox 5"/>
          <p:cNvSpPr txBox="1"/>
          <p:nvPr/>
        </p:nvSpPr>
        <p:spPr>
          <a:xfrm>
            <a:off x="1168400" y="543321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 (as abordagens não são iguais).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357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(ideias de base) diferentes</a:t>
            </a:r>
          </a:p>
        </p:txBody>
      </p:sp>
      <p:graphicFrame>
        <p:nvGraphicFramePr>
          <p:cNvPr id="4" name="Table 3"/>
          <p:cNvGraphicFramePr>
            <a:graphicFrameLocks noGrp="1"/>
          </p:cNvGraphicFramePr>
          <p:nvPr/>
        </p:nvGraphicFramePr>
        <p:xfrm>
          <a:off x="1168400" y="2329755"/>
          <a:ext cx="10007600" cy="3302000"/>
        </p:xfrm>
        <a:graphic>
          <a:graphicData uri="http://schemas.openxmlformats.org/drawingml/2006/table">
            <a:tbl>
              <a:tblPr firstRow="0" bandRow="0">
                <a:tableStyleId>{2D5ABB26-0587-4C30-8999-92F81FD0307C}</a:tableStyleId>
              </a:tblPr>
              <a:tblGrid>
                <a:gridCol w="2802037"/>
                <a:gridCol w="3602732"/>
                <a:gridCol w="3602831"/>
              </a:tblGrid>
              <a:tr h="44450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TCC (modelo de Beck)</a:t>
                      </a:r>
                    </a:p>
                  </a:txBody>
                  <a:tcPr marL="114300" marR="114300" marT="68580" marB="68580" anchor="ctr">
                    <a:solidFill>
                      <a:srgbClr val="1B2F4B"/>
                    </a:solidFill>
                  </a:tcPr>
                </a:tc>
              </a:tr>
              <a:tr h="876300">
                <a:tc>
                  <a:txBody>
                    <a:bodyPr wrap="square"/>
                    <a:lstStyle/>
                    <a:p>
                      <a:pPr>
                        <a:lnSpc>
                          <a:spcPct val="100000"/>
                        </a:lnSpc>
                      </a:pPr>
                      <a:r>
                        <a:rPr sz="14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Modelo cognitivo (pensamentos influenciam emoções e comportamentos)</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Comportamentos a explicar (também dependem do ambiente)</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Mediadores (ligam a situação à reação) e alvo central</a:t>
                      </a:r>
                    </a:p>
                  </a:txBody>
                  <a:tcPr marL="114300" marR="114300" marT="68580" marB="68580" anchor="ctr">
                    <a:solidFill>
                      <a:srgbClr val="F1F4F6"/>
                    </a:solidFill>
                  </a:tcPr>
                </a:tc>
              </a:tr>
              <a:tr h="660400">
                <a:tc>
                  <a:txBody>
                    <a:bodyPr wrap="square"/>
                    <a:lstStyle/>
                    <a:p>
                      <a:pPr>
                        <a:lnSpc>
                          <a:spcPct val="100000"/>
                        </a:lnSpc>
                      </a:pPr>
                      <a:r>
                        <a:rPr sz="14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Situação, pensamento, emoção e comportamento</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Conceituação cognitiva (mapa das crenças e pensamentos da pessoa)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823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2905224"/>
            <a:ext cx="4839970" cy="2879824"/>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(pesquisas suficientes mostrando eficácia):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(ajustada) para autismo</a:t>
            </a:r>
          </a:p>
        </p:txBody>
      </p:sp>
      <p:sp>
        <p:nvSpPr>
          <p:cNvPr id="7" name="TextBox 6"/>
          <p:cNvSpPr txBox="1"/>
          <p:nvPr/>
        </p:nvSpPr>
        <p:spPr>
          <a:xfrm>
            <a:off x="6477000" y="2905224"/>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(estudo que compara quem recebeu e quem não recebeu o tratamento)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658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06328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063280"/>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(ideias sobre si, os outros e o mundo) ela tem sobre falar em grupo (“vou falar algo errado”)? Como eles influenciam a ansiedade e a esquiva (evitar a situação)?</a:t>
            </a:r>
          </a:p>
        </p:txBody>
      </p:sp>
      <p:sp>
        <p:nvSpPr>
          <p:cNvPr id="8" name="TextBox 7"/>
          <p:cNvSpPr txBox="1"/>
          <p:nvPr/>
        </p:nvSpPr>
        <p:spPr>
          <a:xfrm>
            <a:off x="1168400" y="491718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91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285305"/>
          <a:ext cx="10007600" cy="339090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 (perguntar a quem convive)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o que acontece junto, não prova a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0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076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041253"/>
            <a:ext cx="10307828" cy="2286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(avisar antes de trocar de atividade), apoio visual (imagens, rotina desenhada)</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tarefa com duração, dificuldade e tema ajustados</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 (a pessoa decide entre opções)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 (objetos e atividades de que a pessoa gosta)</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206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63842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 sigla em inglês):</a:t>
            </a:r>
          </a:p>
        </p:txBody>
      </p:sp>
      <p:sp>
        <p:nvSpPr>
          <p:cNvPr id="5" name="TextBox 4"/>
          <p:cNvSpPr txBox="1"/>
          <p:nvPr/>
        </p:nvSpPr>
        <p:spPr>
          <a:xfrm>
            <a:off x="1168400" y="3532386"/>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 (estudo de como a criança se desenvolve)</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711053"/>
            <a:ext cx="10307828" cy="20574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(concordância da pessoa em participar):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 (o que cada profissional pode fazer)</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(caso fictício):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5370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(discussão com toda a turma): do comportamento à decisão</a:t>
            </a:r>
          </a:p>
        </p:txBody>
      </p:sp>
      <p:sp>
        <p:nvSpPr>
          <p:cNvPr id="4" name="TextBox 3"/>
          <p:cNvSpPr txBox="1"/>
          <p:nvPr/>
        </p:nvSpPr>
        <p:spPr>
          <a:xfrm>
            <a:off x="1168400" y="3147715"/>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4138315"/>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32755"/>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Respostas 4: por que o Theo faz isso?</a:t>
            </a:r>
          </a:p>
        </p:txBody>
      </p:sp>
      <p:sp>
        <p:nvSpPr>
          <p:cNvPr id="4" name="TextBox 3"/>
          <p:cNvSpPr txBox="1"/>
          <p:nvPr/>
        </p:nvSpPr>
        <p:spPr>
          <a:xfrm>
            <a:off x="1168400" y="1492151"/>
            <a:ext cx="10307828" cy="266700"/>
          </a:xfrm>
          <a:prstGeom prst="rect">
            <a:avLst/>
          </a:prstGeom>
          <a:noFill/>
        </p:spPr>
        <p:txBody>
          <a:bodyPr wrap="square" lIns="0" rIns="0" tIns="0" bIns="0" anchor="t">
            <a:noAutofit/>
          </a:bodyPr>
          <a:lstStyle/>
          <a:p>
            <a:pPr algn="l">
              <a:lnSpc>
                <a:spcPct val="115000"/>
              </a:lnSpc>
            </a:pPr>
            <a:r>
              <a:rPr sz="1500" b="0" i="0">
                <a:solidFill>
                  <a:srgbClr val="66717F"/>
                </a:solidFill>
                <a:latin typeface="Montserrat"/>
              </a:rPr>
              <a:t>Quatro explicações possíveis, cada uma com o que a história mostra a favor e contra.</a:t>
            </a:r>
          </a:p>
        </p:txBody>
      </p:sp>
      <p:graphicFrame>
        <p:nvGraphicFramePr>
          <p:cNvPr id="5" name="Table 4"/>
          <p:cNvGraphicFramePr>
            <a:graphicFrameLocks noGrp="1"/>
          </p:cNvGraphicFramePr>
          <p:nvPr/>
        </p:nvGraphicFramePr>
        <p:xfrm>
          <a:off x="1168400" y="1923951"/>
          <a:ext cx="10007600" cy="3117453"/>
        </p:xfrm>
        <a:graphic>
          <a:graphicData uri="http://schemas.openxmlformats.org/drawingml/2006/table">
            <a:tbl>
              <a:tblPr firstRow="0" bandRow="0">
                <a:tableStyleId>{2D5ABB26-0587-4C30-8999-92F81FD0307C}</a:tableStyleId>
              </a:tblPr>
              <a:tblGrid>
                <a:gridCol w="2401788"/>
                <a:gridCol w="4203105"/>
                <a:gridCol w="3402707"/>
              </a:tblGrid>
              <a:tr h="400645">
                <a:tc>
                  <a:txBody>
                    <a:bodyPr wrap="square"/>
                    <a:lstStyle/>
                    <a:p>
                      <a:pPr>
                        <a:lnSpc>
                          <a:spcPct val="100000"/>
                        </a:lnSpc>
                      </a:pPr>
                      <a:r>
                        <a:rPr sz="130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00" b="1" i="0">
                          <a:solidFill>
                            <a:srgbClr val="FFFFFF"/>
                          </a:solidFill>
                          <a:latin typeface="Montserrat"/>
                        </a:rPr>
                        <a:t>A favor (o que reforça a ideia)</a:t>
                      </a:r>
                    </a:p>
                  </a:txBody>
                  <a:tcPr marL="114300" marR="114300" marT="68580" marB="68580" anchor="ctr">
                    <a:solidFill>
                      <a:srgbClr val="1B2F4B"/>
                    </a:solidFill>
                  </a:tcPr>
                </a:tc>
                <a:tc>
                  <a:txBody>
                    <a:bodyPr wrap="square"/>
                    <a:lstStyle/>
                    <a:p>
                      <a:pPr>
                        <a:lnSpc>
                          <a:spcPct val="100000"/>
                        </a:lnSpc>
                      </a:pPr>
                      <a:r>
                        <a:rPr sz="1300" b="1" i="0">
                          <a:solidFill>
                            <a:srgbClr val="FFFFFF"/>
                          </a:solidFill>
                          <a:latin typeface="Montserrat"/>
                        </a:rPr>
                        <a:t>Contra (o que enfraquece a ideia)</a:t>
                      </a:r>
                    </a:p>
                  </a:txBody>
                  <a:tcPr marL="114300" marR="114300" marT="68580" marB="68580" anchor="ctr">
                    <a:solidFill>
                      <a:srgbClr val="1B2F4B"/>
                    </a:solidFill>
                  </a:tcPr>
                </a:tc>
              </a:tr>
              <a:tr h="846336">
                <a:tc>
                  <a:txBody>
                    <a:bodyPr wrap="square"/>
                    <a:lstStyle/>
                    <a:p>
                      <a:pPr>
                        <a:lnSpc>
                          <a:spcPct val="100000"/>
                        </a:lnSpc>
                      </a:pPr>
                      <a:r>
                        <a:rPr sz="1300" b="1" i="0">
                          <a:solidFill>
                            <a:srgbClr val="2E3A4A"/>
                          </a:solidFill>
                          <a:latin typeface="Montserrat"/>
                        </a:rPr>
                        <a:t>Ele quer continuar com os trilhos</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O grito acontece quando os trilhos são guardados. Às vezes os trilhos voltam depois do grito. Em casa, acontece quando desligam a TV.</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No dia do lanche, os trilhos também foram guardados, e ele </a:t>
                      </a:r>
                      <a:r>
                        <a:rPr sz="1300" b="1" i="0">
                          <a:solidFill>
                            <a:srgbClr val="2E3A4A"/>
                          </a:solidFill>
                          <a:latin typeface="Montserrat"/>
                        </a:rPr>
                        <a:t>não</a:t>
                      </a:r>
                      <a:r>
                        <a:rPr sz="1300" b="0" i="0">
                          <a:solidFill>
                            <a:srgbClr val="2E3A4A"/>
                          </a:solidFill>
                          <a:latin typeface="Montserrat"/>
                        </a:rPr>
                        <a:t> gritou.</a:t>
                      </a:r>
                    </a:p>
                  </a:txBody>
                  <a:tcPr marL="114300" marR="114300" marT="68580" marB="68580" anchor="ctr">
                    <a:solidFill>
                      <a:srgbClr val="FFFFFF"/>
                    </a:solidFill>
                  </a:tcPr>
                </a:tc>
              </a:tr>
              <a:tr h="846336">
                <a:tc>
                  <a:txBody>
                    <a:bodyPr wrap="square"/>
                    <a:lstStyle/>
                    <a:p>
                      <a:pPr>
                        <a:lnSpc>
                          <a:spcPct val="100000"/>
                        </a:lnSpc>
                      </a:pPr>
                      <a:r>
                        <a:rPr sz="1300" b="1" i="0">
                          <a:solidFill>
                            <a:srgbClr val="2E3A4A"/>
                          </a:solidFill>
                          <a:latin typeface="Montserrat"/>
                        </a:rPr>
                        <a:t>Ele quer escapar da atividade de mesa</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Quando o próximo é o lanche (algo de que ele gosta), não há grito. Às vezes a mesa é adiada depois do grito.</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Em casa, o que vem depois é o banho, não uma tarefa de mesa.</a:t>
                      </a:r>
                    </a:p>
                  </a:txBody>
                  <a:tcPr marL="114300" marR="114300" marT="68580" marB="68580" anchor="ctr">
                    <a:solidFill>
                      <a:srgbClr val="F1F4F6"/>
                    </a:solidFill>
                  </a:tcPr>
                </a:tc>
              </a:tr>
              <a:tr h="623491">
                <a:tc>
                  <a:txBody>
                    <a:bodyPr wrap="square"/>
                    <a:lstStyle/>
                    <a:p>
                      <a:pPr>
                        <a:lnSpc>
                          <a:spcPct val="100000"/>
                        </a:lnSpc>
                      </a:pPr>
                      <a:r>
                        <a:rPr sz="1300" b="1" i="0">
                          <a:solidFill>
                            <a:srgbClr val="2E3A4A"/>
                          </a:solidFill>
                          <a:latin typeface="Montserrat"/>
                        </a:rPr>
                        <a:t>As duas coisas juntas</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Perder os trilhos e ir para a mesa acontecem no mesmo momento.</a:t>
                      </a:r>
                    </a:p>
                  </a:txBody>
                  <a:tcPr marL="114300" marR="114300" marT="68580" marB="68580" anchor="ctr">
                    <a:solidFill>
                      <a:srgbClr val="FFFFFF"/>
                    </a:solidFill>
                  </a:tcPr>
                </a:tc>
                <a:tc>
                  <a:txBody>
                    <a:bodyPr wrap="square"/>
                    <a:lstStyle/>
                    <a:p>
                      <a:pPr>
                        <a:lnSpc>
                          <a:spcPct val="100000"/>
                        </a:lnSpc>
                      </a:pPr>
                      <a:r>
                        <a:rPr sz="1300" b="0" i="0">
                          <a:solidFill>
                            <a:srgbClr val="2E3A4A"/>
                          </a:solidFill>
                          <a:latin typeface="Montserrat"/>
                        </a:rPr>
                        <a:t>Só uma avaliação consegue separar as duas.</a:t>
                      </a:r>
                    </a:p>
                  </a:txBody>
                  <a:tcPr marL="114300" marR="114300" marT="68580" marB="68580" anchor="ctr">
                    <a:solidFill>
                      <a:srgbClr val="FFFFFF"/>
                    </a:solidFill>
                  </a:tcPr>
                </a:tc>
              </a:tr>
              <a:tr h="400645">
                <a:tc>
                  <a:txBody>
                    <a:bodyPr wrap="square"/>
                    <a:lstStyle/>
                    <a:p>
                      <a:pPr>
                        <a:lnSpc>
                          <a:spcPct val="100000"/>
                        </a:lnSpc>
                      </a:pPr>
                      <a:r>
                        <a:rPr sz="1300" b="1" i="0">
                          <a:solidFill>
                            <a:srgbClr val="2E3A4A"/>
                          </a:solidFill>
                          <a:latin typeface="Montserrat"/>
                        </a:rPr>
                        <a:t>Ele quer atenção</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Talvez receba atenção enquanto grita.</a:t>
                      </a:r>
                    </a:p>
                  </a:txBody>
                  <a:tcPr marL="114300" marR="114300" marT="68580" marB="68580" anchor="ctr">
                    <a:solidFill>
                      <a:srgbClr val="F1F4F6"/>
                    </a:solidFill>
                  </a:tcPr>
                </a:tc>
                <a:tc>
                  <a:txBody>
                    <a:bodyPr wrap="square"/>
                    <a:lstStyle/>
                    <a:p>
                      <a:pPr>
                        <a:lnSpc>
                          <a:spcPct val="100000"/>
                        </a:lnSpc>
                      </a:pPr>
                      <a:r>
                        <a:rPr sz="1300" b="0" i="0">
                          <a:solidFill>
                            <a:srgbClr val="2E3A4A"/>
                          </a:solidFill>
                          <a:latin typeface="Montserrat"/>
                        </a:rPr>
                        <a:t>Nada na história mostra isso.</a:t>
                      </a:r>
                    </a:p>
                  </a:txBody>
                  <a:tcPr marL="114300" marR="114300" marT="68580" marB="68580" anchor="ctr">
                    <a:solidFill>
                      <a:srgbClr val="F1F4F6"/>
                    </a:solidFill>
                  </a:tcPr>
                </a:tc>
              </a:tr>
            </a:tbl>
          </a:graphicData>
        </a:graphic>
      </p:graphicFrame>
      <p:sp>
        <p:nvSpPr>
          <p:cNvPr id="6" name="TextBox 5"/>
          <p:cNvSpPr txBox="1"/>
          <p:nvPr/>
        </p:nvSpPr>
        <p:spPr>
          <a:xfrm>
            <a:off x="1168400" y="5206504"/>
            <a:ext cx="10307828" cy="528241"/>
          </a:xfrm>
          <a:prstGeom prst="rect">
            <a:avLst/>
          </a:prstGeom>
          <a:noFill/>
        </p:spPr>
        <p:txBody>
          <a:bodyPr wrap="square" lIns="0" rIns="0" tIns="0" bIns="0" anchor="t">
            <a:noAutofit/>
          </a:bodyPr>
          <a:lstStyle/>
          <a:p>
            <a:pPr algn="l">
              <a:lnSpc>
                <a:spcPct val="107000"/>
              </a:lnSpc>
            </a:pPr>
            <a:r>
              <a:rPr sz="1600" b="1" i="0">
                <a:solidFill>
                  <a:srgbClr val="0F7C86"/>
                </a:solidFill>
                <a:latin typeface="Montserrat"/>
              </a:rPr>
              <a:t>A pista mais forte é o lanche: os trilhos foram guardados e ele não gritou. Isso torna mais provável “escapar da mesa” (ou as duas juntas). Ainda são hipóteses.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4250"/>
            <a:ext cx="10307828" cy="788591"/>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Respostas 5: o que fazer, e se a explicação estiver errada?</a:t>
            </a:r>
          </a:p>
        </p:txBody>
      </p:sp>
      <p:sp>
        <p:nvSpPr>
          <p:cNvPr id="4" name="TextBox 3"/>
          <p:cNvSpPr txBox="1"/>
          <p:nvPr/>
        </p:nvSpPr>
        <p:spPr>
          <a:xfrm>
            <a:off x="1168400" y="1937941"/>
            <a:ext cx="10307828" cy="266700"/>
          </a:xfrm>
          <a:prstGeom prst="rect">
            <a:avLst/>
          </a:prstGeom>
          <a:noFill/>
        </p:spPr>
        <p:txBody>
          <a:bodyPr wrap="square" lIns="0" rIns="0" tIns="0" bIns="0" anchor="t">
            <a:noAutofit/>
          </a:bodyPr>
          <a:lstStyle/>
          <a:p>
            <a:pPr algn="l">
              <a:lnSpc>
                <a:spcPct val="115000"/>
              </a:lnSpc>
            </a:pPr>
            <a:r>
              <a:rPr sz="1500" b="0" i="0">
                <a:solidFill>
                  <a:srgbClr val="66717F"/>
                </a:solidFill>
                <a:latin typeface="Montserrat"/>
              </a:rPr>
              <a:t>Cada estratégia combina com uma explicação. Se a explicação estiver errada, a estratégia falha.</a:t>
            </a:r>
          </a:p>
        </p:txBody>
      </p:sp>
      <p:graphicFrame>
        <p:nvGraphicFramePr>
          <p:cNvPr id="5" name="Table 4"/>
          <p:cNvGraphicFramePr>
            <a:graphicFrameLocks noGrp="1"/>
          </p:cNvGraphicFramePr>
          <p:nvPr/>
        </p:nvGraphicFramePr>
        <p:xfrm>
          <a:off x="1168400" y="2369741"/>
          <a:ext cx="10007599" cy="1921668"/>
        </p:xfrm>
        <a:graphic>
          <a:graphicData uri="http://schemas.openxmlformats.org/drawingml/2006/table">
            <a:tbl>
              <a:tblPr firstRow="0" bandRow="0">
                <a:tableStyleId>{2D5ABB26-0587-4C30-8999-92F81FD0307C}</a:tableStyleId>
              </a:tblPr>
              <a:tblGrid>
                <a:gridCol w="2401788"/>
                <a:gridCol w="4002980"/>
                <a:gridCol w="3602831"/>
              </a:tblGrid>
              <a:tr h="409178">
                <a:tc>
                  <a:txBody>
                    <a:bodyPr wrap="square"/>
                    <a:lstStyle/>
                    <a:p>
                      <a:pPr>
                        <a:lnSpc>
                          <a:spcPct val="100000"/>
                        </a:lnSpc>
                      </a:pPr>
                      <a:r>
                        <a:rPr sz="1350" b="1" i="0">
                          <a:solidFill>
                            <a:srgbClr val="FFFFFF"/>
                          </a:solidFill>
                          <a:latin typeface="Montserrat"/>
                        </a:rPr>
                        <a:t>Se achamos que ele…</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Podemos…</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Mas, se a explicação estiver errada…</a:t>
                      </a:r>
                    </a:p>
                  </a:txBody>
                  <a:tcPr marL="114300" marR="114300" marT="68580" marB="68580" anchor="ctr">
                    <a:solidFill>
                      <a:srgbClr val="1B2F4B"/>
                    </a:solidFill>
                  </a:tcPr>
                </a:tc>
              </a:tr>
              <a:tr h="871934">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Combinar “primeiro mesa, depois trem” e devolver os trilhos ao terminar. Ensinar a pedir “mais trem” e a esperar.</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Se na verdade ele quer escapar da mesa, quase nada muda: a mesa continua difícil e o grito continua.</a:t>
                      </a:r>
                    </a:p>
                  </a:txBody>
                  <a:tcPr marL="114300" marR="114300" marT="68580" marB="68580" anchor="ctr">
                    <a:solidFill>
                      <a:srgbClr val="FFFFFF"/>
                    </a:solidFill>
                  </a:tcPr>
                </a:tc>
              </a:tr>
              <a:tr h="640556">
                <a:tc>
                  <a:txBody>
                    <a:bodyPr wrap="square"/>
                    <a:lstStyle/>
                    <a:p>
                      <a:pPr>
                        <a:lnSpc>
                          <a:spcPct val="100000"/>
                        </a:lnSpc>
                      </a:pPr>
                      <a:r>
                        <a:rPr sz="1350" b="1" i="0">
                          <a:solidFill>
                            <a:srgbClr val="2E3A4A"/>
                          </a:solidFill>
                          <a:latin typeface="Montserrat"/>
                        </a:rPr>
                        <a:t>quer escapar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Deixar a tarefa mais curta e mais fácil, com tema de trens. Ensinar a pedir “pausa”.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Se na verdade ele quer os trilhos, o grito na hora de guardá-los continua.</a:t>
                      </a:r>
                    </a:p>
                  </a:txBody>
                  <a:tcPr marL="114300" marR="114300" marT="68580" marB="68580" anchor="ctr">
                    <a:solidFill>
                      <a:srgbClr val="F1F4F6"/>
                    </a:solidFill>
                  </a:tcPr>
                </a:tc>
              </a:tr>
            </a:tbl>
          </a:graphicData>
        </a:graphic>
      </p:graphicFrame>
      <p:sp>
        <p:nvSpPr>
          <p:cNvPr id="6" name="TextBox 5"/>
          <p:cNvSpPr txBox="1"/>
          <p:nvPr/>
        </p:nvSpPr>
        <p:spPr>
          <a:xfrm>
            <a:off x="1168400" y="4456509"/>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Cuidado:</a:t>
            </a:r>
            <a:r>
              <a:rPr sz="1500" b="0" i="0">
                <a:solidFill>
                  <a:srgbClr val="2E3A4A"/>
                </a:solidFill>
                <a:latin typeface="Montserrat"/>
              </a:rPr>
              <a:t> adiar a mesa sempre que ele grita, “para acalmar”, ensina que gritar faz a mesa sumir. O grito tende a aumentar.</a:t>
            </a:r>
          </a:p>
        </p:txBody>
      </p:sp>
      <p:sp>
        <p:nvSpPr>
          <p:cNvPr id="7" name="TextBox 6"/>
          <p:cNvSpPr txBox="1"/>
          <p:nvPr/>
        </p:nvSpPr>
        <p:spPr>
          <a:xfrm>
            <a:off x="1168400" y="5155009"/>
            <a:ext cx="10307828" cy="528241"/>
          </a:xfrm>
          <a:prstGeom prst="rect">
            <a:avLst/>
          </a:prstGeom>
          <a:noFill/>
        </p:spPr>
        <p:txBody>
          <a:bodyPr wrap="square" lIns="0" rIns="0" tIns="0" bIns="0" anchor="t">
            <a:noAutofit/>
          </a:bodyPr>
          <a:lstStyle/>
          <a:p>
            <a:pPr algn="l">
              <a:lnSpc>
                <a:spcPct val="107000"/>
              </a:lnSpc>
            </a:pPr>
            <a:r>
              <a:rPr sz="1600" b="1" i="0">
                <a:solidFill>
                  <a:srgbClr val="0F7C86"/>
                </a:solidFill>
                <a:latin typeface="Montserrat"/>
              </a:rPr>
              <a:t>Escolher a explicação errada pode não ajudar e até piorar. Por isso, avaliar vem antes de intervir.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ele quer escapar da mesa, o grito continua mesmo sem os trilhos</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Um dado novo sobre o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“Escapar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002808" y="2419052"/>
            <a:ext cx="22518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Se houver tempo</a:t>
            </a:r>
          </a:p>
        </p:txBody>
      </p:sp>
      <p:sp>
        <p:nvSpPr>
          <p:cNvPr id="3" name="TextBox 2"/>
          <p:cNvSpPr txBox="1"/>
          <p:nvPr/>
        </p:nvSpPr>
        <p:spPr>
          <a:xfrm>
            <a:off x="3146623" y="3054052"/>
            <a:ext cx="6075614" cy="803275"/>
          </a:xfrm>
          <a:prstGeom prst="rect">
            <a:avLst/>
          </a:prstGeom>
          <a:noFill/>
        </p:spPr>
        <p:txBody>
          <a:bodyPr wrap="square" lIns="0" rIns="0" tIns="0" bIns="0" anchor="t">
            <a:noAutofit/>
          </a:bodyPr>
          <a:lstStyle/>
          <a:p>
            <a:pPr algn="ctr">
              <a:lnSpc>
                <a:spcPct val="94000"/>
              </a:lnSpc>
            </a:pPr>
            <a:r>
              <a:rPr sz="5500" b="1" i="0">
                <a:solidFill>
                  <a:srgbClr val="FFFFFF"/>
                </a:solidFill>
                <a:latin typeface="Montserrat"/>
              </a:rPr>
              <a:t>Caso extra: Lara</a:t>
            </a:r>
          </a:p>
        </p:txBody>
      </p:sp>
      <p:sp>
        <p:nvSpPr>
          <p:cNvPr id="4" name="TextBox 3"/>
          <p:cNvSpPr txBox="1"/>
          <p:nvPr/>
        </p:nvSpPr>
        <p:spPr>
          <a:xfrm>
            <a:off x="1944688" y="4136727"/>
            <a:ext cx="8551704" cy="302220"/>
          </a:xfrm>
          <a:prstGeom prst="rect">
            <a:avLst/>
          </a:prstGeom>
          <a:noFill/>
        </p:spPr>
        <p:txBody>
          <a:bodyPr wrap="square" lIns="0" rIns="0" tIns="0" bIns="0" anchor="t">
            <a:noAutofit/>
          </a:bodyPr>
          <a:lstStyle/>
          <a:p>
            <a:pPr algn="ctr">
              <a:lnSpc>
                <a:spcPct val="115000"/>
              </a:lnSpc>
            </a:pPr>
            <a:r>
              <a:rPr sz="1700" b="0" i="1">
                <a:solidFill>
                  <a:srgbClr val="9FD3D8"/>
                </a:solidFill>
                <a:latin typeface="Montserrat"/>
              </a:rPr>
              <a:t>O mesmo raciocínio com outra história: vídeo, história, perguntas e respostas.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Caso extra: vídeo da Lara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Caso extra: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a:t>
            </a:r>
          </a:p>
          <a:p>
            <a:pPr algn="l" marL="279400" indent="-279400">
              <a:lnSpc>
                <a:spcPct val="123000"/>
              </a:lnSpc>
              <a:buAutoNum type="arabicPeriod" startAt="1"/>
            </a:pPr>
            <a:r>
              <a:rPr sz="1500" b="0" i="0">
                <a:solidFill>
                  <a:srgbClr val="2E3A4A"/>
                </a:solidFill>
                <a:latin typeface="Montserrat"/>
              </a:rPr>
              <a:t>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Sozinha na biblioteca: ajuda ou atrapalha?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052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266553"/>
            <a:ext cx="10307828" cy="28956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(diferente de pessoa para pessoa):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(plano feito para cada pessoa),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7027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1882378"/>
          <a:ext cx="10007600" cy="37147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69850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 (na primeira infância)</a:t>
                      </a:r>
                    </a:p>
                  </a:txBody>
                  <a:tcPr marL="114300" marR="114300" marT="68580" marB="68580" anchor="ctr">
                    <a:solidFill>
                      <a:srgbClr val="FFFFFF"/>
                    </a:solidFill>
                  </a:tcPr>
                </a:tc>
              </a:tr>
              <a:tr h="69850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 (concordância da pessoa em participar)</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